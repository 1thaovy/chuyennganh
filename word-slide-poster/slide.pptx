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media/image100.svg" ContentType="image/svg+xml"/>
  <Override PartName="/ppt/media/image11.svg" ContentType="image/svg+xml"/>
  <Override PartName="/ppt/media/image122.svg" ContentType="image/svg+xml"/>
  <Override PartName="/ppt/media/image124.svg" ContentType="image/svg+xml"/>
  <Override PartName="/ppt/media/image127.svg" ContentType="image/svg+xml"/>
  <Override PartName="/ppt/media/image129.svg" ContentType="image/svg+xml"/>
  <Override PartName="/ppt/media/image13.svg" ContentType="image/svg+xml"/>
  <Override PartName="/ppt/media/image131.svg" ContentType="image/svg+xml"/>
  <Override PartName="/ppt/media/image133.svg" ContentType="image/svg+xml"/>
  <Override PartName="/ppt/media/image135.svg" ContentType="image/svg+xml"/>
  <Override PartName="/ppt/media/image137.svg" ContentType="image/svg+xml"/>
  <Override PartName="/ppt/media/image139.svg" ContentType="image/svg+xml"/>
  <Override PartName="/ppt/media/image141.svg" ContentType="image/svg+xml"/>
  <Override PartName="/ppt/media/image14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1.svg" ContentType="image/svg+xml"/>
  <Override PartName="/ppt/media/image63.svg" ContentType="image/svg+xml"/>
  <Override PartName="/ppt/media/image65.svg" ContentType="image/svg+xml"/>
  <Override PartName="/ppt/media/image67.svg" ContentType="image/svg+xml"/>
  <Override PartName="/ppt/media/image69.svg" ContentType="image/svg+xml"/>
  <Override PartName="/ppt/media/image7.svg" ContentType="image/svg+xml"/>
  <Override PartName="/ppt/media/image71.svg" ContentType="image/svg+xml"/>
  <Override PartName="/ppt/media/image73.svg" ContentType="image/svg+xml"/>
  <Override PartName="/ppt/media/image76.svg" ContentType="image/svg+xml"/>
  <Override PartName="/ppt/media/image78.svg" ContentType="image/svg+xml"/>
  <Override PartName="/ppt/media/image80.svg" ContentType="image/svg+xml"/>
  <Override PartName="/ppt/media/image82.svg" ContentType="image/svg+xml"/>
  <Override PartName="/ppt/media/image84.svg" ContentType="image/svg+xml"/>
  <Override PartName="/ppt/media/image86.svg" ContentType="image/svg+xml"/>
  <Override PartName="/ppt/media/image88.svg" ContentType="image/svg+xml"/>
  <Override PartName="/ppt/media/image9.svg" ContentType="image/svg+xml"/>
  <Override PartName="/ppt/media/image91.svg" ContentType="image/svg+xml"/>
  <Override PartName="/ppt/media/image93.svg" ContentType="image/svg+xml"/>
  <Override PartName="/ppt/media/image96.svg" ContentType="image/svg+xml"/>
  <Override PartName="/ppt/media/image9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8288000" cy="10287000"/>
  <p:notesSz cx="6858000" cy="9144000"/>
  <p:embeddedFontLst>
    <p:embeddedFont>
      <p:font typeface="Faustina Bold" panose="00000800000000000000"/>
      <p:bold r:id="rId26"/>
    </p:embeddedFont>
    <p:embeddedFont>
      <p:font typeface="Faustina" panose="00000500000000000000"/>
      <p:regular r:id="rId27"/>
    </p:embeddedFont>
    <p:embeddedFont>
      <p:font typeface="Asap" panose="020F0504030202060203"/>
      <p:regular r:id="rId28"/>
    </p:embeddedFont>
    <p:embeddedFont>
      <p:font typeface="Calibri" panose="020F0502020204030204" charset="0"/>
      <p:regular r:id="rId29"/>
      <p:bold r:id="rId30"/>
      <p:italic r:id="rId31"/>
      <p:boldItalic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font" Target="fonts/font7.fntdata"/><Relationship Id="rId31" Type="http://schemas.openxmlformats.org/officeDocument/2006/relationships/font" Target="fonts/font6.fntdata"/><Relationship Id="rId30" Type="http://schemas.openxmlformats.org/officeDocument/2006/relationships/font" Target="fonts/font5.fntdata"/><Relationship Id="rId3" Type="http://schemas.openxmlformats.org/officeDocument/2006/relationships/slide" Target="slides/slide1.xml"/><Relationship Id="rId29" Type="http://schemas.openxmlformats.org/officeDocument/2006/relationships/font" Target="fonts/font4.fntdata"/><Relationship Id="rId28" Type="http://schemas.openxmlformats.org/officeDocument/2006/relationships/font" Target="fonts/font3.fntdata"/><Relationship Id="rId27" Type="http://schemas.openxmlformats.org/officeDocument/2006/relationships/font" Target="fonts/font2.fntdata"/><Relationship Id="rId26" Type="http://schemas.openxmlformats.org/officeDocument/2006/relationships/font" Target="fonts/font1.fntdata"/><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svg"/><Relationship Id="rId8" Type="http://schemas.openxmlformats.org/officeDocument/2006/relationships/image" Target="../media/image8.png"/><Relationship Id="rId7" Type="http://schemas.openxmlformats.org/officeDocument/2006/relationships/image" Target="../media/image7.svg"/><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30" Type="http://schemas.openxmlformats.org/officeDocument/2006/relationships/slideLayout" Target="../slideLayouts/slideLayout7.xml"/><Relationship Id="rId3" Type="http://schemas.openxmlformats.org/officeDocument/2006/relationships/image" Target="../media/image3.svg"/><Relationship Id="rId29" Type="http://schemas.openxmlformats.org/officeDocument/2006/relationships/image" Target="../media/image29.svg"/><Relationship Id="rId28" Type="http://schemas.openxmlformats.org/officeDocument/2006/relationships/image" Target="../media/image28.png"/><Relationship Id="rId27" Type="http://schemas.openxmlformats.org/officeDocument/2006/relationships/image" Target="../media/image27.svg"/><Relationship Id="rId26" Type="http://schemas.openxmlformats.org/officeDocument/2006/relationships/image" Target="../media/image26.png"/><Relationship Id="rId25" Type="http://schemas.openxmlformats.org/officeDocument/2006/relationships/image" Target="../media/image25.svg"/><Relationship Id="rId24" Type="http://schemas.openxmlformats.org/officeDocument/2006/relationships/image" Target="../media/image24.png"/><Relationship Id="rId23" Type="http://schemas.openxmlformats.org/officeDocument/2006/relationships/image" Target="../media/image23.svg"/><Relationship Id="rId22" Type="http://schemas.openxmlformats.org/officeDocument/2006/relationships/image" Target="../media/image22.png"/><Relationship Id="rId21" Type="http://schemas.openxmlformats.org/officeDocument/2006/relationships/image" Target="../media/image21.svg"/><Relationship Id="rId20" Type="http://schemas.openxmlformats.org/officeDocument/2006/relationships/image" Target="../media/image20.png"/><Relationship Id="rId2" Type="http://schemas.openxmlformats.org/officeDocument/2006/relationships/image" Target="../media/image2.png"/><Relationship Id="rId19" Type="http://schemas.openxmlformats.org/officeDocument/2006/relationships/image" Target="../media/image19.svg"/><Relationship Id="rId18" Type="http://schemas.openxmlformats.org/officeDocument/2006/relationships/image" Target="../media/image18.png"/><Relationship Id="rId17" Type="http://schemas.openxmlformats.org/officeDocument/2006/relationships/image" Target="../media/image17.svg"/><Relationship Id="rId16" Type="http://schemas.openxmlformats.org/officeDocument/2006/relationships/image" Target="../media/image16.png"/><Relationship Id="rId15" Type="http://schemas.openxmlformats.org/officeDocument/2006/relationships/image" Target="../media/image15.svg"/><Relationship Id="rId14" Type="http://schemas.openxmlformats.org/officeDocument/2006/relationships/image" Target="../media/image14.png"/><Relationship Id="rId13" Type="http://schemas.openxmlformats.org/officeDocument/2006/relationships/image" Target="../media/image13.svg"/><Relationship Id="rId12" Type="http://schemas.openxmlformats.org/officeDocument/2006/relationships/image" Target="../media/image12.png"/><Relationship Id="rId11" Type="http://schemas.openxmlformats.org/officeDocument/2006/relationships/image" Target="../media/image11.svg"/><Relationship Id="rId10" Type="http://schemas.openxmlformats.org/officeDocument/2006/relationships/image" Target="../media/image10.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image" Target="../media/image37.svg"/><Relationship Id="rId8" Type="http://schemas.openxmlformats.org/officeDocument/2006/relationships/image" Target="../media/image36.png"/><Relationship Id="rId7" Type="http://schemas.openxmlformats.org/officeDocument/2006/relationships/image" Target="../media/image35.svg"/><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 Id="rId3" Type="http://schemas.openxmlformats.org/officeDocument/2006/relationships/image" Target="../media/image31.svg"/><Relationship Id="rId26" Type="http://schemas.openxmlformats.org/officeDocument/2006/relationships/slideLayout" Target="../slideLayouts/slideLayout7.xml"/><Relationship Id="rId25" Type="http://schemas.openxmlformats.org/officeDocument/2006/relationships/image" Target="../media/image51.svg"/><Relationship Id="rId24" Type="http://schemas.openxmlformats.org/officeDocument/2006/relationships/image" Target="../media/image50.png"/><Relationship Id="rId23" Type="http://schemas.openxmlformats.org/officeDocument/2006/relationships/image" Target="../media/image49.svg"/><Relationship Id="rId22" Type="http://schemas.openxmlformats.org/officeDocument/2006/relationships/image" Target="../media/image48.png"/><Relationship Id="rId21" Type="http://schemas.openxmlformats.org/officeDocument/2006/relationships/image" Target="../media/image47.svg"/><Relationship Id="rId20" Type="http://schemas.openxmlformats.org/officeDocument/2006/relationships/image" Target="../media/image46.png"/><Relationship Id="rId2" Type="http://schemas.openxmlformats.org/officeDocument/2006/relationships/image" Target="../media/image30.png"/><Relationship Id="rId19" Type="http://schemas.openxmlformats.org/officeDocument/2006/relationships/image" Target="../media/image45.svg"/><Relationship Id="rId18" Type="http://schemas.openxmlformats.org/officeDocument/2006/relationships/image" Target="../media/image44.png"/><Relationship Id="rId17" Type="http://schemas.openxmlformats.org/officeDocument/2006/relationships/image" Target="../media/image43.svg"/><Relationship Id="rId16" Type="http://schemas.openxmlformats.org/officeDocument/2006/relationships/image" Target="../media/image42.png"/><Relationship Id="rId15" Type="http://schemas.openxmlformats.org/officeDocument/2006/relationships/image" Target="../media/image23.svg"/><Relationship Id="rId14" Type="http://schemas.openxmlformats.org/officeDocument/2006/relationships/image" Target="../media/image22.png"/><Relationship Id="rId13" Type="http://schemas.openxmlformats.org/officeDocument/2006/relationships/image" Target="../media/image41.svg"/><Relationship Id="rId12" Type="http://schemas.openxmlformats.org/officeDocument/2006/relationships/image" Target="../media/image40.png"/><Relationship Id="rId11" Type="http://schemas.openxmlformats.org/officeDocument/2006/relationships/image" Target="../media/image39.svg"/><Relationship Id="rId10" Type="http://schemas.openxmlformats.org/officeDocument/2006/relationships/image" Target="../media/image38.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image" Target="../media/image60.png"/><Relationship Id="rId8" Type="http://schemas.openxmlformats.org/officeDocument/2006/relationships/image" Target="../media/image59.svg"/><Relationship Id="rId7" Type="http://schemas.openxmlformats.org/officeDocument/2006/relationships/image" Target="../media/image58.png"/><Relationship Id="rId6" Type="http://schemas.openxmlformats.org/officeDocument/2006/relationships/image" Target="../media/image57.svg"/><Relationship Id="rId5" Type="http://schemas.openxmlformats.org/officeDocument/2006/relationships/image" Target="../media/image56.png"/><Relationship Id="rId4" Type="http://schemas.openxmlformats.org/officeDocument/2006/relationships/image" Target="../media/image55.svg"/><Relationship Id="rId3" Type="http://schemas.openxmlformats.org/officeDocument/2006/relationships/image" Target="../media/image54.png"/><Relationship Id="rId2" Type="http://schemas.openxmlformats.org/officeDocument/2006/relationships/image" Target="../media/image53.svg"/><Relationship Id="rId13" Type="http://schemas.openxmlformats.org/officeDocument/2006/relationships/slideLayout" Target="../slideLayouts/slideLayout7.xml"/><Relationship Id="rId12" Type="http://schemas.openxmlformats.org/officeDocument/2006/relationships/image" Target="../media/image63.svg"/><Relationship Id="rId11" Type="http://schemas.openxmlformats.org/officeDocument/2006/relationships/image" Target="../media/image62.png"/><Relationship Id="rId10" Type="http://schemas.openxmlformats.org/officeDocument/2006/relationships/image" Target="../media/image61.svg"/><Relationship Id="rId1" Type="http://schemas.openxmlformats.org/officeDocument/2006/relationships/image" Target="../media/image52.png"/></Relationships>
</file>

<file path=ppt/slides/_rels/slide4.xml.rels><?xml version="1.0" encoding="UTF-8" standalone="yes"?>
<Relationships xmlns="http://schemas.openxmlformats.org/package/2006/relationships"><Relationship Id="rId9" Type="http://schemas.openxmlformats.org/officeDocument/2006/relationships/image" Target="../media/image69.svg"/><Relationship Id="rId8" Type="http://schemas.openxmlformats.org/officeDocument/2006/relationships/image" Target="../media/image68.png"/><Relationship Id="rId7" Type="http://schemas.openxmlformats.org/officeDocument/2006/relationships/image" Target="../media/image67.svg"/><Relationship Id="rId6" Type="http://schemas.openxmlformats.org/officeDocument/2006/relationships/image" Target="../media/image66.png"/><Relationship Id="rId5" Type="http://schemas.openxmlformats.org/officeDocument/2006/relationships/image" Target="../media/image65.svg"/><Relationship Id="rId4" Type="http://schemas.openxmlformats.org/officeDocument/2006/relationships/image" Target="../media/image64.png"/><Relationship Id="rId3" Type="http://schemas.openxmlformats.org/officeDocument/2006/relationships/image" Target="../media/image3.svg"/><Relationship Id="rId2" Type="http://schemas.openxmlformats.org/officeDocument/2006/relationships/image" Target="../media/image2.png"/><Relationship Id="rId16" Type="http://schemas.openxmlformats.org/officeDocument/2006/relationships/slideLayout" Target="../slideLayouts/slideLayout7.xml"/><Relationship Id="rId15" Type="http://schemas.openxmlformats.org/officeDocument/2006/relationships/image" Target="../media/image73.svg"/><Relationship Id="rId14" Type="http://schemas.openxmlformats.org/officeDocument/2006/relationships/image" Target="../media/image72.png"/><Relationship Id="rId13" Type="http://schemas.openxmlformats.org/officeDocument/2006/relationships/image" Target="../media/image29.svg"/><Relationship Id="rId12" Type="http://schemas.openxmlformats.org/officeDocument/2006/relationships/image" Target="../media/image28.png"/><Relationship Id="rId11" Type="http://schemas.openxmlformats.org/officeDocument/2006/relationships/image" Target="../media/image71.svg"/><Relationship Id="rId10" Type="http://schemas.openxmlformats.org/officeDocument/2006/relationships/image" Target="../media/image70.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9" Type="http://schemas.openxmlformats.org/officeDocument/2006/relationships/image" Target="../media/image23.svg"/><Relationship Id="rId8" Type="http://schemas.openxmlformats.org/officeDocument/2006/relationships/image" Target="../media/image22.png"/><Relationship Id="rId7" Type="http://schemas.openxmlformats.org/officeDocument/2006/relationships/image" Target="../media/image80.svg"/><Relationship Id="rId6" Type="http://schemas.openxmlformats.org/officeDocument/2006/relationships/image" Target="../media/image79.png"/><Relationship Id="rId5" Type="http://schemas.openxmlformats.org/officeDocument/2006/relationships/image" Target="../media/image78.svg"/><Relationship Id="rId4" Type="http://schemas.openxmlformats.org/officeDocument/2006/relationships/image" Target="../media/image77.png"/><Relationship Id="rId3" Type="http://schemas.openxmlformats.org/officeDocument/2006/relationships/image" Target="../media/image76.svg"/><Relationship Id="rId2" Type="http://schemas.openxmlformats.org/officeDocument/2006/relationships/image" Target="../media/image75.png"/><Relationship Id="rId18" Type="http://schemas.openxmlformats.org/officeDocument/2006/relationships/slideLayout" Target="../slideLayouts/slideLayout7.xml"/><Relationship Id="rId17" Type="http://schemas.openxmlformats.org/officeDocument/2006/relationships/image" Target="../media/image3.svg"/><Relationship Id="rId16" Type="http://schemas.openxmlformats.org/officeDocument/2006/relationships/image" Target="../media/image2.png"/><Relationship Id="rId15" Type="http://schemas.openxmlformats.org/officeDocument/2006/relationships/image" Target="../media/image19.svg"/><Relationship Id="rId14" Type="http://schemas.openxmlformats.org/officeDocument/2006/relationships/image" Target="../media/image18.png"/><Relationship Id="rId13" Type="http://schemas.openxmlformats.org/officeDocument/2006/relationships/image" Target="../media/image84.svg"/><Relationship Id="rId12" Type="http://schemas.openxmlformats.org/officeDocument/2006/relationships/image" Target="../media/image83.png"/><Relationship Id="rId11" Type="http://schemas.openxmlformats.org/officeDocument/2006/relationships/image" Target="../media/image82.svg"/><Relationship Id="rId10" Type="http://schemas.openxmlformats.org/officeDocument/2006/relationships/image" Target="../media/image81.png"/><Relationship Id="rId1" Type="http://schemas.openxmlformats.org/officeDocument/2006/relationships/image" Target="../media/image74.png"/></Relationships>
</file>

<file path=ppt/slides/_rels/slide6.xml.rels><?xml version="1.0" encoding="UTF-8" standalone="yes"?>
<Relationships xmlns="http://schemas.openxmlformats.org/package/2006/relationships"><Relationship Id="rId9" Type="http://schemas.openxmlformats.org/officeDocument/2006/relationships/image" Target="../media/image19.svg"/><Relationship Id="rId8" Type="http://schemas.openxmlformats.org/officeDocument/2006/relationships/image" Target="../media/image18.png"/><Relationship Id="rId7" Type="http://schemas.openxmlformats.org/officeDocument/2006/relationships/image" Target="../media/image82.svg"/><Relationship Id="rId6" Type="http://schemas.openxmlformats.org/officeDocument/2006/relationships/image" Target="../media/image81.png"/><Relationship Id="rId5" Type="http://schemas.openxmlformats.org/officeDocument/2006/relationships/image" Target="../media/image88.svg"/><Relationship Id="rId4" Type="http://schemas.openxmlformats.org/officeDocument/2006/relationships/image" Target="../media/image87.png"/><Relationship Id="rId3" Type="http://schemas.openxmlformats.org/officeDocument/2006/relationships/image" Target="../media/image86.svg"/><Relationship Id="rId2" Type="http://schemas.openxmlformats.org/officeDocument/2006/relationships/image" Target="../media/image85.png"/><Relationship Id="rId13" Type="http://schemas.openxmlformats.org/officeDocument/2006/relationships/slideLayout" Target="../slideLayouts/slideLayout7.xml"/><Relationship Id="rId12" Type="http://schemas.openxmlformats.org/officeDocument/2006/relationships/image" Target="../media/image91.svg"/><Relationship Id="rId11" Type="http://schemas.openxmlformats.org/officeDocument/2006/relationships/image" Target="../media/image90.png"/><Relationship Id="rId10" Type="http://schemas.openxmlformats.org/officeDocument/2006/relationships/image" Target="../media/image89.png"/><Relationship Id="rId1" Type="http://schemas.openxmlformats.org/officeDocument/2006/relationships/image" Target="../media/image74.png"/></Relationships>
</file>

<file path=ppt/slides/_rels/slide7.xml.rels><?xml version="1.0" encoding="UTF-8" standalone="yes"?>
<Relationships xmlns="http://schemas.openxmlformats.org/package/2006/relationships"><Relationship Id="rId9" Type="http://schemas.openxmlformats.org/officeDocument/2006/relationships/image" Target="../media/image94.png"/><Relationship Id="rId8" Type="http://schemas.openxmlformats.org/officeDocument/2006/relationships/image" Target="../media/image19.svg"/><Relationship Id="rId7"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73.svg"/><Relationship Id="rId3" Type="http://schemas.openxmlformats.org/officeDocument/2006/relationships/image" Target="../media/image72.png"/><Relationship Id="rId2" Type="http://schemas.openxmlformats.org/officeDocument/2006/relationships/image" Target="../media/image93.svg"/><Relationship Id="rId14" Type="http://schemas.openxmlformats.org/officeDocument/2006/relationships/slideLayout" Target="../slideLayouts/slideLayout7.xml"/><Relationship Id="rId13" Type="http://schemas.openxmlformats.org/officeDocument/2006/relationships/image" Target="../media/image96.svg"/><Relationship Id="rId12" Type="http://schemas.openxmlformats.org/officeDocument/2006/relationships/image" Target="../media/image95.png"/><Relationship Id="rId11" Type="http://schemas.openxmlformats.org/officeDocument/2006/relationships/image" Target="../media/image41.svg"/><Relationship Id="rId10" Type="http://schemas.openxmlformats.org/officeDocument/2006/relationships/image" Target="../media/image40.png"/><Relationship Id="rId1" Type="http://schemas.openxmlformats.org/officeDocument/2006/relationships/image" Target="../media/image92.png"/></Relationships>
</file>

<file path=ppt/slides/_rels/slide8.xml.rels><?xml version="1.0" encoding="UTF-8" standalone="yes"?>
<Relationships xmlns="http://schemas.openxmlformats.org/package/2006/relationships"><Relationship Id="rId9" Type="http://schemas.openxmlformats.org/officeDocument/2006/relationships/image" Target="../media/image72.png"/><Relationship Id="rId8" Type="http://schemas.openxmlformats.org/officeDocument/2006/relationships/image" Target="../media/image41.svg"/><Relationship Id="rId7" Type="http://schemas.openxmlformats.org/officeDocument/2006/relationships/image" Target="../media/image40.png"/><Relationship Id="rId6" Type="http://schemas.openxmlformats.org/officeDocument/2006/relationships/image" Target="../media/image93.svg"/><Relationship Id="rId5" Type="http://schemas.openxmlformats.org/officeDocument/2006/relationships/image" Target="../media/image92.png"/><Relationship Id="rId4" Type="http://schemas.openxmlformats.org/officeDocument/2006/relationships/image" Target="../media/image100.svg"/><Relationship Id="rId3" Type="http://schemas.openxmlformats.org/officeDocument/2006/relationships/image" Target="../media/image99.png"/><Relationship Id="rId2" Type="http://schemas.openxmlformats.org/officeDocument/2006/relationships/image" Target="../media/image98.svg"/><Relationship Id="rId14" Type="http://schemas.openxmlformats.org/officeDocument/2006/relationships/slideLayout" Target="../slideLayouts/slideLayout7.xml"/><Relationship Id="rId13" Type="http://schemas.openxmlformats.org/officeDocument/2006/relationships/image" Target="../media/image101.png"/><Relationship Id="rId12" Type="http://schemas.openxmlformats.org/officeDocument/2006/relationships/image" Target="../media/image23.svg"/><Relationship Id="rId11" Type="http://schemas.openxmlformats.org/officeDocument/2006/relationships/image" Target="../media/image22.png"/><Relationship Id="rId10" Type="http://schemas.openxmlformats.org/officeDocument/2006/relationships/image" Target="../media/image73.svg"/><Relationship Id="rId1" Type="http://schemas.openxmlformats.org/officeDocument/2006/relationships/image" Target="../media/image97.png"/></Relationships>
</file>

<file path=ppt/slides/_rels/slide9.xml.rels><?xml version="1.0" encoding="UTF-8" standalone="yes"?>
<Relationships xmlns="http://schemas.openxmlformats.org/package/2006/relationships"><Relationship Id="rId9" Type="http://schemas.openxmlformats.org/officeDocument/2006/relationships/image" Target="../media/image22.png"/><Relationship Id="rId8" Type="http://schemas.openxmlformats.org/officeDocument/2006/relationships/image" Target="../media/image73.svg"/><Relationship Id="rId7" Type="http://schemas.openxmlformats.org/officeDocument/2006/relationships/image" Target="../media/image72.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100.svg"/><Relationship Id="rId3" Type="http://schemas.openxmlformats.org/officeDocument/2006/relationships/image" Target="../media/image99.png"/><Relationship Id="rId2" Type="http://schemas.openxmlformats.org/officeDocument/2006/relationships/image" Target="../media/image98.svg"/><Relationship Id="rId12" Type="http://schemas.openxmlformats.org/officeDocument/2006/relationships/slideLayout" Target="../slideLayouts/slideLayout7.xml"/><Relationship Id="rId11" Type="http://schemas.openxmlformats.org/officeDocument/2006/relationships/image" Target="../media/image102.png"/><Relationship Id="rId10" Type="http://schemas.openxmlformats.org/officeDocument/2006/relationships/image" Target="../media/image23.svg"/><Relationship Id="rId1" Type="http://schemas.openxmlformats.org/officeDocument/2006/relationships/image" Target="../media/image97.png"/></Relationships>
</file>

<file path=ppt/slides/_rels/slide10.xml.rels><?xml version="1.0" encoding="UTF-8" standalone="yes"?>
<Relationships xmlns="http://schemas.openxmlformats.org/package/2006/relationships"><Relationship Id="rId9" Type="http://schemas.openxmlformats.org/officeDocument/2006/relationships/image" Target="../media/image29.svg"/><Relationship Id="rId8" Type="http://schemas.openxmlformats.org/officeDocument/2006/relationships/image" Target="../media/image28.png"/><Relationship Id="rId7" Type="http://schemas.openxmlformats.org/officeDocument/2006/relationships/image" Target="../media/image19.svg"/><Relationship Id="rId6" Type="http://schemas.openxmlformats.org/officeDocument/2006/relationships/image" Target="../media/image18.png"/><Relationship Id="rId5" Type="http://schemas.openxmlformats.org/officeDocument/2006/relationships/image" Target="../media/image23.svg"/><Relationship Id="rId4" Type="http://schemas.openxmlformats.org/officeDocument/2006/relationships/image" Target="../media/image22.png"/><Relationship Id="rId3" Type="http://schemas.openxmlformats.org/officeDocument/2006/relationships/image" Target="../media/image21.svg"/><Relationship Id="rId2" Type="http://schemas.openxmlformats.org/officeDocument/2006/relationships/image" Target="../media/image20.png"/><Relationship Id="rId14" Type="http://schemas.openxmlformats.org/officeDocument/2006/relationships/slideLayout" Target="../slideLayouts/slideLayout7.xml"/><Relationship Id="rId13" Type="http://schemas.openxmlformats.org/officeDocument/2006/relationships/image" Target="../media/image104.png"/><Relationship Id="rId12" Type="http://schemas.openxmlformats.org/officeDocument/2006/relationships/image" Target="../media/image103.png"/><Relationship Id="rId11" Type="http://schemas.openxmlformats.org/officeDocument/2006/relationships/image" Target="../media/image73.svg"/><Relationship Id="rId10" Type="http://schemas.openxmlformats.org/officeDocument/2006/relationships/image" Target="../media/image72.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9" Type="http://schemas.openxmlformats.org/officeDocument/2006/relationships/image" Target="../media/image29.svg"/><Relationship Id="rId8" Type="http://schemas.openxmlformats.org/officeDocument/2006/relationships/image" Target="../media/image108.png"/><Relationship Id="rId7" Type="http://schemas.openxmlformats.org/officeDocument/2006/relationships/image" Target="../media/image19.svg"/><Relationship Id="rId6" Type="http://schemas.openxmlformats.org/officeDocument/2006/relationships/image" Target="../media/image107.png"/><Relationship Id="rId5" Type="http://schemas.openxmlformats.org/officeDocument/2006/relationships/image" Target="../media/image23.svg"/><Relationship Id="rId4" Type="http://schemas.openxmlformats.org/officeDocument/2006/relationships/image" Target="../media/image106.png"/><Relationship Id="rId3" Type="http://schemas.openxmlformats.org/officeDocument/2006/relationships/image" Target="../media/image21.svg"/><Relationship Id="rId2" Type="http://schemas.openxmlformats.org/officeDocument/2006/relationships/image" Target="../media/image105.png"/><Relationship Id="rId14" Type="http://schemas.openxmlformats.org/officeDocument/2006/relationships/slideLayout" Target="../slideLayouts/slideLayout7.xml"/><Relationship Id="rId13" Type="http://schemas.openxmlformats.org/officeDocument/2006/relationships/image" Target="../media/image111.png"/><Relationship Id="rId12" Type="http://schemas.openxmlformats.org/officeDocument/2006/relationships/image" Target="../media/image110.png"/><Relationship Id="rId11" Type="http://schemas.openxmlformats.org/officeDocument/2006/relationships/image" Target="../media/image73.svg"/><Relationship Id="rId10" Type="http://schemas.openxmlformats.org/officeDocument/2006/relationships/image" Target="../media/image109.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9" Type="http://schemas.openxmlformats.org/officeDocument/2006/relationships/image" Target="../media/image29.svg"/><Relationship Id="rId8" Type="http://schemas.openxmlformats.org/officeDocument/2006/relationships/image" Target="../media/image108.png"/><Relationship Id="rId7" Type="http://schemas.openxmlformats.org/officeDocument/2006/relationships/image" Target="../media/image19.svg"/><Relationship Id="rId6" Type="http://schemas.openxmlformats.org/officeDocument/2006/relationships/image" Target="../media/image107.png"/><Relationship Id="rId5" Type="http://schemas.openxmlformats.org/officeDocument/2006/relationships/image" Target="../media/image23.svg"/><Relationship Id="rId4" Type="http://schemas.openxmlformats.org/officeDocument/2006/relationships/image" Target="../media/image106.png"/><Relationship Id="rId3" Type="http://schemas.openxmlformats.org/officeDocument/2006/relationships/image" Target="../media/image21.svg"/><Relationship Id="rId2" Type="http://schemas.openxmlformats.org/officeDocument/2006/relationships/image" Target="../media/image105.png"/><Relationship Id="rId13" Type="http://schemas.openxmlformats.org/officeDocument/2006/relationships/slideLayout" Target="../slideLayouts/slideLayout7.xml"/><Relationship Id="rId12" Type="http://schemas.openxmlformats.org/officeDocument/2006/relationships/image" Target="../media/image112.png"/><Relationship Id="rId11" Type="http://schemas.openxmlformats.org/officeDocument/2006/relationships/image" Target="../media/image73.svg"/><Relationship Id="rId10" Type="http://schemas.openxmlformats.org/officeDocument/2006/relationships/image" Target="../media/image109.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9" Type="http://schemas.openxmlformats.org/officeDocument/2006/relationships/image" Target="../media/image29.svg"/><Relationship Id="rId8" Type="http://schemas.openxmlformats.org/officeDocument/2006/relationships/image" Target="../media/image108.png"/><Relationship Id="rId7" Type="http://schemas.openxmlformats.org/officeDocument/2006/relationships/image" Target="../media/image19.svg"/><Relationship Id="rId6" Type="http://schemas.openxmlformats.org/officeDocument/2006/relationships/image" Target="../media/image107.png"/><Relationship Id="rId5" Type="http://schemas.openxmlformats.org/officeDocument/2006/relationships/image" Target="../media/image23.svg"/><Relationship Id="rId4" Type="http://schemas.openxmlformats.org/officeDocument/2006/relationships/image" Target="../media/image106.png"/><Relationship Id="rId3" Type="http://schemas.openxmlformats.org/officeDocument/2006/relationships/image" Target="../media/image21.svg"/><Relationship Id="rId2" Type="http://schemas.openxmlformats.org/officeDocument/2006/relationships/image" Target="../media/image105.png"/><Relationship Id="rId13" Type="http://schemas.openxmlformats.org/officeDocument/2006/relationships/slideLayout" Target="../slideLayouts/slideLayout7.xml"/><Relationship Id="rId12" Type="http://schemas.openxmlformats.org/officeDocument/2006/relationships/image" Target="../media/image113.png"/><Relationship Id="rId11" Type="http://schemas.openxmlformats.org/officeDocument/2006/relationships/image" Target="../media/image73.svg"/><Relationship Id="rId10" Type="http://schemas.openxmlformats.org/officeDocument/2006/relationships/image" Target="../media/image109.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9" Type="http://schemas.openxmlformats.org/officeDocument/2006/relationships/image" Target="../media/image29.svg"/><Relationship Id="rId8" Type="http://schemas.openxmlformats.org/officeDocument/2006/relationships/image" Target="../media/image108.png"/><Relationship Id="rId7" Type="http://schemas.openxmlformats.org/officeDocument/2006/relationships/image" Target="../media/image19.svg"/><Relationship Id="rId6" Type="http://schemas.openxmlformats.org/officeDocument/2006/relationships/image" Target="../media/image107.png"/><Relationship Id="rId5" Type="http://schemas.openxmlformats.org/officeDocument/2006/relationships/image" Target="../media/image23.svg"/><Relationship Id="rId4" Type="http://schemas.openxmlformats.org/officeDocument/2006/relationships/image" Target="../media/image106.png"/><Relationship Id="rId3" Type="http://schemas.openxmlformats.org/officeDocument/2006/relationships/image" Target="../media/image21.svg"/><Relationship Id="rId2" Type="http://schemas.openxmlformats.org/officeDocument/2006/relationships/image" Target="../media/image105.png"/><Relationship Id="rId13" Type="http://schemas.openxmlformats.org/officeDocument/2006/relationships/slideLayout" Target="../slideLayouts/slideLayout7.xml"/><Relationship Id="rId12" Type="http://schemas.openxmlformats.org/officeDocument/2006/relationships/image" Target="../media/image114.png"/><Relationship Id="rId11" Type="http://schemas.openxmlformats.org/officeDocument/2006/relationships/image" Target="../media/image73.svg"/><Relationship Id="rId10" Type="http://schemas.openxmlformats.org/officeDocument/2006/relationships/image" Target="../media/image109.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9" Type="http://schemas.openxmlformats.org/officeDocument/2006/relationships/image" Target="../media/image29.svg"/><Relationship Id="rId8" Type="http://schemas.openxmlformats.org/officeDocument/2006/relationships/image" Target="../media/image108.png"/><Relationship Id="rId7" Type="http://schemas.openxmlformats.org/officeDocument/2006/relationships/image" Target="../media/image19.svg"/><Relationship Id="rId6" Type="http://schemas.openxmlformats.org/officeDocument/2006/relationships/image" Target="../media/image107.png"/><Relationship Id="rId5" Type="http://schemas.openxmlformats.org/officeDocument/2006/relationships/image" Target="../media/image23.svg"/><Relationship Id="rId4" Type="http://schemas.openxmlformats.org/officeDocument/2006/relationships/image" Target="../media/image106.png"/><Relationship Id="rId3" Type="http://schemas.openxmlformats.org/officeDocument/2006/relationships/image" Target="../media/image21.svg"/><Relationship Id="rId2" Type="http://schemas.openxmlformats.org/officeDocument/2006/relationships/image" Target="../media/image105.png"/><Relationship Id="rId13" Type="http://schemas.openxmlformats.org/officeDocument/2006/relationships/slideLayout" Target="../slideLayouts/slideLayout7.xml"/><Relationship Id="rId12" Type="http://schemas.openxmlformats.org/officeDocument/2006/relationships/image" Target="../media/image115.png"/><Relationship Id="rId11" Type="http://schemas.openxmlformats.org/officeDocument/2006/relationships/image" Target="../media/image73.svg"/><Relationship Id="rId10" Type="http://schemas.openxmlformats.org/officeDocument/2006/relationships/image" Target="../media/image109.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9" Type="http://schemas.openxmlformats.org/officeDocument/2006/relationships/image" Target="../media/image29.svg"/><Relationship Id="rId8" Type="http://schemas.openxmlformats.org/officeDocument/2006/relationships/image" Target="../media/image108.png"/><Relationship Id="rId7" Type="http://schemas.openxmlformats.org/officeDocument/2006/relationships/image" Target="../media/image19.svg"/><Relationship Id="rId6" Type="http://schemas.openxmlformats.org/officeDocument/2006/relationships/image" Target="../media/image107.png"/><Relationship Id="rId5" Type="http://schemas.openxmlformats.org/officeDocument/2006/relationships/image" Target="../media/image23.svg"/><Relationship Id="rId4" Type="http://schemas.openxmlformats.org/officeDocument/2006/relationships/image" Target="../media/image106.png"/><Relationship Id="rId3" Type="http://schemas.openxmlformats.org/officeDocument/2006/relationships/image" Target="../media/image21.svg"/><Relationship Id="rId2" Type="http://schemas.openxmlformats.org/officeDocument/2006/relationships/image" Target="../media/image105.png"/><Relationship Id="rId13" Type="http://schemas.openxmlformats.org/officeDocument/2006/relationships/slideLayout" Target="../slideLayouts/slideLayout7.xml"/><Relationship Id="rId12" Type="http://schemas.openxmlformats.org/officeDocument/2006/relationships/image" Target="../media/image116.png"/><Relationship Id="rId11" Type="http://schemas.openxmlformats.org/officeDocument/2006/relationships/image" Target="../media/image73.svg"/><Relationship Id="rId10" Type="http://schemas.openxmlformats.org/officeDocument/2006/relationships/image" Target="../media/image109.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9" Type="http://schemas.openxmlformats.org/officeDocument/2006/relationships/image" Target="../media/image120.png"/><Relationship Id="rId8" Type="http://schemas.openxmlformats.org/officeDocument/2006/relationships/image" Target="../media/image119.png"/><Relationship Id="rId7" Type="http://schemas.openxmlformats.org/officeDocument/2006/relationships/image" Target="../media/image118.png"/><Relationship Id="rId6" Type="http://schemas.openxmlformats.org/officeDocument/2006/relationships/image" Target="../media/image117.png"/><Relationship Id="rId5" Type="http://schemas.openxmlformats.org/officeDocument/2006/relationships/image" Target="../media/image73.svg"/><Relationship Id="rId4" Type="http://schemas.openxmlformats.org/officeDocument/2006/relationships/image" Target="../media/image109.png"/><Relationship Id="rId3" Type="http://schemas.openxmlformats.org/officeDocument/2006/relationships/image" Target="../media/image19.svg"/><Relationship Id="rId2" Type="http://schemas.openxmlformats.org/officeDocument/2006/relationships/image" Target="../media/image107.png"/><Relationship Id="rId16" Type="http://schemas.openxmlformats.org/officeDocument/2006/relationships/slideLayout" Target="../slideLayouts/slideLayout7.xml"/><Relationship Id="rId15" Type="http://schemas.openxmlformats.org/officeDocument/2006/relationships/image" Target="../media/image21.svg"/><Relationship Id="rId14" Type="http://schemas.openxmlformats.org/officeDocument/2006/relationships/image" Target="../media/image105.png"/><Relationship Id="rId13" Type="http://schemas.openxmlformats.org/officeDocument/2006/relationships/image" Target="../media/image23.svg"/><Relationship Id="rId12" Type="http://schemas.openxmlformats.org/officeDocument/2006/relationships/image" Target="../media/image106.png"/><Relationship Id="rId11" Type="http://schemas.openxmlformats.org/officeDocument/2006/relationships/image" Target="../media/image29.svg"/><Relationship Id="rId10" Type="http://schemas.openxmlformats.org/officeDocument/2006/relationships/image" Target="../media/image108.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9" Type="http://schemas.openxmlformats.org/officeDocument/2006/relationships/image" Target="../media/image128.png"/><Relationship Id="rId8" Type="http://schemas.openxmlformats.org/officeDocument/2006/relationships/image" Target="../media/image127.svg"/><Relationship Id="rId7" Type="http://schemas.openxmlformats.org/officeDocument/2006/relationships/image" Target="../media/image126.png"/><Relationship Id="rId6" Type="http://schemas.openxmlformats.org/officeDocument/2006/relationships/image" Target="../media/image7.svg"/><Relationship Id="rId5" Type="http://schemas.openxmlformats.org/officeDocument/2006/relationships/image" Target="../media/image125.png"/><Relationship Id="rId4" Type="http://schemas.openxmlformats.org/officeDocument/2006/relationships/image" Target="../media/image124.svg"/><Relationship Id="rId3" Type="http://schemas.openxmlformats.org/officeDocument/2006/relationships/image" Target="../media/image123.png"/><Relationship Id="rId2" Type="http://schemas.openxmlformats.org/officeDocument/2006/relationships/image" Target="../media/image122.svg"/><Relationship Id="rId11" Type="http://schemas.openxmlformats.org/officeDocument/2006/relationships/slideLayout" Target="../slideLayouts/slideLayout7.xml"/><Relationship Id="rId10" Type="http://schemas.openxmlformats.org/officeDocument/2006/relationships/image" Target="../media/image129.svg"/><Relationship Id="rId1" Type="http://schemas.openxmlformats.org/officeDocument/2006/relationships/image" Target="../media/image121.png"/></Relationships>
</file>

<file path=ppt/slides/_rels/slide19.xml.rels><?xml version="1.0" encoding="UTF-8" standalone="yes"?>
<Relationships xmlns="http://schemas.openxmlformats.org/package/2006/relationships"><Relationship Id="rId9" Type="http://schemas.openxmlformats.org/officeDocument/2006/relationships/image" Target="../media/image128.png"/><Relationship Id="rId8" Type="http://schemas.openxmlformats.org/officeDocument/2006/relationships/image" Target="../media/image127.svg"/><Relationship Id="rId7" Type="http://schemas.openxmlformats.org/officeDocument/2006/relationships/image" Target="../media/image126.png"/><Relationship Id="rId6" Type="http://schemas.openxmlformats.org/officeDocument/2006/relationships/image" Target="../media/image7.svg"/><Relationship Id="rId5" Type="http://schemas.openxmlformats.org/officeDocument/2006/relationships/image" Target="../media/image125.png"/><Relationship Id="rId4" Type="http://schemas.openxmlformats.org/officeDocument/2006/relationships/image" Target="../media/image124.svg"/><Relationship Id="rId3" Type="http://schemas.openxmlformats.org/officeDocument/2006/relationships/image" Target="../media/image123.png"/><Relationship Id="rId2" Type="http://schemas.openxmlformats.org/officeDocument/2006/relationships/image" Target="../media/image122.svg"/><Relationship Id="rId11" Type="http://schemas.openxmlformats.org/officeDocument/2006/relationships/slideLayout" Target="../slideLayouts/slideLayout7.xml"/><Relationship Id="rId10" Type="http://schemas.openxmlformats.org/officeDocument/2006/relationships/image" Target="../media/image129.svg"/><Relationship Id="rId1" Type="http://schemas.openxmlformats.org/officeDocument/2006/relationships/image" Target="../media/image121.png"/></Relationships>
</file>

<file path=ppt/slides/_rels/slide20.xml.rels><?xml version="1.0" encoding="UTF-8" standalone="yes"?>
<Relationships xmlns="http://schemas.openxmlformats.org/package/2006/relationships"><Relationship Id="rId9" Type="http://schemas.openxmlformats.org/officeDocument/2006/relationships/image" Target="../media/image106.png"/><Relationship Id="rId8" Type="http://schemas.openxmlformats.org/officeDocument/2006/relationships/image" Target="../media/image137.svg"/><Relationship Id="rId7" Type="http://schemas.openxmlformats.org/officeDocument/2006/relationships/image" Target="../media/image136.png"/><Relationship Id="rId6" Type="http://schemas.openxmlformats.org/officeDocument/2006/relationships/image" Target="../media/image135.svg"/><Relationship Id="rId5" Type="http://schemas.openxmlformats.org/officeDocument/2006/relationships/image" Target="../media/image134.png"/><Relationship Id="rId4" Type="http://schemas.openxmlformats.org/officeDocument/2006/relationships/image" Target="../media/image133.svg"/><Relationship Id="rId3" Type="http://schemas.openxmlformats.org/officeDocument/2006/relationships/image" Target="../media/image132.png"/><Relationship Id="rId2" Type="http://schemas.openxmlformats.org/officeDocument/2006/relationships/image" Target="../media/image131.svg"/><Relationship Id="rId19" Type="http://schemas.openxmlformats.org/officeDocument/2006/relationships/slideLayout" Target="../slideLayouts/slideLayout7.xml"/><Relationship Id="rId18" Type="http://schemas.openxmlformats.org/officeDocument/2006/relationships/image" Target="../media/image143.svg"/><Relationship Id="rId17" Type="http://schemas.openxmlformats.org/officeDocument/2006/relationships/image" Target="../media/image142.png"/><Relationship Id="rId16" Type="http://schemas.openxmlformats.org/officeDocument/2006/relationships/image" Target="../media/image141.svg"/><Relationship Id="rId15" Type="http://schemas.openxmlformats.org/officeDocument/2006/relationships/image" Target="../media/image140.png"/><Relationship Id="rId14" Type="http://schemas.openxmlformats.org/officeDocument/2006/relationships/image" Target="../media/image139.svg"/><Relationship Id="rId13" Type="http://schemas.openxmlformats.org/officeDocument/2006/relationships/image" Target="../media/image138.png"/><Relationship Id="rId12" Type="http://schemas.openxmlformats.org/officeDocument/2006/relationships/image" Target="../media/image21.svg"/><Relationship Id="rId11" Type="http://schemas.openxmlformats.org/officeDocument/2006/relationships/image" Target="../media/image105.png"/><Relationship Id="rId10" Type="http://schemas.openxmlformats.org/officeDocument/2006/relationships/image" Target="../media/image23.svg"/><Relationship Id="rId1" Type="http://schemas.openxmlformats.org/officeDocument/2006/relationships/image" Target="../media/image1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38888" b="-38888"/>
            </a:stretch>
          </a:blipFill>
        </p:spPr>
      </p:sp>
      <p:sp>
        <p:nvSpPr>
          <p:cNvPr id="3" name="Freeform 3"/>
          <p:cNvSpPr/>
          <p:nvPr/>
        </p:nvSpPr>
        <p:spPr>
          <a:xfrm>
            <a:off x="1729381" y="450121"/>
            <a:ext cx="1989530" cy="1989530"/>
          </a:xfrm>
          <a:custGeom>
            <a:avLst/>
            <a:gdLst/>
            <a:ahLst/>
            <a:cxnLst/>
            <a:rect l="l" t="t" r="r" b="b"/>
            <a:pathLst>
              <a:path w="1989530" h="1989530">
                <a:moveTo>
                  <a:pt x="0" y="0"/>
                </a:moveTo>
                <a:lnTo>
                  <a:pt x="1989530" y="0"/>
                </a:lnTo>
                <a:lnTo>
                  <a:pt x="1989530" y="1989529"/>
                </a:lnTo>
                <a:lnTo>
                  <a:pt x="0" y="19895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2371151" y="1028700"/>
            <a:ext cx="13545697" cy="7747410"/>
          </a:xfrm>
          <a:custGeom>
            <a:avLst/>
            <a:gdLst/>
            <a:ahLst/>
            <a:cxnLst/>
            <a:rect l="l" t="t" r="r" b="b"/>
            <a:pathLst>
              <a:path w="13545697" h="7747410">
                <a:moveTo>
                  <a:pt x="0" y="0"/>
                </a:moveTo>
                <a:lnTo>
                  <a:pt x="13545698" y="0"/>
                </a:lnTo>
                <a:lnTo>
                  <a:pt x="13545698" y="7747410"/>
                </a:lnTo>
                <a:lnTo>
                  <a:pt x="0" y="774741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6937171" y="7452412"/>
            <a:ext cx="1229369" cy="1256790"/>
          </a:xfrm>
          <a:custGeom>
            <a:avLst/>
            <a:gdLst/>
            <a:ahLst/>
            <a:cxnLst/>
            <a:rect l="l" t="t" r="r" b="b"/>
            <a:pathLst>
              <a:path w="1229369" h="1256790">
                <a:moveTo>
                  <a:pt x="0" y="0"/>
                </a:moveTo>
                <a:lnTo>
                  <a:pt x="1229369" y="0"/>
                </a:lnTo>
                <a:lnTo>
                  <a:pt x="1229369" y="1256789"/>
                </a:lnTo>
                <a:lnTo>
                  <a:pt x="0" y="12567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5040455" y="7916439"/>
            <a:ext cx="1474805" cy="1474805"/>
          </a:xfrm>
          <a:custGeom>
            <a:avLst/>
            <a:gdLst/>
            <a:ahLst/>
            <a:cxnLst/>
            <a:rect l="l" t="t" r="r" b="b"/>
            <a:pathLst>
              <a:path w="1474805" h="1474805">
                <a:moveTo>
                  <a:pt x="0" y="0"/>
                </a:moveTo>
                <a:lnTo>
                  <a:pt x="1474806" y="0"/>
                </a:lnTo>
                <a:lnTo>
                  <a:pt x="1474806" y="1474806"/>
                </a:lnTo>
                <a:lnTo>
                  <a:pt x="0" y="147480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402246">
            <a:off x="746833" y="6496157"/>
            <a:ext cx="1965098" cy="3688750"/>
          </a:xfrm>
          <a:custGeom>
            <a:avLst/>
            <a:gdLst/>
            <a:ahLst/>
            <a:cxnLst/>
            <a:rect l="l" t="t" r="r" b="b"/>
            <a:pathLst>
              <a:path w="1965098" h="3688750">
                <a:moveTo>
                  <a:pt x="0" y="0"/>
                </a:moveTo>
                <a:lnTo>
                  <a:pt x="1965097" y="0"/>
                </a:lnTo>
                <a:lnTo>
                  <a:pt x="1965097" y="3688750"/>
                </a:lnTo>
                <a:lnTo>
                  <a:pt x="0" y="368875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rot="380265">
            <a:off x="14215660" y="639453"/>
            <a:ext cx="2216015" cy="2203928"/>
          </a:xfrm>
          <a:custGeom>
            <a:avLst/>
            <a:gdLst/>
            <a:ahLst/>
            <a:cxnLst/>
            <a:rect l="l" t="t" r="r" b="b"/>
            <a:pathLst>
              <a:path w="2216015" h="2203928">
                <a:moveTo>
                  <a:pt x="0" y="0"/>
                </a:moveTo>
                <a:lnTo>
                  <a:pt x="2216015" y="0"/>
                </a:lnTo>
                <a:lnTo>
                  <a:pt x="2216015" y="2203927"/>
                </a:lnTo>
                <a:lnTo>
                  <a:pt x="0" y="220392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Freeform 9"/>
          <p:cNvSpPr/>
          <p:nvPr/>
        </p:nvSpPr>
        <p:spPr>
          <a:xfrm rot="380265">
            <a:off x="14860419" y="1047921"/>
            <a:ext cx="1097563" cy="684480"/>
          </a:xfrm>
          <a:custGeom>
            <a:avLst/>
            <a:gdLst/>
            <a:ahLst/>
            <a:cxnLst/>
            <a:rect l="l" t="t" r="r" b="b"/>
            <a:pathLst>
              <a:path w="1097563" h="684480">
                <a:moveTo>
                  <a:pt x="0" y="0"/>
                </a:moveTo>
                <a:lnTo>
                  <a:pt x="1097563" y="0"/>
                </a:lnTo>
                <a:lnTo>
                  <a:pt x="1097563" y="684480"/>
                </a:lnTo>
                <a:lnTo>
                  <a:pt x="0" y="68448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0" name="Freeform 10"/>
          <p:cNvSpPr/>
          <p:nvPr/>
        </p:nvSpPr>
        <p:spPr>
          <a:xfrm rot="-519550">
            <a:off x="3959914" y="8317580"/>
            <a:ext cx="2679570" cy="876950"/>
          </a:xfrm>
          <a:custGeom>
            <a:avLst/>
            <a:gdLst/>
            <a:ahLst/>
            <a:cxnLst/>
            <a:rect l="l" t="t" r="r" b="b"/>
            <a:pathLst>
              <a:path w="2679570" h="876950">
                <a:moveTo>
                  <a:pt x="0" y="0"/>
                </a:moveTo>
                <a:lnTo>
                  <a:pt x="2679570" y="0"/>
                </a:lnTo>
                <a:lnTo>
                  <a:pt x="2679570" y="876950"/>
                </a:lnTo>
                <a:lnTo>
                  <a:pt x="0" y="87695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1" name="Freeform 11"/>
          <p:cNvSpPr/>
          <p:nvPr/>
        </p:nvSpPr>
        <p:spPr>
          <a:xfrm>
            <a:off x="16304305" y="7125977"/>
            <a:ext cx="421910" cy="421910"/>
          </a:xfrm>
          <a:custGeom>
            <a:avLst/>
            <a:gdLst/>
            <a:ahLst/>
            <a:cxnLst/>
            <a:rect l="l" t="t" r="r" b="b"/>
            <a:pathLst>
              <a:path w="421910" h="421910">
                <a:moveTo>
                  <a:pt x="0" y="0"/>
                </a:moveTo>
                <a:lnTo>
                  <a:pt x="421911" y="0"/>
                </a:lnTo>
                <a:lnTo>
                  <a:pt x="421911" y="421910"/>
                </a:lnTo>
                <a:lnTo>
                  <a:pt x="0" y="42191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2" name="Freeform 12"/>
          <p:cNvSpPr/>
          <p:nvPr/>
        </p:nvSpPr>
        <p:spPr>
          <a:xfrm>
            <a:off x="2302236" y="5358113"/>
            <a:ext cx="421910" cy="421910"/>
          </a:xfrm>
          <a:custGeom>
            <a:avLst/>
            <a:gdLst/>
            <a:ahLst/>
            <a:cxnLst/>
            <a:rect l="l" t="t" r="r" b="b"/>
            <a:pathLst>
              <a:path w="421910" h="421910">
                <a:moveTo>
                  <a:pt x="0" y="0"/>
                </a:moveTo>
                <a:lnTo>
                  <a:pt x="421910" y="0"/>
                </a:lnTo>
                <a:lnTo>
                  <a:pt x="421910" y="421910"/>
                </a:lnTo>
                <a:lnTo>
                  <a:pt x="0" y="42191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3" name="Freeform 13"/>
          <p:cNvSpPr/>
          <p:nvPr/>
        </p:nvSpPr>
        <p:spPr>
          <a:xfrm rot="-1126522">
            <a:off x="16737875" y="8747159"/>
            <a:ext cx="2154866" cy="1739564"/>
          </a:xfrm>
          <a:custGeom>
            <a:avLst/>
            <a:gdLst/>
            <a:ahLst/>
            <a:cxnLst/>
            <a:rect l="l" t="t" r="r" b="b"/>
            <a:pathLst>
              <a:path w="2154866" h="1739564">
                <a:moveTo>
                  <a:pt x="0" y="0"/>
                </a:moveTo>
                <a:lnTo>
                  <a:pt x="2154866" y="0"/>
                </a:lnTo>
                <a:lnTo>
                  <a:pt x="2154866" y="1739564"/>
                </a:lnTo>
                <a:lnTo>
                  <a:pt x="0" y="173956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4" name="Freeform 14"/>
          <p:cNvSpPr/>
          <p:nvPr/>
        </p:nvSpPr>
        <p:spPr>
          <a:xfrm>
            <a:off x="2136513" y="880758"/>
            <a:ext cx="1175266" cy="1128256"/>
          </a:xfrm>
          <a:custGeom>
            <a:avLst/>
            <a:gdLst/>
            <a:ahLst/>
            <a:cxnLst/>
            <a:rect l="l" t="t" r="r" b="b"/>
            <a:pathLst>
              <a:path w="1175266" h="1128256">
                <a:moveTo>
                  <a:pt x="0" y="0"/>
                </a:moveTo>
                <a:lnTo>
                  <a:pt x="1175266" y="0"/>
                </a:lnTo>
                <a:lnTo>
                  <a:pt x="1175266" y="1128255"/>
                </a:lnTo>
                <a:lnTo>
                  <a:pt x="0" y="1128255"/>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5" name="Freeform 15"/>
          <p:cNvSpPr/>
          <p:nvPr/>
        </p:nvSpPr>
        <p:spPr>
          <a:xfrm rot="553265">
            <a:off x="-310197" y="4024447"/>
            <a:ext cx="1587020" cy="2238105"/>
          </a:xfrm>
          <a:custGeom>
            <a:avLst/>
            <a:gdLst/>
            <a:ahLst/>
            <a:cxnLst/>
            <a:rect l="l" t="t" r="r" b="b"/>
            <a:pathLst>
              <a:path w="1587020" h="2238105">
                <a:moveTo>
                  <a:pt x="0" y="0"/>
                </a:moveTo>
                <a:lnTo>
                  <a:pt x="1587020" y="0"/>
                </a:lnTo>
                <a:lnTo>
                  <a:pt x="1587020" y="2238106"/>
                </a:lnTo>
                <a:lnTo>
                  <a:pt x="0" y="2238106"/>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sp>
        <p:nvSpPr>
          <p:cNvPr id="16" name="Freeform 16"/>
          <p:cNvSpPr/>
          <p:nvPr/>
        </p:nvSpPr>
        <p:spPr>
          <a:xfrm rot="-519293">
            <a:off x="273799" y="7186753"/>
            <a:ext cx="1089351" cy="3721386"/>
          </a:xfrm>
          <a:custGeom>
            <a:avLst/>
            <a:gdLst/>
            <a:ahLst/>
            <a:cxnLst/>
            <a:rect l="l" t="t" r="r" b="b"/>
            <a:pathLst>
              <a:path w="1089351" h="3721386">
                <a:moveTo>
                  <a:pt x="0" y="0"/>
                </a:moveTo>
                <a:lnTo>
                  <a:pt x="1089352" y="0"/>
                </a:lnTo>
                <a:lnTo>
                  <a:pt x="1089352" y="3721386"/>
                </a:lnTo>
                <a:lnTo>
                  <a:pt x="0" y="3721386"/>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17" name="Freeform 17"/>
          <p:cNvSpPr/>
          <p:nvPr/>
        </p:nvSpPr>
        <p:spPr>
          <a:xfrm rot="2522879">
            <a:off x="16360040" y="1267118"/>
            <a:ext cx="2051947" cy="955088"/>
          </a:xfrm>
          <a:custGeom>
            <a:avLst/>
            <a:gdLst/>
            <a:ahLst/>
            <a:cxnLst/>
            <a:rect l="l" t="t" r="r" b="b"/>
            <a:pathLst>
              <a:path w="2051947" h="955088">
                <a:moveTo>
                  <a:pt x="0" y="0"/>
                </a:moveTo>
                <a:lnTo>
                  <a:pt x="2051947" y="0"/>
                </a:lnTo>
                <a:lnTo>
                  <a:pt x="2051947" y="955088"/>
                </a:lnTo>
                <a:lnTo>
                  <a:pt x="0" y="955088"/>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sp>
      <p:sp>
        <p:nvSpPr>
          <p:cNvPr id="18" name="TextBox 18"/>
          <p:cNvSpPr txBox="1"/>
          <p:nvPr/>
        </p:nvSpPr>
        <p:spPr>
          <a:xfrm>
            <a:off x="2764630" y="3265421"/>
            <a:ext cx="12758741" cy="1919605"/>
          </a:xfrm>
          <a:prstGeom prst="rect">
            <a:avLst/>
          </a:prstGeom>
        </p:spPr>
        <p:txBody>
          <a:bodyPr lIns="0" tIns="0" rIns="0" bIns="0" rtlCol="0" anchor="t">
            <a:spAutoFit/>
          </a:bodyPr>
          <a:lstStyle/>
          <a:p>
            <a:pPr algn="ctr">
              <a:lnSpc>
                <a:spcPts val="7485"/>
              </a:lnSpc>
            </a:pPr>
            <a:r>
              <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rPr>
              <a:t>XÂY DỰNG WEBSITE CỬA HÀNG NƯỚC HOA ORIANNA</a:t>
            </a:r>
            <a:endPar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p:txBody>
      </p:sp>
      <p:sp>
        <p:nvSpPr>
          <p:cNvPr id="19" name="TextBox 19"/>
          <p:cNvSpPr txBox="1"/>
          <p:nvPr/>
        </p:nvSpPr>
        <p:spPr>
          <a:xfrm>
            <a:off x="3310636" y="6478277"/>
            <a:ext cx="4680823" cy="1107440"/>
          </a:xfrm>
          <a:prstGeom prst="rect">
            <a:avLst/>
          </a:prstGeom>
        </p:spPr>
        <p:txBody>
          <a:bodyPr lIns="0" tIns="0" rIns="0" bIns="0" rtlCol="0" anchor="t">
            <a:spAutoFit/>
          </a:bodyPr>
          <a:lstStyle/>
          <a:p>
            <a:pPr algn="ctr">
              <a:lnSpc>
                <a:spcPts val="4320"/>
              </a:lnSpc>
              <a:spcBef>
                <a:spcPct val="0"/>
              </a:spcBef>
            </a:pPr>
            <a:r>
              <a:rPr lang="en-US" sz="3600" b="1">
                <a:solidFill>
                  <a:srgbClr val="000000"/>
                </a:solidFill>
                <a:latin typeface="Calibri" panose="020F0502020204030204" charset="0"/>
                <a:ea typeface="Faustina Bold" panose="00000800000000000000"/>
                <a:cs typeface="Calibri" panose="020F0502020204030204" charset="0"/>
                <a:sym typeface="Faustina Bold" panose="00000800000000000000"/>
              </a:rPr>
              <a:t>Giảng viên hướng dẫn:</a:t>
            </a:r>
            <a:endParaRPr lang="en-US" sz="36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a:p>
            <a:pPr algn="ctr">
              <a:lnSpc>
                <a:spcPts val="4320"/>
              </a:lnSpc>
              <a:spcBef>
                <a:spcPct val="0"/>
              </a:spcBef>
            </a:pPr>
            <a:r>
              <a:rPr lang="en-US" sz="3600" b="1">
                <a:solidFill>
                  <a:srgbClr val="000000"/>
                </a:solidFill>
                <a:latin typeface="Calibri" panose="020F0502020204030204" charset="0"/>
                <a:ea typeface="Faustina Bold" panose="00000800000000000000"/>
                <a:cs typeface="Calibri" panose="020F0502020204030204" charset="0"/>
                <a:sym typeface="Faustina Bold" panose="00000800000000000000"/>
              </a:rPr>
              <a:t>Ths. Phạm Minh Đương</a:t>
            </a:r>
            <a:endParaRPr lang="en-US" sz="36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p:txBody>
      </p:sp>
      <p:sp>
        <p:nvSpPr>
          <p:cNvPr id="20" name="TextBox 20"/>
          <p:cNvSpPr txBox="1"/>
          <p:nvPr/>
        </p:nvSpPr>
        <p:spPr>
          <a:xfrm>
            <a:off x="10989592" y="6452512"/>
            <a:ext cx="4050863" cy="1107440"/>
          </a:xfrm>
          <a:prstGeom prst="rect">
            <a:avLst/>
          </a:prstGeom>
        </p:spPr>
        <p:txBody>
          <a:bodyPr lIns="0" tIns="0" rIns="0" bIns="0" rtlCol="0" anchor="t">
            <a:spAutoFit/>
          </a:bodyPr>
          <a:lstStyle/>
          <a:p>
            <a:pPr algn="ctr">
              <a:lnSpc>
                <a:spcPts val="4320"/>
              </a:lnSpc>
              <a:spcBef>
                <a:spcPct val="0"/>
              </a:spcBef>
            </a:pPr>
            <a:r>
              <a:rPr lang="en-US" sz="3600" b="1">
                <a:solidFill>
                  <a:srgbClr val="000000"/>
                </a:solidFill>
                <a:latin typeface="Calibri" panose="020F0502020204030204" charset="0"/>
                <a:ea typeface="Faustina Bold" panose="00000800000000000000"/>
                <a:cs typeface="Calibri" panose="020F0502020204030204" charset="0"/>
                <a:sym typeface="Faustina Bold" panose="00000800000000000000"/>
              </a:rPr>
              <a:t>Sinh viên thực hiện: </a:t>
            </a:r>
            <a:endParaRPr lang="en-US" sz="36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a:p>
            <a:pPr algn="ctr">
              <a:lnSpc>
                <a:spcPts val="4320"/>
              </a:lnSpc>
              <a:spcBef>
                <a:spcPct val="0"/>
              </a:spcBef>
            </a:pPr>
            <a:r>
              <a:rPr lang="en-US" sz="3600" b="1">
                <a:solidFill>
                  <a:srgbClr val="000000"/>
                </a:solidFill>
                <a:latin typeface="Calibri" panose="020F0502020204030204" charset="0"/>
                <a:ea typeface="Faustina Bold" panose="00000800000000000000"/>
                <a:cs typeface="Calibri" panose="020F0502020204030204" charset="0"/>
                <a:sym typeface="Faustina Bold" panose="00000800000000000000"/>
              </a:rPr>
              <a:t>Hứa Thị Thảo Vy</a:t>
            </a:r>
            <a:endParaRPr lang="en-US" sz="36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38888" b="-38888"/>
            </a:stretch>
          </a:blipFill>
        </p:spPr>
      </p:sp>
      <p:sp>
        <p:nvSpPr>
          <p:cNvPr id="3" name="Freeform 3"/>
          <p:cNvSpPr/>
          <p:nvPr/>
        </p:nvSpPr>
        <p:spPr>
          <a:xfrm>
            <a:off x="3158716" y="7926538"/>
            <a:ext cx="11970569" cy="1537504"/>
          </a:xfrm>
          <a:custGeom>
            <a:avLst/>
            <a:gdLst/>
            <a:ahLst/>
            <a:cxnLst/>
            <a:rect l="l" t="t" r="r" b="b"/>
            <a:pathLst>
              <a:path w="11970569" h="1537504">
                <a:moveTo>
                  <a:pt x="0" y="0"/>
                </a:moveTo>
                <a:lnTo>
                  <a:pt x="11970568" y="0"/>
                </a:lnTo>
                <a:lnTo>
                  <a:pt x="11970568" y="1537504"/>
                </a:lnTo>
                <a:lnTo>
                  <a:pt x="0" y="15375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097310" y="1146422"/>
            <a:ext cx="14093380" cy="984885"/>
          </a:xfrm>
          <a:prstGeom prst="rect">
            <a:avLst/>
          </a:prstGeom>
        </p:spPr>
        <p:txBody>
          <a:bodyPr lIns="0" tIns="0" rIns="0" bIns="0" rtlCol="0" anchor="t">
            <a:spAutoFit/>
          </a:bodyPr>
          <a:lstStyle/>
          <a:p>
            <a:pPr algn="ctr">
              <a:lnSpc>
                <a:spcPts val="7680"/>
              </a:lnSpc>
            </a:pPr>
            <a:r>
              <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rPr>
              <a:t>Nội dung</a:t>
            </a:r>
            <a:endPar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p:txBody>
      </p:sp>
      <p:sp>
        <p:nvSpPr>
          <p:cNvPr id="5" name="Freeform 5"/>
          <p:cNvSpPr/>
          <p:nvPr/>
        </p:nvSpPr>
        <p:spPr>
          <a:xfrm rot="-1601978">
            <a:off x="16746908" y="-1318515"/>
            <a:ext cx="6176630" cy="8666190"/>
          </a:xfrm>
          <a:custGeom>
            <a:avLst/>
            <a:gdLst/>
            <a:ahLst/>
            <a:cxnLst/>
            <a:rect l="l" t="t" r="r" b="b"/>
            <a:pathLst>
              <a:path w="6176630" h="8666190">
                <a:moveTo>
                  <a:pt x="0" y="0"/>
                </a:moveTo>
                <a:lnTo>
                  <a:pt x="6176631" y="0"/>
                </a:lnTo>
                <a:lnTo>
                  <a:pt x="6176631" y="8666190"/>
                </a:lnTo>
                <a:lnTo>
                  <a:pt x="0" y="866619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434803">
            <a:off x="-4998435" y="4096437"/>
            <a:ext cx="6176630" cy="8666190"/>
          </a:xfrm>
          <a:custGeom>
            <a:avLst/>
            <a:gdLst/>
            <a:ahLst/>
            <a:cxnLst/>
            <a:rect l="l" t="t" r="r" b="b"/>
            <a:pathLst>
              <a:path w="6176630" h="8666190">
                <a:moveTo>
                  <a:pt x="0" y="0"/>
                </a:moveTo>
                <a:lnTo>
                  <a:pt x="6176630" y="0"/>
                </a:lnTo>
                <a:lnTo>
                  <a:pt x="6176630" y="8666190"/>
                </a:lnTo>
                <a:lnTo>
                  <a:pt x="0" y="866619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641869">
            <a:off x="12699321" y="8873924"/>
            <a:ext cx="4859927" cy="768752"/>
          </a:xfrm>
          <a:custGeom>
            <a:avLst/>
            <a:gdLst/>
            <a:ahLst/>
            <a:cxnLst/>
            <a:rect l="l" t="t" r="r" b="b"/>
            <a:pathLst>
              <a:path w="4859927" h="768752">
                <a:moveTo>
                  <a:pt x="0" y="0"/>
                </a:moveTo>
                <a:lnTo>
                  <a:pt x="4859927" y="0"/>
                </a:lnTo>
                <a:lnTo>
                  <a:pt x="4859927" y="768752"/>
                </a:lnTo>
                <a:lnTo>
                  <a:pt x="0" y="76875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8" name="Group 8"/>
          <p:cNvGrpSpPr/>
          <p:nvPr/>
        </p:nvGrpSpPr>
        <p:grpSpPr>
          <a:xfrm rot="0">
            <a:off x="3158716" y="2748533"/>
            <a:ext cx="11970569" cy="1537504"/>
            <a:chOff x="0" y="0"/>
            <a:chExt cx="15960759" cy="2050006"/>
          </a:xfrm>
        </p:grpSpPr>
        <p:sp>
          <p:nvSpPr>
            <p:cNvPr id="9" name="Freeform 9"/>
            <p:cNvSpPr/>
            <p:nvPr/>
          </p:nvSpPr>
          <p:spPr>
            <a:xfrm>
              <a:off x="0" y="0"/>
              <a:ext cx="15960759" cy="2050006"/>
            </a:xfrm>
            <a:custGeom>
              <a:avLst/>
              <a:gdLst/>
              <a:ahLst/>
              <a:cxnLst/>
              <a:rect l="l" t="t" r="r" b="b"/>
              <a:pathLst>
                <a:path w="15960759" h="2050006">
                  <a:moveTo>
                    <a:pt x="0" y="0"/>
                  </a:moveTo>
                  <a:lnTo>
                    <a:pt x="15960759" y="0"/>
                  </a:lnTo>
                  <a:lnTo>
                    <a:pt x="15960759" y="2050006"/>
                  </a:lnTo>
                  <a:lnTo>
                    <a:pt x="0" y="20500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TextBox 10"/>
            <p:cNvSpPr txBox="1"/>
            <p:nvPr/>
          </p:nvSpPr>
          <p:spPr>
            <a:xfrm>
              <a:off x="1622060" y="715123"/>
              <a:ext cx="11531092" cy="543560"/>
            </a:xfrm>
            <a:prstGeom prst="rect">
              <a:avLst/>
            </a:prstGeom>
          </p:spPr>
          <p:txBody>
            <a:bodyPr lIns="0" tIns="0" rIns="0" bIns="0" rtlCol="0" anchor="t">
              <a:spAutoFit/>
            </a:bodyPr>
            <a:lstStyle/>
            <a:p>
              <a:pPr algn="l">
                <a:lnSpc>
                  <a:spcPts val="3450"/>
                </a:lnSpc>
              </a:pPr>
            </a:p>
          </p:txBody>
        </p:sp>
      </p:grpSp>
      <p:sp>
        <p:nvSpPr>
          <p:cNvPr id="11" name="Freeform 11"/>
          <p:cNvSpPr/>
          <p:nvPr/>
        </p:nvSpPr>
        <p:spPr>
          <a:xfrm>
            <a:off x="1830496" y="2004876"/>
            <a:ext cx="1442628" cy="1474805"/>
          </a:xfrm>
          <a:custGeom>
            <a:avLst/>
            <a:gdLst/>
            <a:ahLst/>
            <a:cxnLst/>
            <a:rect l="l" t="t" r="r" b="b"/>
            <a:pathLst>
              <a:path w="1442628" h="1474805">
                <a:moveTo>
                  <a:pt x="0" y="0"/>
                </a:moveTo>
                <a:lnTo>
                  <a:pt x="1442628" y="0"/>
                </a:lnTo>
                <a:lnTo>
                  <a:pt x="1442628" y="1474805"/>
                </a:lnTo>
                <a:lnTo>
                  <a:pt x="0" y="147480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Freeform 12"/>
          <p:cNvSpPr/>
          <p:nvPr/>
        </p:nvSpPr>
        <p:spPr>
          <a:xfrm flipH="1">
            <a:off x="3158716" y="4482734"/>
            <a:ext cx="11970569" cy="1537504"/>
          </a:xfrm>
          <a:custGeom>
            <a:avLst/>
            <a:gdLst/>
            <a:ahLst/>
            <a:cxnLst/>
            <a:rect l="l" t="t" r="r" b="b"/>
            <a:pathLst>
              <a:path w="11970569" h="1537504">
                <a:moveTo>
                  <a:pt x="11970568" y="0"/>
                </a:moveTo>
                <a:lnTo>
                  <a:pt x="0" y="0"/>
                </a:lnTo>
                <a:lnTo>
                  <a:pt x="0" y="1537504"/>
                </a:lnTo>
                <a:lnTo>
                  <a:pt x="11970568" y="1537504"/>
                </a:lnTo>
                <a:lnTo>
                  <a:pt x="11970568"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rot="-789968">
            <a:off x="14956727" y="3731387"/>
            <a:ext cx="1883072" cy="1109301"/>
          </a:xfrm>
          <a:custGeom>
            <a:avLst/>
            <a:gdLst/>
            <a:ahLst/>
            <a:cxnLst/>
            <a:rect l="l" t="t" r="r" b="b"/>
            <a:pathLst>
              <a:path w="1883072" h="1109301">
                <a:moveTo>
                  <a:pt x="0" y="0"/>
                </a:moveTo>
                <a:lnTo>
                  <a:pt x="1883072" y="0"/>
                </a:lnTo>
                <a:lnTo>
                  <a:pt x="1883072" y="1109301"/>
                </a:lnTo>
                <a:lnTo>
                  <a:pt x="0" y="110930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Freeform 14"/>
          <p:cNvSpPr/>
          <p:nvPr/>
        </p:nvSpPr>
        <p:spPr>
          <a:xfrm rot="444216">
            <a:off x="14087013" y="3397272"/>
            <a:ext cx="1536256" cy="1474805"/>
          </a:xfrm>
          <a:custGeom>
            <a:avLst/>
            <a:gdLst/>
            <a:ahLst/>
            <a:cxnLst/>
            <a:rect l="l" t="t" r="r" b="b"/>
            <a:pathLst>
              <a:path w="1536256" h="1474805">
                <a:moveTo>
                  <a:pt x="0" y="0"/>
                </a:moveTo>
                <a:lnTo>
                  <a:pt x="1536255" y="0"/>
                </a:lnTo>
                <a:lnTo>
                  <a:pt x="1536255" y="1474805"/>
                </a:lnTo>
                <a:lnTo>
                  <a:pt x="0" y="147480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5" name="Freeform 15"/>
          <p:cNvSpPr/>
          <p:nvPr/>
        </p:nvSpPr>
        <p:spPr>
          <a:xfrm flipH="1" flipV="1">
            <a:off x="3158716" y="6192337"/>
            <a:ext cx="11970569" cy="1537504"/>
          </a:xfrm>
          <a:custGeom>
            <a:avLst/>
            <a:gdLst/>
            <a:ahLst/>
            <a:cxnLst/>
            <a:rect l="l" t="t" r="r" b="b"/>
            <a:pathLst>
              <a:path w="11970569" h="1537504">
                <a:moveTo>
                  <a:pt x="11970568" y="1537504"/>
                </a:moveTo>
                <a:lnTo>
                  <a:pt x="0" y="1537504"/>
                </a:lnTo>
                <a:lnTo>
                  <a:pt x="0" y="0"/>
                </a:lnTo>
                <a:lnTo>
                  <a:pt x="11970568" y="0"/>
                </a:lnTo>
                <a:lnTo>
                  <a:pt x="11970568" y="153750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6" name="Freeform 16"/>
          <p:cNvSpPr/>
          <p:nvPr/>
        </p:nvSpPr>
        <p:spPr>
          <a:xfrm rot="-911492">
            <a:off x="2096011" y="6288353"/>
            <a:ext cx="1587020" cy="2238105"/>
          </a:xfrm>
          <a:custGeom>
            <a:avLst/>
            <a:gdLst/>
            <a:ahLst/>
            <a:cxnLst/>
            <a:rect l="l" t="t" r="r" b="b"/>
            <a:pathLst>
              <a:path w="1587020" h="2238105">
                <a:moveTo>
                  <a:pt x="0" y="0"/>
                </a:moveTo>
                <a:lnTo>
                  <a:pt x="1587020" y="0"/>
                </a:lnTo>
                <a:lnTo>
                  <a:pt x="1587020" y="2238105"/>
                </a:lnTo>
                <a:lnTo>
                  <a:pt x="0" y="223810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7" name="Freeform 17"/>
          <p:cNvSpPr/>
          <p:nvPr/>
        </p:nvSpPr>
        <p:spPr>
          <a:xfrm>
            <a:off x="3357371" y="8171003"/>
            <a:ext cx="974221" cy="1048575"/>
          </a:xfrm>
          <a:custGeom>
            <a:avLst/>
            <a:gdLst/>
            <a:ahLst/>
            <a:cxnLst/>
            <a:rect l="l" t="t" r="r" b="b"/>
            <a:pathLst>
              <a:path w="974221" h="1048575">
                <a:moveTo>
                  <a:pt x="0" y="0"/>
                </a:moveTo>
                <a:lnTo>
                  <a:pt x="974221" y="0"/>
                </a:lnTo>
                <a:lnTo>
                  <a:pt x="974221" y="1048574"/>
                </a:lnTo>
                <a:lnTo>
                  <a:pt x="0" y="104857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8" name="Freeform 18"/>
          <p:cNvSpPr/>
          <p:nvPr/>
        </p:nvSpPr>
        <p:spPr>
          <a:xfrm>
            <a:off x="3494923" y="3086100"/>
            <a:ext cx="907246" cy="898999"/>
          </a:xfrm>
          <a:custGeom>
            <a:avLst/>
            <a:gdLst/>
            <a:ahLst/>
            <a:cxnLst/>
            <a:rect l="l" t="t" r="r" b="b"/>
            <a:pathLst>
              <a:path w="907246" h="898999">
                <a:moveTo>
                  <a:pt x="0" y="0"/>
                </a:moveTo>
                <a:lnTo>
                  <a:pt x="907247" y="0"/>
                </a:lnTo>
                <a:lnTo>
                  <a:pt x="907247" y="898999"/>
                </a:lnTo>
                <a:lnTo>
                  <a:pt x="0" y="89899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9" name="Freeform 19"/>
          <p:cNvSpPr/>
          <p:nvPr/>
        </p:nvSpPr>
        <p:spPr>
          <a:xfrm>
            <a:off x="3342519" y="4914687"/>
            <a:ext cx="946745" cy="986192"/>
          </a:xfrm>
          <a:custGeom>
            <a:avLst/>
            <a:gdLst/>
            <a:ahLst/>
            <a:cxnLst/>
            <a:rect l="l" t="t" r="r" b="b"/>
            <a:pathLst>
              <a:path w="946745" h="986192">
                <a:moveTo>
                  <a:pt x="0" y="0"/>
                </a:moveTo>
                <a:lnTo>
                  <a:pt x="946744" y="0"/>
                </a:lnTo>
                <a:lnTo>
                  <a:pt x="946744" y="986193"/>
                </a:lnTo>
                <a:lnTo>
                  <a:pt x="0" y="986193"/>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20" name="Freeform 20"/>
          <p:cNvSpPr/>
          <p:nvPr/>
        </p:nvSpPr>
        <p:spPr>
          <a:xfrm>
            <a:off x="3357371" y="6440011"/>
            <a:ext cx="931892" cy="947395"/>
          </a:xfrm>
          <a:custGeom>
            <a:avLst/>
            <a:gdLst/>
            <a:ahLst/>
            <a:cxnLst/>
            <a:rect l="l" t="t" r="r" b="b"/>
            <a:pathLst>
              <a:path w="931892" h="947395">
                <a:moveTo>
                  <a:pt x="0" y="0"/>
                </a:moveTo>
                <a:lnTo>
                  <a:pt x="931892" y="0"/>
                </a:lnTo>
                <a:lnTo>
                  <a:pt x="931892" y="947395"/>
                </a:lnTo>
                <a:lnTo>
                  <a:pt x="0" y="947395"/>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sp>
        <p:nvSpPr>
          <p:cNvPr id="21" name="TextBox 21"/>
          <p:cNvSpPr txBox="1"/>
          <p:nvPr/>
        </p:nvSpPr>
        <p:spPr>
          <a:xfrm>
            <a:off x="4765842" y="3061572"/>
            <a:ext cx="4951214" cy="933450"/>
          </a:xfrm>
          <a:prstGeom prst="rect">
            <a:avLst/>
          </a:prstGeom>
        </p:spPr>
        <p:txBody>
          <a:bodyPr lIns="0" tIns="0" rIns="0" bIns="0" rtlCol="0" anchor="t">
            <a:spAutoFit/>
          </a:bodyPr>
          <a:lstStyle/>
          <a:p>
            <a:pPr algn="ctr">
              <a:lnSpc>
                <a:spcPts val="7280"/>
              </a:lnSpc>
              <a:spcBef>
                <a:spcPct val="0"/>
              </a:spcBef>
            </a:pPr>
            <a:r>
              <a:rPr lang="en-US" sz="5600" b="1">
                <a:solidFill>
                  <a:srgbClr val="000000"/>
                </a:solidFill>
                <a:latin typeface="Calibri" panose="020F0502020204030204" charset="0"/>
                <a:ea typeface="Faustina Bold" panose="00000800000000000000"/>
                <a:cs typeface="Calibri" panose="020F0502020204030204" charset="0"/>
                <a:sym typeface="Faustina Bold" panose="00000800000000000000"/>
              </a:rPr>
              <a:t>Giới thiệu đề tài</a:t>
            </a:r>
            <a:endParaRPr lang="en-US" sz="56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p:txBody>
      </p:sp>
      <p:sp>
        <p:nvSpPr>
          <p:cNvPr id="22" name="TextBox 22"/>
          <p:cNvSpPr txBox="1"/>
          <p:nvPr/>
        </p:nvSpPr>
        <p:spPr>
          <a:xfrm>
            <a:off x="4698802" y="8225652"/>
            <a:ext cx="8890397" cy="933450"/>
          </a:xfrm>
          <a:prstGeom prst="rect">
            <a:avLst/>
          </a:prstGeom>
        </p:spPr>
        <p:txBody>
          <a:bodyPr lIns="0" tIns="0" rIns="0" bIns="0" rtlCol="0" anchor="t">
            <a:spAutoFit/>
          </a:bodyPr>
          <a:lstStyle/>
          <a:p>
            <a:pPr algn="ctr">
              <a:lnSpc>
                <a:spcPts val="7280"/>
              </a:lnSpc>
              <a:spcBef>
                <a:spcPct val="0"/>
              </a:spcBef>
            </a:pPr>
            <a:r>
              <a:rPr lang="en-US" sz="5600" b="1">
                <a:solidFill>
                  <a:srgbClr val="000000"/>
                </a:solidFill>
                <a:latin typeface="Calibri" panose="020F0502020204030204" charset="0"/>
                <a:ea typeface="Faustina Bold" panose="00000800000000000000"/>
                <a:cs typeface="Calibri" panose="020F0502020204030204" charset="0"/>
                <a:sym typeface="Faustina Bold" panose="00000800000000000000"/>
              </a:rPr>
              <a:t>Kết luận và hướng phát triển</a:t>
            </a:r>
            <a:endParaRPr lang="en-US" sz="56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p:txBody>
      </p:sp>
      <p:sp>
        <p:nvSpPr>
          <p:cNvPr id="23" name="TextBox 23"/>
          <p:cNvSpPr txBox="1"/>
          <p:nvPr/>
        </p:nvSpPr>
        <p:spPr>
          <a:xfrm>
            <a:off x="4765842" y="4867062"/>
            <a:ext cx="6449020" cy="933450"/>
          </a:xfrm>
          <a:prstGeom prst="rect">
            <a:avLst/>
          </a:prstGeom>
        </p:spPr>
        <p:txBody>
          <a:bodyPr lIns="0" tIns="0" rIns="0" bIns="0" rtlCol="0" anchor="t">
            <a:spAutoFit/>
          </a:bodyPr>
          <a:lstStyle/>
          <a:p>
            <a:pPr algn="ctr">
              <a:lnSpc>
                <a:spcPts val="7280"/>
              </a:lnSpc>
              <a:spcBef>
                <a:spcPct val="0"/>
              </a:spcBef>
            </a:pPr>
            <a:r>
              <a:rPr lang="en-US" sz="5600" b="1">
                <a:solidFill>
                  <a:srgbClr val="000000"/>
                </a:solidFill>
                <a:latin typeface="Calibri" panose="020F0502020204030204" charset="0"/>
                <a:ea typeface="Faustina Bold" panose="00000800000000000000"/>
                <a:cs typeface="Calibri" panose="020F0502020204030204" charset="0"/>
                <a:sym typeface="Faustina Bold" panose="00000800000000000000"/>
              </a:rPr>
              <a:t>Nội dung nghiên cứu</a:t>
            </a:r>
            <a:endParaRPr lang="en-US" sz="56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p:txBody>
      </p:sp>
      <p:sp>
        <p:nvSpPr>
          <p:cNvPr id="24" name="TextBox 24"/>
          <p:cNvSpPr txBox="1"/>
          <p:nvPr/>
        </p:nvSpPr>
        <p:spPr>
          <a:xfrm>
            <a:off x="4495800" y="6358255"/>
            <a:ext cx="6017895" cy="933450"/>
          </a:xfrm>
          <a:prstGeom prst="rect">
            <a:avLst/>
          </a:prstGeom>
        </p:spPr>
        <p:txBody>
          <a:bodyPr wrap="square" lIns="0" tIns="0" rIns="0" bIns="0" rtlCol="0" anchor="t">
            <a:spAutoFit/>
          </a:bodyPr>
          <a:lstStyle/>
          <a:p>
            <a:pPr algn="ctr">
              <a:lnSpc>
                <a:spcPts val="7280"/>
              </a:lnSpc>
              <a:spcBef>
                <a:spcPct val="0"/>
              </a:spcBef>
            </a:pPr>
            <a:r>
              <a:rPr lang="en-US" sz="5600" b="1">
                <a:solidFill>
                  <a:srgbClr val="000000"/>
                </a:solidFill>
                <a:latin typeface="Calibri" panose="020F0502020204030204" charset="0"/>
                <a:ea typeface="Faustina Bold" panose="00000800000000000000"/>
                <a:cs typeface="Calibri" panose="020F0502020204030204" charset="0"/>
                <a:sym typeface="Faustina Bold" panose="00000800000000000000"/>
              </a:rPr>
              <a:t>Kết quả đạt được</a:t>
            </a:r>
            <a:endParaRPr lang="en-US" sz="56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D3D5"/>
        </a:solidFill>
        <a:effectLst/>
      </p:bgPr>
    </p:bg>
    <p:spTree>
      <p:nvGrpSpPr>
        <p:cNvPr id="1" name=""/>
        <p:cNvGrpSpPr/>
        <p:nvPr/>
      </p:nvGrpSpPr>
      <p:grpSpPr>
        <a:xfrm>
          <a:off x="0" y="0"/>
          <a:ext cx="0" cy="0"/>
          <a:chOff x="0" y="0"/>
          <a:chExt cx="0" cy="0"/>
        </a:xfrm>
      </p:grpSpPr>
      <p:sp>
        <p:nvSpPr>
          <p:cNvPr id="2" name="Freeform 2"/>
          <p:cNvSpPr/>
          <p:nvPr/>
        </p:nvSpPr>
        <p:spPr>
          <a:xfrm rot="-177805">
            <a:off x="1162207" y="664084"/>
            <a:ext cx="10392621" cy="9920229"/>
          </a:xfrm>
          <a:custGeom>
            <a:avLst/>
            <a:gdLst/>
            <a:ahLst/>
            <a:cxnLst/>
            <a:rect l="l" t="t" r="r" b="b"/>
            <a:pathLst>
              <a:path w="10392621" h="9920229">
                <a:moveTo>
                  <a:pt x="0" y="0"/>
                </a:moveTo>
                <a:lnTo>
                  <a:pt x="10392621" y="0"/>
                </a:lnTo>
                <a:lnTo>
                  <a:pt x="10392621" y="9920229"/>
                </a:lnTo>
                <a:lnTo>
                  <a:pt x="0" y="9920229"/>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607175">
            <a:off x="6552915" y="49960"/>
            <a:ext cx="11411752" cy="10777766"/>
          </a:xfrm>
          <a:custGeom>
            <a:avLst/>
            <a:gdLst/>
            <a:ahLst/>
            <a:cxnLst/>
            <a:rect l="l" t="t" r="r" b="b"/>
            <a:pathLst>
              <a:path w="11411752" h="10777766">
                <a:moveTo>
                  <a:pt x="0" y="0"/>
                </a:moveTo>
                <a:lnTo>
                  <a:pt x="11411752" y="0"/>
                </a:lnTo>
                <a:lnTo>
                  <a:pt x="11411752" y="10777765"/>
                </a:lnTo>
                <a:lnTo>
                  <a:pt x="0" y="1077776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7462816" y="3150326"/>
            <a:ext cx="9796484" cy="3617595"/>
          </a:xfrm>
          <a:prstGeom prst="rect">
            <a:avLst/>
          </a:prstGeom>
        </p:spPr>
        <p:txBody>
          <a:bodyPr lIns="0" tIns="0" rIns="0" bIns="0" rtlCol="0" anchor="t">
            <a:spAutoFit/>
          </a:bodyPr>
          <a:lstStyle/>
          <a:p>
            <a:pPr algn="just">
              <a:lnSpc>
                <a:spcPts val="4160"/>
              </a:lnSpc>
            </a:pPr>
            <a:r>
              <a:rPr lang="en-US" sz="3200">
                <a:solidFill>
                  <a:srgbClr val="000000"/>
                </a:solidFill>
                <a:latin typeface="Calibri" panose="020F0502020204030204" charset="0"/>
                <a:ea typeface="Faustina" panose="00000500000000000000"/>
                <a:cs typeface="Calibri" panose="020F0502020204030204" charset="0"/>
                <a:sym typeface="Faustina" panose="00000500000000000000"/>
              </a:rPr>
              <a:t>Xu </a:t>
            </a:r>
            <a:r>
              <a:rPr lang="en-US" sz="3200">
                <a:solidFill>
                  <a:srgbClr val="000000"/>
                </a:solidFill>
                <a:latin typeface="Calibri" panose="020F0502020204030204" charset="0"/>
                <a:ea typeface="Faustina" panose="00000500000000000000"/>
                <a:cs typeface="Calibri" panose="020F0502020204030204" charset="0"/>
                <a:sym typeface="Faustina" panose="00000500000000000000"/>
              </a:rPr>
              <a:t>hướng mua sắm trực tuyến đang trở thành lựa chọn phổ biến nhờ sự tiện lợi và nhanh chóng, đặc biệt trong lĩnh vực kinh doanh nước hoa. Việc xây dựng website bán hàng giúp mở rộng khả năng tiếp cận khách hàng và nâng cao hiệu quả kinh doanh, giúp khách hàng dễ dàng tìm kiếm, lựa chọn và đặt mua sản phẩm trực tuyến.</a:t>
            </a:r>
            <a:endParaRPr lang="en-US" sz="3200">
              <a:solidFill>
                <a:srgbClr val="000000"/>
              </a:solidFill>
              <a:latin typeface="Calibri" panose="020F0502020204030204" charset="0"/>
              <a:ea typeface="Faustina" panose="00000500000000000000"/>
              <a:cs typeface="Calibri" panose="020F0502020204030204" charset="0"/>
              <a:sym typeface="Faustina" panose="00000500000000000000"/>
            </a:endParaRPr>
          </a:p>
          <a:p>
            <a:pPr algn="just">
              <a:lnSpc>
                <a:spcPts val="3250"/>
              </a:lnSpc>
            </a:pPr>
            <a:endParaRPr>
              <a:latin typeface="Calibri" panose="020F0502020204030204" charset="0"/>
              <a:cs typeface="Calibri" panose="020F0502020204030204" charset="0"/>
            </a:endParaRPr>
          </a:p>
        </p:txBody>
      </p:sp>
      <p:sp>
        <p:nvSpPr>
          <p:cNvPr id="5" name="Freeform 5"/>
          <p:cNvSpPr/>
          <p:nvPr/>
        </p:nvSpPr>
        <p:spPr>
          <a:xfrm rot="-669179">
            <a:off x="14546667" y="7702497"/>
            <a:ext cx="3472421" cy="2834758"/>
          </a:xfrm>
          <a:custGeom>
            <a:avLst/>
            <a:gdLst/>
            <a:ahLst/>
            <a:cxnLst/>
            <a:rect l="l" t="t" r="r" b="b"/>
            <a:pathLst>
              <a:path w="3472421" h="2834758">
                <a:moveTo>
                  <a:pt x="0" y="0"/>
                </a:moveTo>
                <a:lnTo>
                  <a:pt x="3472421" y="0"/>
                </a:lnTo>
                <a:lnTo>
                  <a:pt x="3472421" y="2834758"/>
                </a:lnTo>
                <a:lnTo>
                  <a:pt x="0" y="283475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rot="1351532">
            <a:off x="15039076" y="370632"/>
            <a:ext cx="2487602" cy="2775216"/>
          </a:xfrm>
          <a:custGeom>
            <a:avLst/>
            <a:gdLst/>
            <a:ahLst/>
            <a:cxnLst/>
            <a:rect l="l" t="t" r="r" b="b"/>
            <a:pathLst>
              <a:path w="2487602" h="2775216">
                <a:moveTo>
                  <a:pt x="0" y="0"/>
                </a:moveTo>
                <a:lnTo>
                  <a:pt x="2487603" y="0"/>
                </a:lnTo>
                <a:lnTo>
                  <a:pt x="2487603" y="2775216"/>
                </a:lnTo>
                <a:lnTo>
                  <a:pt x="0" y="277521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7" name="Group 7"/>
          <p:cNvGrpSpPr/>
          <p:nvPr/>
        </p:nvGrpSpPr>
        <p:grpSpPr>
          <a:xfrm rot="0">
            <a:off x="1720104" y="7680994"/>
            <a:ext cx="3329633" cy="4581531"/>
            <a:chOff x="0" y="0"/>
            <a:chExt cx="4439511" cy="6108709"/>
          </a:xfrm>
        </p:grpSpPr>
        <p:sp>
          <p:nvSpPr>
            <p:cNvPr id="8" name="Freeform 8"/>
            <p:cNvSpPr/>
            <p:nvPr/>
          </p:nvSpPr>
          <p:spPr>
            <a:xfrm rot="1054061">
              <a:off x="759333" y="312946"/>
              <a:ext cx="2920846" cy="5482816"/>
            </a:xfrm>
            <a:custGeom>
              <a:avLst/>
              <a:gdLst/>
              <a:ahLst/>
              <a:cxnLst/>
              <a:rect l="l" t="t" r="r" b="b"/>
              <a:pathLst>
                <a:path w="2920846" h="5482816">
                  <a:moveTo>
                    <a:pt x="0" y="0"/>
                  </a:moveTo>
                  <a:lnTo>
                    <a:pt x="2920845" y="0"/>
                  </a:lnTo>
                  <a:lnTo>
                    <a:pt x="2920845" y="5482816"/>
                  </a:lnTo>
                  <a:lnTo>
                    <a:pt x="0" y="548281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9" name="Freeform 9"/>
            <p:cNvSpPr/>
            <p:nvPr/>
          </p:nvSpPr>
          <p:spPr>
            <a:xfrm rot="765139">
              <a:off x="2103658" y="2578772"/>
              <a:ext cx="1676088" cy="1310396"/>
            </a:xfrm>
            <a:custGeom>
              <a:avLst/>
              <a:gdLst/>
              <a:ahLst/>
              <a:cxnLst/>
              <a:rect l="l" t="t" r="r" b="b"/>
              <a:pathLst>
                <a:path w="1676088" h="1310396">
                  <a:moveTo>
                    <a:pt x="0" y="0"/>
                  </a:moveTo>
                  <a:lnTo>
                    <a:pt x="1676088" y="0"/>
                  </a:lnTo>
                  <a:lnTo>
                    <a:pt x="1676088" y="1310396"/>
                  </a:lnTo>
                  <a:lnTo>
                    <a:pt x="0" y="131039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sp>
        <p:nvSpPr>
          <p:cNvPr id="10" name="TextBox 10"/>
          <p:cNvSpPr txBox="1"/>
          <p:nvPr/>
        </p:nvSpPr>
        <p:spPr>
          <a:xfrm>
            <a:off x="2410640" y="4171950"/>
            <a:ext cx="4400380" cy="1969770"/>
          </a:xfrm>
          <a:prstGeom prst="rect">
            <a:avLst/>
          </a:prstGeom>
        </p:spPr>
        <p:txBody>
          <a:bodyPr lIns="0" tIns="0" rIns="0" bIns="0" rtlCol="0" anchor="t">
            <a:spAutoFit/>
          </a:bodyPr>
          <a:lstStyle/>
          <a:p>
            <a:pPr algn="ctr">
              <a:lnSpc>
                <a:spcPts val="7680"/>
              </a:lnSpc>
              <a:spcBef>
                <a:spcPct val="0"/>
              </a:spcBef>
            </a:pPr>
            <a:r>
              <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rPr>
              <a:t>1. Giới thiệu đề tài</a:t>
            </a:r>
            <a:endPar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38888" b="-38888"/>
            </a:stretch>
          </a:blipFill>
        </p:spPr>
      </p:sp>
      <p:sp>
        <p:nvSpPr>
          <p:cNvPr id="3" name="Freeform 3"/>
          <p:cNvSpPr/>
          <p:nvPr/>
        </p:nvSpPr>
        <p:spPr>
          <a:xfrm>
            <a:off x="63786" y="5453947"/>
            <a:ext cx="1929828" cy="1929828"/>
          </a:xfrm>
          <a:custGeom>
            <a:avLst/>
            <a:gdLst/>
            <a:ahLst/>
            <a:cxnLst/>
            <a:rect l="l" t="t" r="r" b="b"/>
            <a:pathLst>
              <a:path w="1929828" h="1929828">
                <a:moveTo>
                  <a:pt x="0" y="0"/>
                </a:moveTo>
                <a:lnTo>
                  <a:pt x="1929828" y="0"/>
                </a:lnTo>
                <a:lnTo>
                  <a:pt x="1929828" y="1929828"/>
                </a:lnTo>
                <a:lnTo>
                  <a:pt x="0" y="19298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a:off x="6535127" y="3759442"/>
            <a:ext cx="5217746" cy="5615969"/>
          </a:xfrm>
          <a:custGeom>
            <a:avLst/>
            <a:gdLst/>
            <a:ahLst/>
            <a:cxnLst/>
            <a:rect l="l" t="t" r="r" b="b"/>
            <a:pathLst>
              <a:path w="5217746" h="5615969">
                <a:moveTo>
                  <a:pt x="5217746" y="0"/>
                </a:moveTo>
                <a:lnTo>
                  <a:pt x="0" y="0"/>
                </a:lnTo>
                <a:lnTo>
                  <a:pt x="0" y="5615969"/>
                </a:lnTo>
                <a:lnTo>
                  <a:pt x="5217746" y="5615969"/>
                </a:lnTo>
                <a:lnTo>
                  <a:pt x="5217746"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088782" y="2767532"/>
            <a:ext cx="5217746" cy="5615969"/>
          </a:xfrm>
          <a:custGeom>
            <a:avLst/>
            <a:gdLst/>
            <a:ahLst/>
            <a:cxnLst/>
            <a:rect l="l" t="t" r="r" b="b"/>
            <a:pathLst>
              <a:path w="5217746" h="5615969">
                <a:moveTo>
                  <a:pt x="0" y="0"/>
                </a:moveTo>
                <a:lnTo>
                  <a:pt x="5217745" y="0"/>
                </a:lnTo>
                <a:lnTo>
                  <a:pt x="5217745" y="5615969"/>
                </a:lnTo>
                <a:lnTo>
                  <a:pt x="0" y="561596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1981473" y="3428358"/>
            <a:ext cx="5403797" cy="5816220"/>
          </a:xfrm>
          <a:custGeom>
            <a:avLst/>
            <a:gdLst/>
            <a:ahLst/>
            <a:cxnLst/>
            <a:rect l="l" t="t" r="r" b="b"/>
            <a:pathLst>
              <a:path w="5403797" h="5816220">
                <a:moveTo>
                  <a:pt x="0" y="0"/>
                </a:moveTo>
                <a:lnTo>
                  <a:pt x="5403797" y="0"/>
                </a:lnTo>
                <a:lnTo>
                  <a:pt x="5403797" y="5816220"/>
                </a:lnTo>
                <a:lnTo>
                  <a:pt x="0" y="581622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654163">
            <a:off x="4631385" y="8173699"/>
            <a:ext cx="1845268" cy="2382388"/>
          </a:xfrm>
          <a:custGeom>
            <a:avLst/>
            <a:gdLst/>
            <a:ahLst/>
            <a:cxnLst/>
            <a:rect l="l" t="t" r="r" b="b"/>
            <a:pathLst>
              <a:path w="1845268" h="2382388">
                <a:moveTo>
                  <a:pt x="0" y="0"/>
                </a:moveTo>
                <a:lnTo>
                  <a:pt x="1845268" y="0"/>
                </a:lnTo>
                <a:lnTo>
                  <a:pt x="1845268" y="2382388"/>
                </a:lnTo>
                <a:lnTo>
                  <a:pt x="0" y="238238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rot="7427148">
            <a:off x="16077109" y="9121782"/>
            <a:ext cx="2364382" cy="1100513"/>
          </a:xfrm>
          <a:custGeom>
            <a:avLst/>
            <a:gdLst/>
            <a:ahLst/>
            <a:cxnLst/>
            <a:rect l="l" t="t" r="r" b="b"/>
            <a:pathLst>
              <a:path w="2364382" h="1100513">
                <a:moveTo>
                  <a:pt x="0" y="0"/>
                </a:moveTo>
                <a:lnTo>
                  <a:pt x="2364382" y="0"/>
                </a:lnTo>
                <a:lnTo>
                  <a:pt x="2364382" y="1100512"/>
                </a:lnTo>
                <a:lnTo>
                  <a:pt x="0" y="110051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Freeform 9"/>
          <p:cNvSpPr/>
          <p:nvPr/>
        </p:nvSpPr>
        <p:spPr>
          <a:xfrm rot="-1774760">
            <a:off x="73929" y="-334397"/>
            <a:ext cx="1909542" cy="1909542"/>
          </a:xfrm>
          <a:custGeom>
            <a:avLst/>
            <a:gdLst/>
            <a:ahLst/>
            <a:cxnLst/>
            <a:rect l="l" t="t" r="r" b="b"/>
            <a:pathLst>
              <a:path w="1909542" h="1909542">
                <a:moveTo>
                  <a:pt x="0" y="0"/>
                </a:moveTo>
                <a:lnTo>
                  <a:pt x="1909542" y="0"/>
                </a:lnTo>
                <a:lnTo>
                  <a:pt x="1909542" y="1909542"/>
                </a:lnTo>
                <a:lnTo>
                  <a:pt x="0" y="1909542"/>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grpSp>
        <p:nvGrpSpPr>
          <p:cNvPr id="10" name="Group 10"/>
          <p:cNvGrpSpPr/>
          <p:nvPr/>
        </p:nvGrpSpPr>
        <p:grpSpPr>
          <a:xfrm rot="0">
            <a:off x="12280225" y="5129213"/>
            <a:ext cx="4806292" cy="3712439"/>
            <a:chOff x="0" y="-19050"/>
            <a:chExt cx="6408389" cy="4949919"/>
          </a:xfrm>
        </p:grpSpPr>
        <p:sp>
          <p:nvSpPr>
            <p:cNvPr id="11" name="TextBox 11"/>
            <p:cNvSpPr txBox="1"/>
            <p:nvPr/>
          </p:nvSpPr>
          <p:spPr>
            <a:xfrm>
              <a:off x="0" y="-19050"/>
              <a:ext cx="6408389" cy="555413"/>
            </a:xfrm>
            <a:prstGeom prst="rect">
              <a:avLst/>
            </a:prstGeom>
          </p:spPr>
          <p:txBody>
            <a:bodyPr lIns="0" tIns="0" rIns="0" bIns="0" rtlCol="0" anchor="t">
              <a:spAutoFit/>
            </a:bodyPr>
            <a:lstStyle/>
            <a:p>
              <a:pPr algn="ctr">
                <a:lnSpc>
                  <a:spcPts val="3250"/>
                </a:lnSpc>
              </a:pPr>
              <a:r>
                <a:rPr lang="en-US" sz="2800" b="1">
                  <a:solidFill>
                    <a:srgbClr val="000000"/>
                  </a:solidFill>
                  <a:latin typeface="Calibri" panose="020F0502020204030204" charset="0"/>
                  <a:ea typeface="Faustina Bold" panose="00000800000000000000"/>
                  <a:cs typeface="Calibri" panose="020F0502020204030204" charset="0"/>
                  <a:sym typeface="Faustina Bold" panose="00000800000000000000"/>
                </a:rPr>
                <a:t>Phương pháp nghiên cứu</a:t>
              </a:r>
              <a:endParaRPr lang="en-US" sz="28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p:txBody>
        </p:sp>
        <p:sp>
          <p:nvSpPr>
            <p:cNvPr id="12" name="TextBox 12"/>
            <p:cNvSpPr txBox="1"/>
            <p:nvPr/>
          </p:nvSpPr>
          <p:spPr>
            <a:xfrm>
              <a:off x="0" y="1237709"/>
              <a:ext cx="6408389" cy="3693160"/>
            </a:xfrm>
            <a:prstGeom prst="rect">
              <a:avLst/>
            </a:prstGeom>
          </p:spPr>
          <p:txBody>
            <a:bodyPr lIns="0" tIns="0" rIns="0" bIns="0" rtlCol="0" anchor="t">
              <a:spAutoFit/>
            </a:bodyPr>
            <a:lstStyle/>
            <a:p>
              <a:pPr marL="0" lvl="0" indent="0" algn="just">
                <a:lnSpc>
                  <a:spcPts val="3600"/>
                </a:lnSpc>
              </a:pPr>
              <a:r>
                <a:rPr lang="en-US" sz="2400">
                  <a:solidFill>
                    <a:srgbClr val="000000"/>
                  </a:solidFill>
                  <a:latin typeface="Calibri" panose="020F0502020204030204" charset="0"/>
                  <a:ea typeface="Asap" panose="020F0504030202060203"/>
                  <a:cs typeface="Calibri" panose="020F0502020204030204" charset="0"/>
                  <a:sym typeface="Asap" panose="020F0504030202060203"/>
                </a:rPr>
                <a:t>Ng</a:t>
              </a:r>
              <a:r>
                <a:rPr lang="en-US" sz="2400">
                  <a:solidFill>
                    <a:srgbClr val="000000"/>
                  </a:solidFill>
                  <a:latin typeface="Calibri" panose="020F0502020204030204" charset="0"/>
                  <a:ea typeface="Asap" panose="020F0504030202060203"/>
                  <a:cs typeface="Calibri" panose="020F0502020204030204" charset="0"/>
                  <a:sym typeface="Asap" panose="020F0504030202060203"/>
                </a:rPr>
                <a:t>hiên cứu tài liệu về website và thương mại điện tử.</a:t>
              </a:r>
              <a:endParaRPr lang="en-US" sz="2400">
                <a:solidFill>
                  <a:srgbClr val="000000"/>
                </a:solidFill>
                <a:latin typeface="Calibri" panose="020F0502020204030204" charset="0"/>
                <a:ea typeface="Asap" panose="020F0504030202060203"/>
                <a:cs typeface="Calibri" panose="020F0502020204030204" charset="0"/>
                <a:sym typeface="Asap" panose="020F0504030202060203"/>
              </a:endParaRPr>
            </a:p>
            <a:p>
              <a:pPr marL="0" lvl="0" indent="0" algn="just">
                <a:lnSpc>
                  <a:spcPts val="3600"/>
                </a:lnSpc>
              </a:pPr>
              <a:r>
                <a:rPr lang="en-US" sz="2400">
                  <a:solidFill>
                    <a:srgbClr val="000000"/>
                  </a:solidFill>
                  <a:latin typeface="Calibri" panose="020F0502020204030204" charset="0"/>
                  <a:ea typeface="Asap" panose="020F0504030202060203"/>
                  <a:cs typeface="Calibri" panose="020F0502020204030204" charset="0"/>
                  <a:sym typeface="Asap" panose="020F0504030202060203"/>
                </a:rPr>
                <a:t>Khảo sát các website bán nước hoa.</a:t>
              </a:r>
              <a:endParaRPr lang="en-US" sz="2400">
                <a:solidFill>
                  <a:srgbClr val="000000"/>
                </a:solidFill>
                <a:latin typeface="Calibri" panose="020F0502020204030204" charset="0"/>
                <a:ea typeface="Asap" panose="020F0504030202060203"/>
                <a:cs typeface="Calibri" panose="020F0502020204030204" charset="0"/>
                <a:sym typeface="Asap" panose="020F0504030202060203"/>
              </a:endParaRPr>
            </a:p>
            <a:p>
              <a:pPr marL="0" lvl="0" indent="0" algn="just">
                <a:lnSpc>
                  <a:spcPts val="3600"/>
                </a:lnSpc>
              </a:pPr>
              <a:r>
                <a:rPr lang="en-US" sz="2400">
                  <a:solidFill>
                    <a:srgbClr val="000000"/>
                  </a:solidFill>
                  <a:latin typeface="Calibri" panose="020F0502020204030204" charset="0"/>
                  <a:ea typeface="Asap" panose="020F0504030202060203"/>
                  <a:cs typeface="Calibri" panose="020F0502020204030204" charset="0"/>
                  <a:sym typeface="Asap" panose="020F0504030202060203"/>
                </a:rPr>
                <a:t>Thiết kế và xây dựng hệ thống thực nghiệm.</a:t>
              </a:r>
              <a:endParaRPr lang="en-US" sz="2400">
                <a:solidFill>
                  <a:srgbClr val="000000"/>
                </a:solidFill>
                <a:latin typeface="Calibri" panose="020F0502020204030204" charset="0"/>
                <a:ea typeface="Asap" panose="020F0504030202060203"/>
                <a:cs typeface="Calibri" panose="020F0502020204030204" charset="0"/>
                <a:sym typeface="Asap" panose="020F0504030202060203"/>
              </a:endParaRPr>
            </a:p>
            <a:p>
              <a:pPr marL="0" lvl="0" indent="0" algn="just">
                <a:lnSpc>
                  <a:spcPts val="3600"/>
                </a:lnSpc>
              </a:pPr>
              <a:r>
                <a:rPr lang="en-US" sz="2400">
                  <a:solidFill>
                    <a:srgbClr val="000000"/>
                  </a:solidFill>
                  <a:latin typeface="Calibri" panose="020F0502020204030204" charset="0"/>
                  <a:ea typeface="Asap" panose="020F0504030202060203"/>
                  <a:cs typeface="Calibri" panose="020F0502020204030204" charset="0"/>
                  <a:sym typeface="Asap" panose="020F0504030202060203"/>
                </a:rPr>
                <a:t>Kiểm thử và hoàn thiện website.</a:t>
              </a:r>
              <a:endParaRPr lang="en-US" sz="2400">
                <a:solidFill>
                  <a:srgbClr val="000000"/>
                </a:solidFill>
                <a:latin typeface="Calibri" panose="020F0502020204030204" charset="0"/>
                <a:ea typeface="Asap" panose="020F0504030202060203"/>
                <a:cs typeface="Calibri" panose="020F0502020204030204" charset="0"/>
                <a:sym typeface="Asap" panose="020F0504030202060203"/>
              </a:endParaRPr>
            </a:p>
          </p:txBody>
        </p:sp>
      </p:grpSp>
      <p:sp>
        <p:nvSpPr>
          <p:cNvPr id="13" name="TextBox 13"/>
          <p:cNvSpPr txBox="1"/>
          <p:nvPr/>
        </p:nvSpPr>
        <p:spPr>
          <a:xfrm>
            <a:off x="8663210" y="678987"/>
            <a:ext cx="8596090" cy="984885"/>
          </a:xfrm>
          <a:prstGeom prst="rect">
            <a:avLst/>
          </a:prstGeom>
        </p:spPr>
        <p:txBody>
          <a:bodyPr lIns="0" tIns="0" rIns="0" bIns="0" rtlCol="0" anchor="t">
            <a:spAutoFit/>
          </a:bodyPr>
          <a:lstStyle/>
          <a:p>
            <a:pPr algn="r">
              <a:lnSpc>
                <a:spcPts val="7680"/>
              </a:lnSpc>
            </a:pPr>
            <a:r>
              <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rPr>
              <a:t>2.</a:t>
            </a:r>
            <a:r>
              <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rPr>
              <a:t> Nội dung nghiên cứu</a:t>
            </a:r>
            <a:endPar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p:txBody>
      </p:sp>
      <p:sp>
        <p:nvSpPr>
          <p:cNvPr id="14" name="Freeform 14"/>
          <p:cNvSpPr/>
          <p:nvPr/>
        </p:nvSpPr>
        <p:spPr>
          <a:xfrm>
            <a:off x="1088782" y="620374"/>
            <a:ext cx="5217746" cy="5615969"/>
          </a:xfrm>
          <a:custGeom>
            <a:avLst/>
            <a:gdLst/>
            <a:ahLst/>
            <a:cxnLst/>
            <a:rect l="l" t="t" r="r" b="b"/>
            <a:pathLst>
              <a:path w="5217746" h="5615969">
                <a:moveTo>
                  <a:pt x="0" y="0"/>
                </a:moveTo>
                <a:lnTo>
                  <a:pt x="5217745" y="0"/>
                </a:lnTo>
                <a:lnTo>
                  <a:pt x="5217745" y="5615969"/>
                </a:lnTo>
                <a:lnTo>
                  <a:pt x="0" y="561596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15" name="Group 15"/>
          <p:cNvGrpSpPr/>
          <p:nvPr/>
        </p:nvGrpSpPr>
        <p:grpSpPr>
          <a:xfrm rot="0">
            <a:off x="1548920" y="2182444"/>
            <a:ext cx="4297470" cy="5984087"/>
            <a:chOff x="0" y="-19050"/>
            <a:chExt cx="5729960" cy="7978782"/>
          </a:xfrm>
        </p:grpSpPr>
        <p:sp>
          <p:nvSpPr>
            <p:cNvPr id="16" name="TextBox 16"/>
            <p:cNvSpPr txBox="1"/>
            <p:nvPr/>
          </p:nvSpPr>
          <p:spPr>
            <a:xfrm>
              <a:off x="0" y="1188939"/>
              <a:ext cx="5729960" cy="6770793"/>
            </a:xfrm>
            <a:prstGeom prst="rect">
              <a:avLst/>
            </a:prstGeom>
          </p:spPr>
          <p:txBody>
            <a:bodyPr lIns="0" tIns="0" rIns="0" bIns="0" rtlCol="0" anchor="t">
              <a:spAutoFit/>
            </a:bodyPr>
            <a:lstStyle/>
            <a:p>
              <a:pPr marL="0" lvl="0" indent="0" algn="just">
                <a:lnSpc>
                  <a:spcPts val="3600"/>
                </a:lnSpc>
              </a:pPr>
              <a:r>
                <a:rPr lang="en-US" sz="2400">
                  <a:solidFill>
                    <a:srgbClr val="000000"/>
                  </a:solidFill>
                  <a:latin typeface="Calibri" panose="020F0502020204030204" charset="0"/>
                  <a:ea typeface="Asap" panose="020F0504030202060203"/>
                  <a:cs typeface="Calibri" panose="020F0502020204030204" charset="0"/>
                  <a:sym typeface="Asap" panose="020F0504030202060203"/>
                </a:rPr>
                <a:t>Xây dựng một website bán nước hoa trực tuyến với đầy đủ các chức năng cơ bản như đăng ký, đăng nhập, hiển thị và tìm kiếm sản p</a:t>
              </a:r>
              <a:r>
                <a:rPr lang="en-US" sz="2400">
                  <a:solidFill>
                    <a:srgbClr val="000000"/>
                  </a:solidFill>
                  <a:latin typeface="Calibri" panose="020F0502020204030204" charset="0"/>
                  <a:ea typeface="Asap" panose="020F0504030202060203"/>
                  <a:cs typeface="Calibri" panose="020F0502020204030204" charset="0"/>
                  <a:sym typeface="Asap" panose="020F0504030202060203"/>
                </a:rPr>
                <a:t>hẩm, đặt hàng trực tuyến. Ngoài ra, hệ thống còn tích hợp chatbot AI nhằm hỗ trợ tư vấn sản phẩm, đồng thời cung cấp trang quản trị giúp quản lý sản phẩm, đơn hàng và người dùng một cách hiệu quả.</a:t>
              </a:r>
              <a:endParaRPr lang="en-US" sz="2400">
                <a:solidFill>
                  <a:srgbClr val="000000"/>
                </a:solidFill>
                <a:latin typeface="Calibri" panose="020F0502020204030204" charset="0"/>
                <a:ea typeface="Asap" panose="020F0504030202060203"/>
                <a:cs typeface="Calibri" panose="020F0502020204030204" charset="0"/>
                <a:sym typeface="Asap" panose="020F0504030202060203"/>
              </a:endParaRPr>
            </a:p>
          </p:txBody>
        </p:sp>
        <p:sp>
          <p:nvSpPr>
            <p:cNvPr id="17" name="TextBox 17"/>
            <p:cNvSpPr txBox="1"/>
            <p:nvPr/>
          </p:nvSpPr>
          <p:spPr>
            <a:xfrm>
              <a:off x="619435" y="-19050"/>
              <a:ext cx="5110524" cy="555413"/>
            </a:xfrm>
            <a:prstGeom prst="rect">
              <a:avLst/>
            </a:prstGeom>
          </p:spPr>
          <p:txBody>
            <a:bodyPr lIns="0" tIns="0" rIns="0" bIns="0" rtlCol="0" anchor="t">
              <a:spAutoFit/>
            </a:bodyPr>
            <a:lstStyle/>
            <a:p>
              <a:pPr algn="ctr">
                <a:lnSpc>
                  <a:spcPts val="3250"/>
                </a:lnSpc>
              </a:pPr>
              <a:r>
                <a:rPr lang="en-US" sz="2800" b="1">
                  <a:solidFill>
                    <a:srgbClr val="000000"/>
                  </a:solidFill>
                  <a:latin typeface="Calibri" panose="020F0502020204030204" charset="0"/>
                  <a:ea typeface="Faustina Bold" panose="00000800000000000000"/>
                  <a:cs typeface="Calibri" panose="020F0502020204030204" charset="0"/>
                  <a:sym typeface="Faustina Bold" panose="00000800000000000000"/>
                </a:rPr>
                <a:t>Mục tiêu</a:t>
              </a:r>
              <a:endParaRPr lang="en-US" sz="28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p:txBody>
        </p:sp>
      </p:grpSp>
      <p:sp>
        <p:nvSpPr>
          <p:cNvPr id="18" name="Freeform 18"/>
          <p:cNvSpPr/>
          <p:nvPr/>
        </p:nvSpPr>
        <p:spPr>
          <a:xfrm flipH="1">
            <a:off x="6535127" y="1650537"/>
            <a:ext cx="5217746" cy="5615969"/>
          </a:xfrm>
          <a:custGeom>
            <a:avLst/>
            <a:gdLst/>
            <a:ahLst/>
            <a:cxnLst/>
            <a:rect l="l" t="t" r="r" b="b"/>
            <a:pathLst>
              <a:path w="5217746" h="5615969">
                <a:moveTo>
                  <a:pt x="5217746" y="0"/>
                </a:moveTo>
                <a:lnTo>
                  <a:pt x="0" y="0"/>
                </a:lnTo>
                <a:lnTo>
                  <a:pt x="0" y="5615969"/>
                </a:lnTo>
                <a:lnTo>
                  <a:pt x="5217746" y="5615969"/>
                </a:lnTo>
                <a:lnTo>
                  <a:pt x="5217746"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9" name="Group 19"/>
          <p:cNvGrpSpPr/>
          <p:nvPr/>
        </p:nvGrpSpPr>
        <p:grpSpPr>
          <a:xfrm rot="0">
            <a:off x="7039511" y="3071221"/>
            <a:ext cx="4208979" cy="5506949"/>
            <a:chOff x="0" y="-19050"/>
            <a:chExt cx="5611972" cy="7342599"/>
          </a:xfrm>
        </p:grpSpPr>
        <p:sp>
          <p:nvSpPr>
            <p:cNvPr id="20" name="TextBox 20"/>
            <p:cNvSpPr txBox="1"/>
            <p:nvPr/>
          </p:nvSpPr>
          <p:spPr>
            <a:xfrm>
              <a:off x="0" y="-19050"/>
              <a:ext cx="5110524" cy="1110827"/>
            </a:xfrm>
            <a:prstGeom prst="rect">
              <a:avLst/>
            </a:prstGeom>
          </p:spPr>
          <p:txBody>
            <a:bodyPr lIns="0" tIns="0" rIns="0" bIns="0" rtlCol="0" anchor="t">
              <a:spAutoFit/>
            </a:bodyPr>
            <a:lstStyle/>
            <a:p>
              <a:pPr algn="ctr">
                <a:lnSpc>
                  <a:spcPts val="3250"/>
                </a:lnSpc>
              </a:pPr>
              <a:r>
                <a:rPr lang="en-US" sz="2800" b="1">
                  <a:solidFill>
                    <a:srgbClr val="000000"/>
                  </a:solidFill>
                  <a:latin typeface="Calibri" panose="020F0502020204030204" charset="0"/>
                  <a:ea typeface="Faustina Bold" panose="00000800000000000000"/>
                  <a:cs typeface="Calibri" panose="020F0502020204030204" charset="0"/>
                  <a:sym typeface="Faustina Bold" panose="00000800000000000000"/>
                </a:rPr>
                <a:t>Đối tượng và phạm vi nghiên cứu</a:t>
              </a:r>
              <a:endParaRPr lang="en-US" sz="28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p:txBody>
        </p:sp>
        <p:sp>
          <p:nvSpPr>
            <p:cNvPr id="21" name="TextBox 21"/>
            <p:cNvSpPr txBox="1"/>
            <p:nvPr/>
          </p:nvSpPr>
          <p:spPr>
            <a:xfrm>
              <a:off x="0" y="1783809"/>
              <a:ext cx="5611972" cy="5539740"/>
            </a:xfrm>
            <a:prstGeom prst="rect">
              <a:avLst/>
            </a:prstGeom>
          </p:spPr>
          <p:txBody>
            <a:bodyPr lIns="0" tIns="0" rIns="0" bIns="0" rtlCol="0" anchor="t">
              <a:spAutoFit/>
            </a:bodyPr>
            <a:lstStyle/>
            <a:p>
              <a:pPr marL="0" lvl="0" indent="0" algn="just">
                <a:lnSpc>
                  <a:spcPts val="3600"/>
                </a:lnSpc>
              </a:pPr>
              <a:r>
                <a:rPr lang="en-US" sz="2500">
                  <a:solidFill>
                    <a:srgbClr val="000000"/>
                  </a:solidFill>
                  <a:latin typeface="Calibri" panose="020F0502020204030204" charset="0"/>
                  <a:ea typeface="Asap" panose="020F0504030202060203"/>
                  <a:cs typeface="Calibri" panose="020F0502020204030204" charset="0"/>
                  <a:sym typeface="Asap" panose="020F0504030202060203"/>
                </a:rPr>
                <a:t>Đối tượng nghiên cứu: hệ thống website bán nước hoa  Orianna cùng các nhóm người dùng bao gồm khách hàng và quản trị viên. </a:t>
              </a:r>
              <a:endParaRPr lang="en-US" sz="2500">
                <a:solidFill>
                  <a:srgbClr val="000000"/>
                </a:solidFill>
                <a:latin typeface="Calibri" panose="020F0502020204030204" charset="0"/>
                <a:ea typeface="Asap" panose="020F0504030202060203"/>
                <a:cs typeface="Calibri" panose="020F0502020204030204" charset="0"/>
                <a:sym typeface="Asap" panose="020F0504030202060203"/>
              </a:endParaRPr>
            </a:p>
            <a:p>
              <a:pPr marL="0" lvl="0" indent="0" algn="just">
                <a:lnSpc>
                  <a:spcPts val="3600"/>
                </a:lnSpc>
              </a:pPr>
              <a:r>
                <a:rPr lang="en-US" sz="2500">
                  <a:solidFill>
                    <a:srgbClr val="000000"/>
                  </a:solidFill>
                  <a:latin typeface="Calibri" panose="020F0502020204030204" charset="0"/>
                  <a:ea typeface="Asap" panose="020F0504030202060203"/>
                  <a:cs typeface="Calibri" panose="020F0502020204030204" charset="0"/>
                  <a:sym typeface="Asap" panose="020F0504030202060203"/>
                </a:rPr>
                <a:t>Phạm vi nghiên cứu tập trung xây dựng website minh họa phục vụ học tập, có các chức năng cơ bản của thương mại điện tử.</a:t>
              </a:r>
              <a:endParaRPr lang="en-US" sz="2500">
                <a:solidFill>
                  <a:srgbClr val="000000"/>
                </a:solidFill>
                <a:latin typeface="Calibri" panose="020F0502020204030204" charset="0"/>
                <a:ea typeface="Asap" panose="020F0504030202060203"/>
                <a:cs typeface="Calibri" panose="020F0502020204030204" charset="0"/>
                <a:sym typeface="Asap" panose="020F0504030202060203"/>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38888" b="-38888"/>
            </a:stretch>
          </a:blipFill>
        </p:spPr>
      </p:sp>
      <p:sp>
        <p:nvSpPr>
          <p:cNvPr id="3" name="Freeform 3"/>
          <p:cNvSpPr/>
          <p:nvPr/>
        </p:nvSpPr>
        <p:spPr>
          <a:xfrm rot="79598">
            <a:off x="385394" y="352348"/>
            <a:ext cx="17517211" cy="9849438"/>
          </a:xfrm>
          <a:custGeom>
            <a:avLst/>
            <a:gdLst/>
            <a:ahLst/>
            <a:cxnLst/>
            <a:rect l="l" t="t" r="r" b="b"/>
            <a:pathLst>
              <a:path w="17517211" h="9849438">
                <a:moveTo>
                  <a:pt x="0" y="0"/>
                </a:moveTo>
                <a:lnTo>
                  <a:pt x="17517212" y="0"/>
                </a:lnTo>
                <a:lnTo>
                  <a:pt x="17517212" y="9849438"/>
                </a:lnTo>
                <a:lnTo>
                  <a:pt x="0" y="98494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734853">
            <a:off x="149414" y="4386967"/>
            <a:ext cx="958363" cy="3273911"/>
          </a:xfrm>
          <a:custGeom>
            <a:avLst/>
            <a:gdLst/>
            <a:ahLst/>
            <a:cxnLst/>
            <a:rect l="l" t="t" r="r" b="b"/>
            <a:pathLst>
              <a:path w="958363" h="3273911">
                <a:moveTo>
                  <a:pt x="0" y="0"/>
                </a:moveTo>
                <a:lnTo>
                  <a:pt x="958363" y="0"/>
                </a:lnTo>
                <a:lnTo>
                  <a:pt x="958363" y="3273911"/>
                </a:lnTo>
                <a:lnTo>
                  <a:pt x="0" y="327391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6401496">
            <a:off x="1743426" y="8829231"/>
            <a:ext cx="753714" cy="2216805"/>
          </a:xfrm>
          <a:custGeom>
            <a:avLst/>
            <a:gdLst/>
            <a:ahLst/>
            <a:cxnLst/>
            <a:rect l="l" t="t" r="r" b="b"/>
            <a:pathLst>
              <a:path w="753714" h="2216805">
                <a:moveTo>
                  <a:pt x="0" y="0"/>
                </a:moveTo>
                <a:lnTo>
                  <a:pt x="753714" y="0"/>
                </a:lnTo>
                <a:lnTo>
                  <a:pt x="753714" y="2216805"/>
                </a:lnTo>
                <a:lnTo>
                  <a:pt x="0" y="221680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10179457">
            <a:off x="16326510" y="-59382"/>
            <a:ext cx="1230026" cy="1180825"/>
          </a:xfrm>
          <a:custGeom>
            <a:avLst/>
            <a:gdLst/>
            <a:ahLst/>
            <a:cxnLst/>
            <a:rect l="l" t="t" r="r" b="b"/>
            <a:pathLst>
              <a:path w="1230026" h="1180825">
                <a:moveTo>
                  <a:pt x="0" y="0"/>
                </a:moveTo>
                <a:lnTo>
                  <a:pt x="1230026" y="0"/>
                </a:lnTo>
                <a:lnTo>
                  <a:pt x="1230026" y="1180825"/>
                </a:lnTo>
                <a:lnTo>
                  <a:pt x="0" y="118082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1032859">
            <a:off x="16367594" y="6539421"/>
            <a:ext cx="2369925" cy="1430573"/>
          </a:xfrm>
          <a:custGeom>
            <a:avLst/>
            <a:gdLst/>
            <a:ahLst/>
            <a:cxnLst/>
            <a:rect l="l" t="t" r="r" b="b"/>
            <a:pathLst>
              <a:path w="2369925" h="1430573">
                <a:moveTo>
                  <a:pt x="0" y="0"/>
                </a:moveTo>
                <a:lnTo>
                  <a:pt x="2369926" y="0"/>
                </a:lnTo>
                <a:lnTo>
                  <a:pt x="2369926" y="1430574"/>
                </a:lnTo>
                <a:lnTo>
                  <a:pt x="0" y="143057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rot="583428">
            <a:off x="15399616" y="8969479"/>
            <a:ext cx="1718658" cy="1387426"/>
          </a:xfrm>
          <a:custGeom>
            <a:avLst/>
            <a:gdLst/>
            <a:ahLst/>
            <a:cxnLst/>
            <a:rect l="l" t="t" r="r" b="b"/>
            <a:pathLst>
              <a:path w="1718658" h="1387426">
                <a:moveTo>
                  <a:pt x="0" y="0"/>
                </a:moveTo>
                <a:lnTo>
                  <a:pt x="1718658" y="0"/>
                </a:lnTo>
                <a:lnTo>
                  <a:pt x="1718658" y="1387426"/>
                </a:lnTo>
                <a:lnTo>
                  <a:pt x="0" y="138742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Freeform 9"/>
          <p:cNvSpPr/>
          <p:nvPr/>
        </p:nvSpPr>
        <p:spPr>
          <a:xfrm rot="10179457">
            <a:off x="17565451" y="1154760"/>
            <a:ext cx="897650" cy="861744"/>
          </a:xfrm>
          <a:custGeom>
            <a:avLst/>
            <a:gdLst/>
            <a:ahLst/>
            <a:cxnLst/>
            <a:rect l="l" t="t" r="r" b="b"/>
            <a:pathLst>
              <a:path w="897650" h="861744">
                <a:moveTo>
                  <a:pt x="0" y="0"/>
                </a:moveTo>
                <a:lnTo>
                  <a:pt x="897650" y="0"/>
                </a:lnTo>
                <a:lnTo>
                  <a:pt x="897650" y="861744"/>
                </a:lnTo>
                <a:lnTo>
                  <a:pt x="0" y="86174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16258945" y="6121686"/>
            <a:ext cx="682578" cy="682578"/>
          </a:xfrm>
          <a:custGeom>
            <a:avLst/>
            <a:gdLst/>
            <a:ahLst/>
            <a:cxnLst/>
            <a:rect l="l" t="t" r="r" b="b"/>
            <a:pathLst>
              <a:path w="682578" h="682578">
                <a:moveTo>
                  <a:pt x="0" y="0"/>
                </a:moveTo>
                <a:lnTo>
                  <a:pt x="682578" y="0"/>
                </a:lnTo>
                <a:lnTo>
                  <a:pt x="682578" y="682577"/>
                </a:lnTo>
                <a:lnTo>
                  <a:pt x="0" y="682577"/>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1" name="Freeform 11"/>
          <p:cNvSpPr/>
          <p:nvPr/>
        </p:nvSpPr>
        <p:spPr>
          <a:xfrm>
            <a:off x="950343" y="3435981"/>
            <a:ext cx="626981" cy="626981"/>
          </a:xfrm>
          <a:custGeom>
            <a:avLst/>
            <a:gdLst/>
            <a:ahLst/>
            <a:cxnLst/>
            <a:rect l="l" t="t" r="r" b="b"/>
            <a:pathLst>
              <a:path w="626981" h="626981">
                <a:moveTo>
                  <a:pt x="0" y="0"/>
                </a:moveTo>
                <a:lnTo>
                  <a:pt x="626981" y="0"/>
                </a:lnTo>
                <a:lnTo>
                  <a:pt x="626981" y="626981"/>
                </a:lnTo>
                <a:lnTo>
                  <a:pt x="0" y="62698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2" name="Freeform 12"/>
          <p:cNvSpPr/>
          <p:nvPr/>
        </p:nvSpPr>
        <p:spPr>
          <a:xfrm rot="-3137117">
            <a:off x="1390387" y="8623351"/>
            <a:ext cx="421910" cy="421910"/>
          </a:xfrm>
          <a:custGeom>
            <a:avLst/>
            <a:gdLst/>
            <a:ahLst/>
            <a:cxnLst/>
            <a:rect l="l" t="t" r="r" b="b"/>
            <a:pathLst>
              <a:path w="421910" h="421910">
                <a:moveTo>
                  <a:pt x="0" y="0"/>
                </a:moveTo>
                <a:lnTo>
                  <a:pt x="421910" y="0"/>
                </a:lnTo>
                <a:lnTo>
                  <a:pt x="421910" y="421910"/>
                </a:lnTo>
                <a:lnTo>
                  <a:pt x="0" y="42191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3" name="TextBox 13"/>
          <p:cNvSpPr txBox="1"/>
          <p:nvPr/>
        </p:nvSpPr>
        <p:spPr>
          <a:xfrm>
            <a:off x="2120283" y="1081183"/>
            <a:ext cx="10196969" cy="984885"/>
          </a:xfrm>
          <a:prstGeom prst="rect">
            <a:avLst/>
          </a:prstGeom>
        </p:spPr>
        <p:txBody>
          <a:bodyPr lIns="0" tIns="0" rIns="0" bIns="0" rtlCol="0" anchor="t">
            <a:spAutoFit/>
          </a:bodyPr>
          <a:lstStyle/>
          <a:p>
            <a:pPr algn="l">
              <a:lnSpc>
                <a:spcPts val="7680"/>
              </a:lnSpc>
            </a:pPr>
            <a:r>
              <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rPr>
              <a:t>2. Nộ</a:t>
            </a:r>
            <a:r>
              <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rPr>
              <a:t>i dung nghiên cứu</a:t>
            </a:r>
            <a:endPar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p:txBody>
      </p:sp>
      <p:sp>
        <p:nvSpPr>
          <p:cNvPr id="14" name="TextBox 14"/>
          <p:cNvSpPr txBox="1"/>
          <p:nvPr/>
        </p:nvSpPr>
        <p:spPr>
          <a:xfrm>
            <a:off x="2475438" y="3316269"/>
            <a:ext cx="13337124" cy="4001135"/>
          </a:xfrm>
          <a:prstGeom prst="rect">
            <a:avLst/>
          </a:prstGeom>
        </p:spPr>
        <p:txBody>
          <a:bodyPr lIns="0" tIns="0" rIns="0" bIns="0" rtlCol="0" anchor="t">
            <a:spAutoFit/>
          </a:bodyPr>
          <a:lstStyle/>
          <a:p>
            <a:pPr algn="just">
              <a:lnSpc>
                <a:spcPts val="4550"/>
              </a:lnSpc>
            </a:pPr>
            <a:r>
              <a:rPr lang="en-US" sz="3500">
                <a:solidFill>
                  <a:srgbClr val="000000"/>
                </a:solidFill>
                <a:latin typeface="Calibri" panose="020F0502020204030204" charset="0"/>
                <a:ea typeface="Asap" panose="020F0504030202060203"/>
                <a:cs typeface="Calibri" panose="020F0502020204030204" charset="0"/>
                <a:sym typeface="Asap" panose="020F0504030202060203"/>
              </a:rPr>
              <a:t>Công nghệ sử dụng:</a:t>
            </a:r>
            <a:endParaRPr lang="en-US" sz="3500">
              <a:solidFill>
                <a:srgbClr val="000000"/>
              </a:solidFill>
              <a:latin typeface="Calibri" panose="020F0502020204030204" charset="0"/>
              <a:ea typeface="Asap" panose="020F0504030202060203"/>
              <a:cs typeface="Calibri" panose="020F0502020204030204" charset="0"/>
              <a:sym typeface="Asap" panose="020F0504030202060203"/>
            </a:endParaRPr>
          </a:p>
          <a:p>
            <a:pPr algn="just">
              <a:lnSpc>
                <a:spcPts val="4550"/>
              </a:lnSpc>
            </a:pPr>
            <a:r>
              <a:rPr lang="en-US" sz="3500">
                <a:solidFill>
                  <a:srgbClr val="000000"/>
                </a:solidFill>
                <a:latin typeface="Calibri" panose="020F0502020204030204" charset="0"/>
                <a:ea typeface="Asap" panose="020F0504030202060203"/>
                <a:cs typeface="Calibri" panose="020F0502020204030204" charset="0"/>
                <a:sym typeface="Asap" panose="020F0504030202060203"/>
              </a:rPr>
              <a:t>Phần giao diện sử dụng HTML, CSS, JavaScript kết hợp Tailwind CSS nhằ</a:t>
            </a:r>
            <a:r>
              <a:rPr lang="en-US" sz="3500">
                <a:solidFill>
                  <a:srgbClr val="000000"/>
                </a:solidFill>
                <a:latin typeface="Calibri" panose="020F0502020204030204" charset="0"/>
                <a:ea typeface="Asap" panose="020F0504030202060203"/>
                <a:cs typeface="Calibri" panose="020F0502020204030204" charset="0"/>
                <a:sym typeface="Asap" panose="020F0504030202060203"/>
              </a:rPr>
              <a:t>m tạo giao diện hiện đại và thân thiện với người dùng.</a:t>
            </a:r>
            <a:endParaRPr lang="en-US" sz="3500">
              <a:solidFill>
                <a:srgbClr val="000000"/>
              </a:solidFill>
              <a:latin typeface="Calibri" panose="020F0502020204030204" charset="0"/>
              <a:ea typeface="Asap" panose="020F0504030202060203"/>
              <a:cs typeface="Calibri" panose="020F0502020204030204" charset="0"/>
              <a:sym typeface="Asap" panose="020F0504030202060203"/>
            </a:endParaRPr>
          </a:p>
          <a:p>
            <a:pPr algn="just">
              <a:lnSpc>
                <a:spcPts val="4550"/>
              </a:lnSpc>
            </a:pPr>
            <a:r>
              <a:rPr lang="en-US" sz="3500">
                <a:solidFill>
                  <a:srgbClr val="000000"/>
                </a:solidFill>
                <a:latin typeface="Calibri" panose="020F0502020204030204" charset="0"/>
                <a:ea typeface="Asap" panose="020F0504030202060203"/>
                <a:cs typeface="Calibri" panose="020F0502020204030204" charset="0"/>
                <a:sym typeface="Asap" panose="020F0504030202060203"/>
              </a:rPr>
              <a:t>Phần backend được phát triển bằng Node.js và Express.js, kết nối với cơ sở dữ liệu MySQL để lưu trữ và quản lý dữ liệu, đồng thời áp dụng kiến trúc RESTful API để tách biệt frontend và backend.</a:t>
            </a:r>
            <a:endParaRPr lang="en-US" sz="3500">
              <a:solidFill>
                <a:srgbClr val="000000"/>
              </a:solidFill>
              <a:latin typeface="Calibri" panose="020F0502020204030204" charset="0"/>
              <a:ea typeface="Asap" panose="020F0504030202060203"/>
              <a:cs typeface="Calibri" panose="020F0502020204030204" charset="0"/>
              <a:sym typeface="Asap" panose="020F0504030202060203"/>
            </a:endParaRPr>
          </a:p>
          <a:p>
            <a:pPr algn="l">
              <a:lnSpc>
                <a:spcPts val="3900"/>
              </a:lnSpc>
            </a:pPr>
            <a:endParaRPr>
              <a:latin typeface="Calibri" panose="020F0502020204030204" charset="0"/>
              <a:cs typeface="Calibri" panose="020F050202020403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38888" b="-38888"/>
            </a:stretch>
          </a:blipFill>
        </p:spPr>
      </p:sp>
      <p:sp>
        <p:nvSpPr>
          <p:cNvPr id="3" name="Freeform 3"/>
          <p:cNvSpPr/>
          <p:nvPr/>
        </p:nvSpPr>
        <p:spPr>
          <a:xfrm>
            <a:off x="259593" y="708135"/>
            <a:ext cx="18076361" cy="10169131"/>
          </a:xfrm>
          <a:custGeom>
            <a:avLst/>
            <a:gdLst/>
            <a:ahLst/>
            <a:cxnLst/>
            <a:rect l="l" t="t" r="r" b="b"/>
            <a:pathLst>
              <a:path w="18076361" h="10169131">
                <a:moveTo>
                  <a:pt x="0" y="0"/>
                </a:moveTo>
                <a:lnTo>
                  <a:pt x="18076361" y="0"/>
                </a:lnTo>
                <a:lnTo>
                  <a:pt x="18076361" y="10169132"/>
                </a:lnTo>
                <a:lnTo>
                  <a:pt x="0" y="101691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6830832">
            <a:off x="-999639" y="6416707"/>
            <a:ext cx="1999279" cy="1188662"/>
          </a:xfrm>
          <a:custGeom>
            <a:avLst/>
            <a:gdLst/>
            <a:ahLst/>
            <a:cxnLst/>
            <a:rect l="l" t="t" r="r" b="b"/>
            <a:pathLst>
              <a:path w="1999279" h="1188662">
                <a:moveTo>
                  <a:pt x="0" y="0"/>
                </a:moveTo>
                <a:lnTo>
                  <a:pt x="1999278" y="0"/>
                </a:lnTo>
                <a:lnTo>
                  <a:pt x="1999278" y="1188662"/>
                </a:lnTo>
                <a:lnTo>
                  <a:pt x="0" y="11886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105605">
            <a:off x="649731" y="147218"/>
            <a:ext cx="1858460" cy="1121834"/>
          </a:xfrm>
          <a:custGeom>
            <a:avLst/>
            <a:gdLst/>
            <a:ahLst/>
            <a:cxnLst/>
            <a:rect l="l" t="t" r="r" b="b"/>
            <a:pathLst>
              <a:path w="1858460" h="1121834">
                <a:moveTo>
                  <a:pt x="0" y="0"/>
                </a:moveTo>
                <a:lnTo>
                  <a:pt x="1858460" y="0"/>
                </a:lnTo>
                <a:lnTo>
                  <a:pt x="1858460" y="1121834"/>
                </a:lnTo>
                <a:lnTo>
                  <a:pt x="0" y="112183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76455" y="1257516"/>
            <a:ext cx="691415" cy="691415"/>
          </a:xfrm>
          <a:custGeom>
            <a:avLst/>
            <a:gdLst/>
            <a:ahLst/>
            <a:cxnLst/>
            <a:rect l="l" t="t" r="r" b="b"/>
            <a:pathLst>
              <a:path w="691415" h="691415">
                <a:moveTo>
                  <a:pt x="0" y="0"/>
                </a:moveTo>
                <a:lnTo>
                  <a:pt x="691414" y="0"/>
                </a:lnTo>
                <a:lnTo>
                  <a:pt x="691414" y="691415"/>
                </a:lnTo>
                <a:lnTo>
                  <a:pt x="0" y="69141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a:off x="8092762" y="1191370"/>
            <a:ext cx="9679830" cy="8944814"/>
          </a:xfrm>
          <a:custGeom>
            <a:avLst/>
            <a:gdLst/>
            <a:ahLst/>
            <a:cxnLst/>
            <a:rect l="l" t="t" r="r" b="b"/>
            <a:pathLst>
              <a:path w="9679830" h="8944814">
                <a:moveTo>
                  <a:pt x="0" y="0"/>
                </a:moveTo>
                <a:lnTo>
                  <a:pt x="9679830" y="0"/>
                </a:lnTo>
                <a:lnTo>
                  <a:pt x="9679830" y="8944814"/>
                </a:lnTo>
                <a:lnTo>
                  <a:pt x="0" y="8944814"/>
                </a:lnTo>
                <a:lnTo>
                  <a:pt x="0" y="0"/>
                </a:lnTo>
                <a:close/>
              </a:path>
            </a:pathLst>
          </a:custGeom>
          <a:blipFill>
            <a:blip r:embed="rId10"/>
            <a:stretch>
              <a:fillRect l="-975" r="-1889"/>
            </a:stretch>
          </a:blipFill>
        </p:spPr>
      </p:sp>
      <p:sp>
        <p:nvSpPr>
          <p:cNvPr id="8" name="TextBox 8"/>
          <p:cNvSpPr txBox="1"/>
          <p:nvPr/>
        </p:nvSpPr>
        <p:spPr>
          <a:xfrm>
            <a:off x="152460" y="1257410"/>
            <a:ext cx="8080415" cy="1066800"/>
          </a:xfrm>
          <a:prstGeom prst="rect">
            <a:avLst/>
          </a:prstGeom>
        </p:spPr>
        <p:txBody>
          <a:bodyPr lIns="0" tIns="0" rIns="0" bIns="0" rtlCol="0" anchor="t">
            <a:spAutoFit/>
          </a:bodyPr>
          <a:lstStyle/>
          <a:p>
            <a:pPr algn="ctr">
              <a:lnSpc>
                <a:spcPts val="8320"/>
              </a:lnSpc>
              <a:spcBef>
                <a:spcPct val="0"/>
              </a:spcBef>
            </a:pPr>
            <a:r>
              <a:rPr lang="en-US" sz="5400" b="1">
                <a:solidFill>
                  <a:srgbClr val="000000"/>
                </a:solidFill>
                <a:latin typeface="Calibri" panose="020F0502020204030204" charset="0"/>
                <a:ea typeface="Faustina Bold" panose="00000800000000000000"/>
                <a:cs typeface="Calibri" panose="020F0502020204030204" charset="0"/>
                <a:sym typeface="Faustina Bold" panose="00000800000000000000"/>
              </a:rPr>
              <a:t>2. Nội dung nghiên cứu</a:t>
            </a:r>
            <a:endParaRPr lang="en-US" sz="54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p:txBody>
      </p:sp>
      <p:sp>
        <p:nvSpPr>
          <p:cNvPr id="9" name="Freeform 9"/>
          <p:cNvSpPr/>
          <p:nvPr/>
        </p:nvSpPr>
        <p:spPr>
          <a:xfrm>
            <a:off x="17636723" y="6827855"/>
            <a:ext cx="651277" cy="651277"/>
          </a:xfrm>
          <a:custGeom>
            <a:avLst/>
            <a:gdLst/>
            <a:ahLst/>
            <a:cxnLst/>
            <a:rect l="l" t="t" r="r" b="b"/>
            <a:pathLst>
              <a:path w="651277" h="651277">
                <a:moveTo>
                  <a:pt x="0" y="0"/>
                </a:moveTo>
                <a:lnTo>
                  <a:pt x="651277" y="0"/>
                </a:lnTo>
                <a:lnTo>
                  <a:pt x="651277" y="651276"/>
                </a:lnTo>
                <a:lnTo>
                  <a:pt x="0" y="65127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0" name="TextBox 10"/>
          <p:cNvSpPr txBox="1"/>
          <p:nvPr/>
        </p:nvSpPr>
        <p:spPr>
          <a:xfrm>
            <a:off x="1028700" y="2781099"/>
            <a:ext cx="6732221" cy="5501640"/>
          </a:xfrm>
          <a:prstGeom prst="rect">
            <a:avLst/>
          </a:prstGeom>
        </p:spPr>
        <p:txBody>
          <a:bodyPr lIns="0" tIns="0" rIns="0" bIns="0" rtlCol="0" anchor="t">
            <a:spAutoFit/>
          </a:bodyPr>
          <a:lstStyle/>
          <a:p>
            <a:pPr algn="just">
              <a:lnSpc>
                <a:spcPts val="3900"/>
              </a:lnSpc>
              <a:spcBef>
                <a:spcPct val="0"/>
              </a:spcBef>
            </a:pPr>
            <a:r>
              <a:rPr lang="en-US" sz="3200">
                <a:solidFill>
                  <a:srgbClr val="000000"/>
                </a:solidFill>
                <a:latin typeface="Calibri" panose="020F0502020204030204" charset="0"/>
                <a:ea typeface="Faustina" panose="00000500000000000000"/>
                <a:cs typeface="Calibri" panose="020F0502020204030204" charset="0"/>
                <a:sym typeface="Faustina" panose="00000500000000000000"/>
              </a:rPr>
              <a:t>Sơ đồ Use Case mô tả 3 nhóm người dùng chính của hệ thống gồm Khách vãng lai, Khách hàng và Quản trị viên, với các quyền sử dụng khác nhau.</a:t>
            </a:r>
            <a:endParaRPr lang="en-US" sz="3200">
              <a:solidFill>
                <a:srgbClr val="000000"/>
              </a:solidFill>
              <a:latin typeface="Calibri" panose="020F0502020204030204" charset="0"/>
              <a:ea typeface="Faustina" panose="00000500000000000000"/>
              <a:cs typeface="Calibri" panose="020F0502020204030204" charset="0"/>
              <a:sym typeface="Faustina" panose="00000500000000000000"/>
            </a:endParaRPr>
          </a:p>
          <a:p>
            <a:pPr algn="just">
              <a:lnSpc>
                <a:spcPts val="3900"/>
              </a:lnSpc>
              <a:spcBef>
                <a:spcPct val="0"/>
              </a:spcBef>
            </a:pPr>
            <a:r>
              <a:rPr lang="en-US" sz="3200">
                <a:solidFill>
                  <a:srgbClr val="000000"/>
                </a:solidFill>
                <a:latin typeface="Calibri" panose="020F0502020204030204" charset="0"/>
                <a:ea typeface="Faustina" panose="00000500000000000000"/>
                <a:cs typeface="Calibri" panose="020F0502020204030204" charset="0"/>
                <a:sym typeface="Faustina" panose="00000500000000000000"/>
              </a:rPr>
              <a:t>Khách vãng lai: Xem thông tin, danh sách và chi tiết sản phẩm.</a:t>
            </a:r>
            <a:endParaRPr lang="en-US" sz="3200">
              <a:solidFill>
                <a:srgbClr val="000000"/>
              </a:solidFill>
              <a:latin typeface="Calibri" panose="020F0502020204030204" charset="0"/>
              <a:ea typeface="Faustina" panose="00000500000000000000"/>
              <a:cs typeface="Calibri" panose="020F0502020204030204" charset="0"/>
              <a:sym typeface="Faustina" panose="00000500000000000000"/>
            </a:endParaRPr>
          </a:p>
          <a:p>
            <a:pPr algn="just">
              <a:lnSpc>
                <a:spcPts val="3900"/>
              </a:lnSpc>
              <a:spcBef>
                <a:spcPct val="0"/>
              </a:spcBef>
            </a:pPr>
            <a:r>
              <a:rPr lang="en-US" sz="3200">
                <a:solidFill>
                  <a:srgbClr val="000000"/>
                </a:solidFill>
                <a:latin typeface="Calibri" panose="020F0502020204030204" charset="0"/>
                <a:ea typeface="Faustina" panose="00000500000000000000"/>
                <a:cs typeface="Calibri" panose="020F0502020204030204" charset="0"/>
                <a:sym typeface="Faustina" panose="00000500000000000000"/>
              </a:rPr>
              <a:t>Khách hàng: Đăng ký/đăng nhập, đặt hàng, quản lý thông tin và xem lịch sử mua hàng.</a:t>
            </a:r>
            <a:endParaRPr lang="en-US" sz="3200">
              <a:solidFill>
                <a:srgbClr val="000000"/>
              </a:solidFill>
              <a:latin typeface="Calibri" panose="020F0502020204030204" charset="0"/>
              <a:ea typeface="Faustina" panose="00000500000000000000"/>
              <a:cs typeface="Calibri" panose="020F0502020204030204" charset="0"/>
              <a:sym typeface="Faustina" panose="00000500000000000000"/>
            </a:endParaRPr>
          </a:p>
          <a:p>
            <a:pPr algn="just">
              <a:lnSpc>
                <a:spcPts val="3900"/>
              </a:lnSpc>
              <a:spcBef>
                <a:spcPct val="0"/>
              </a:spcBef>
            </a:pPr>
            <a:r>
              <a:rPr lang="en-US" sz="3200">
                <a:solidFill>
                  <a:srgbClr val="000000"/>
                </a:solidFill>
                <a:latin typeface="Calibri" panose="020F0502020204030204" charset="0"/>
                <a:ea typeface="Faustina" panose="00000500000000000000"/>
                <a:cs typeface="Calibri" panose="020F0502020204030204" charset="0"/>
                <a:sym typeface="Faustina" panose="00000500000000000000"/>
              </a:rPr>
              <a:t>Quản trị viên: Quản lý sản phẩm, đơn hàng, người dùng và nội dung website.</a:t>
            </a:r>
            <a:endParaRPr lang="en-US" sz="3200">
              <a:solidFill>
                <a:srgbClr val="000000"/>
              </a:solidFill>
              <a:latin typeface="Calibri" panose="020F0502020204030204" charset="0"/>
              <a:ea typeface="Faustina" panose="00000500000000000000"/>
              <a:cs typeface="Calibri" panose="020F0502020204030204" charset="0"/>
              <a:sym typeface="Faustina" panose="0000050000000000000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BE4"/>
        </a:solidFill>
        <a:effectLst/>
      </p:bgPr>
    </p:bg>
    <p:spTree>
      <p:nvGrpSpPr>
        <p:cNvPr id="1" name=""/>
        <p:cNvGrpSpPr/>
        <p:nvPr/>
      </p:nvGrpSpPr>
      <p:grpSpPr>
        <a:xfrm>
          <a:off x="0" y="0"/>
          <a:ext cx="0" cy="0"/>
          <a:chOff x="0" y="0"/>
          <a:chExt cx="0" cy="0"/>
        </a:xfrm>
      </p:grpSpPr>
      <p:sp>
        <p:nvSpPr>
          <p:cNvPr id="2" name="Freeform 2"/>
          <p:cNvSpPr/>
          <p:nvPr/>
        </p:nvSpPr>
        <p:spPr>
          <a:xfrm rot="-958805">
            <a:off x="16949862" y="9165440"/>
            <a:ext cx="1198428" cy="1183175"/>
          </a:xfrm>
          <a:custGeom>
            <a:avLst/>
            <a:gdLst/>
            <a:ahLst/>
            <a:cxnLst/>
            <a:rect l="l" t="t" r="r" b="b"/>
            <a:pathLst>
              <a:path w="1198428" h="1183175">
                <a:moveTo>
                  <a:pt x="0" y="0"/>
                </a:moveTo>
                <a:lnTo>
                  <a:pt x="1198427" y="0"/>
                </a:lnTo>
                <a:lnTo>
                  <a:pt x="1198427" y="1183175"/>
                </a:lnTo>
                <a:lnTo>
                  <a:pt x="0" y="1183175"/>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773347">
            <a:off x="11471470" y="-66676"/>
            <a:ext cx="1612892" cy="1612892"/>
          </a:xfrm>
          <a:custGeom>
            <a:avLst/>
            <a:gdLst/>
            <a:ahLst/>
            <a:cxnLst/>
            <a:rect l="l" t="t" r="r" b="b"/>
            <a:pathLst>
              <a:path w="1612892" h="1612892">
                <a:moveTo>
                  <a:pt x="0" y="0"/>
                </a:moveTo>
                <a:lnTo>
                  <a:pt x="1612893" y="0"/>
                </a:lnTo>
                <a:lnTo>
                  <a:pt x="1612893" y="1612893"/>
                </a:lnTo>
                <a:lnTo>
                  <a:pt x="0" y="161289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10179457">
            <a:off x="-328902" y="-264316"/>
            <a:ext cx="1604962" cy="1540763"/>
          </a:xfrm>
          <a:custGeom>
            <a:avLst/>
            <a:gdLst/>
            <a:ahLst/>
            <a:cxnLst/>
            <a:rect l="l" t="t" r="r" b="b"/>
            <a:pathLst>
              <a:path w="1604962" h="1540763">
                <a:moveTo>
                  <a:pt x="0" y="0"/>
                </a:moveTo>
                <a:lnTo>
                  <a:pt x="1604962" y="0"/>
                </a:lnTo>
                <a:lnTo>
                  <a:pt x="1604962" y="1540763"/>
                </a:lnTo>
                <a:lnTo>
                  <a:pt x="0" y="154076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8259092" y="9395185"/>
            <a:ext cx="723684" cy="723684"/>
          </a:xfrm>
          <a:custGeom>
            <a:avLst/>
            <a:gdLst/>
            <a:ahLst/>
            <a:cxnLst/>
            <a:rect l="l" t="t" r="r" b="b"/>
            <a:pathLst>
              <a:path w="723684" h="723684">
                <a:moveTo>
                  <a:pt x="0" y="0"/>
                </a:moveTo>
                <a:lnTo>
                  <a:pt x="723684" y="0"/>
                </a:lnTo>
                <a:lnTo>
                  <a:pt x="723684" y="723684"/>
                </a:lnTo>
                <a:lnTo>
                  <a:pt x="0" y="72368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a:off x="183689" y="1705787"/>
            <a:ext cx="11013911" cy="7689398"/>
          </a:xfrm>
          <a:custGeom>
            <a:avLst/>
            <a:gdLst/>
            <a:ahLst/>
            <a:cxnLst/>
            <a:rect l="l" t="t" r="r" b="b"/>
            <a:pathLst>
              <a:path w="11013911" h="7689398">
                <a:moveTo>
                  <a:pt x="0" y="0"/>
                </a:moveTo>
                <a:lnTo>
                  <a:pt x="11013911" y="0"/>
                </a:lnTo>
                <a:lnTo>
                  <a:pt x="11013911" y="7689398"/>
                </a:lnTo>
                <a:lnTo>
                  <a:pt x="0" y="7689398"/>
                </a:lnTo>
                <a:lnTo>
                  <a:pt x="0" y="0"/>
                </a:lnTo>
                <a:close/>
              </a:path>
            </a:pathLst>
          </a:custGeom>
          <a:blipFill>
            <a:blip r:embed="rId9"/>
            <a:stretch>
              <a:fillRect l="-3456" r="-3456"/>
            </a:stretch>
          </a:blipFill>
        </p:spPr>
      </p:sp>
      <p:sp>
        <p:nvSpPr>
          <p:cNvPr id="7" name="TextBox 7"/>
          <p:cNvSpPr txBox="1"/>
          <p:nvPr/>
        </p:nvSpPr>
        <p:spPr>
          <a:xfrm>
            <a:off x="1517701" y="374855"/>
            <a:ext cx="8080415" cy="1066800"/>
          </a:xfrm>
          <a:prstGeom prst="rect">
            <a:avLst/>
          </a:prstGeom>
        </p:spPr>
        <p:txBody>
          <a:bodyPr lIns="0" tIns="0" rIns="0" bIns="0" rtlCol="0" anchor="t">
            <a:spAutoFit/>
          </a:bodyPr>
          <a:lstStyle/>
          <a:p>
            <a:pPr algn="ctr">
              <a:lnSpc>
                <a:spcPts val="8320"/>
              </a:lnSpc>
              <a:spcBef>
                <a:spcPct val="0"/>
              </a:spcBef>
            </a:pPr>
            <a:r>
              <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rPr>
              <a:t>2. Nội dung nghiên cứu</a:t>
            </a:r>
            <a:endPar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p:txBody>
      </p:sp>
      <p:sp>
        <p:nvSpPr>
          <p:cNvPr id="8" name="Freeform 8"/>
          <p:cNvSpPr/>
          <p:nvPr/>
        </p:nvSpPr>
        <p:spPr>
          <a:xfrm rot="-6386407">
            <a:off x="-941536" y="6255645"/>
            <a:ext cx="1883072" cy="1109301"/>
          </a:xfrm>
          <a:custGeom>
            <a:avLst/>
            <a:gdLst/>
            <a:ahLst/>
            <a:cxnLst/>
            <a:rect l="l" t="t" r="r" b="b"/>
            <a:pathLst>
              <a:path w="1883072" h="1109301">
                <a:moveTo>
                  <a:pt x="0" y="0"/>
                </a:moveTo>
                <a:lnTo>
                  <a:pt x="1883072" y="0"/>
                </a:lnTo>
                <a:lnTo>
                  <a:pt x="1883072" y="1109300"/>
                </a:lnTo>
                <a:lnTo>
                  <a:pt x="0" y="11093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9" name="Freeform 9"/>
          <p:cNvSpPr/>
          <p:nvPr/>
        </p:nvSpPr>
        <p:spPr>
          <a:xfrm>
            <a:off x="11464179" y="1509333"/>
            <a:ext cx="6465844" cy="8082306"/>
          </a:xfrm>
          <a:custGeom>
            <a:avLst/>
            <a:gdLst/>
            <a:ahLst/>
            <a:cxnLst/>
            <a:rect l="l" t="t" r="r" b="b"/>
            <a:pathLst>
              <a:path w="6465844" h="8082306">
                <a:moveTo>
                  <a:pt x="0" y="0"/>
                </a:moveTo>
                <a:lnTo>
                  <a:pt x="6465844" y="0"/>
                </a:lnTo>
                <a:lnTo>
                  <a:pt x="6465844" y="8082306"/>
                </a:lnTo>
                <a:lnTo>
                  <a:pt x="0" y="8082306"/>
                </a:lnTo>
                <a:lnTo>
                  <a:pt x="0" y="0"/>
                </a:lnTo>
                <a:close/>
              </a:path>
            </a:pathLst>
          </a:custGeom>
          <a:blipFill>
            <a:blip r:embed="rId12">
              <a:extLst>
                <a:ext uri="{96DAC541-7B7A-43D3-8B79-37D633B846F1}">
                  <asvg:svgBlip xmlns:asvg="http://schemas.microsoft.com/office/drawing/2016/SVG/main" r:embed="rId13"/>
                </a:ext>
              </a:extLst>
            </a:blip>
            <a:stretch>
              <a:fillRect l="-134130"/>
            </a:stretch>
          </a:blipFill>
        </p:spPr>
      </p:sp>
      <p:sp>
        <p:nvSpPr>
          <p:cNvPr id="10" name="TextBox 10"/>
          <p:cNvSpPr txBox="1"/>
          <p:nvPr/>
        </p:nvSpPr>
        <p:spPr>
          <a:xfrm>
            <a:off x="11997937" y="2552781"/>
            <a:ext cx="5400869" cy="6068060"/>
          </a:xfrm>
          <a:prstGeom prst="rect">
            <a:avLst/>
          </a:prstGeom>
        </p:spPr>
        <p:txBody>
          <a:bodyPr lIns="0" tIns="0" rIns="0" bIns="0" rtlCol="0" anchor="t">
            <a:spAutoFit/>
          </a:bodyPr>
          <a:lstStyle/>
          <a:p>
            <a:pPr algn="just">
              <a:lnSpc>
                <a:spcPts val="3640"/>
              </a:lnSpc>
              <a:spcBef>
                <a:spcPct val="0"/>
              </a:spcBef>
            </a:pPr>
            <a:r>
              <a:rPr lang="en-US" sz="3200">
                <a:solidFill>
                  <a:srgbClr val="000000"/>
                </a:solidFill>
                <a:latin typeface="Calibri" panose="020F0502020204030204" charset="0"/>
                <a:ea typeface="Faustina" panose="00000500000000000000"/>
                <a:cs typeface="Calibri" panose="020F0502020204030204" charset="0"/>
                <a:sym typeface="Faustina" panose="00000500000000000000"/>
              </a:rPr>
              <a:t>Sơ đồ ERD mô tả cấu trúc cơ sở dữ liệu của website cửa hàng nước hoa Orianna. Người dùng có thể đặt đơn hàng và viết đánh giá sản phẩm. Mỗi đơn hàng gắn với trạng thái xử lý cụ thể. Sản phẩm thuộc danh mục, có thể có nhiều hình ảnh và nhiều đánh giá từ khách hàng. Các mối quan hệ này giúp hệ thống quản lý hiệu quả thông tin người dùng, sản phẩm và quá trình mua hàng.</a:t>
            </a:r>
            <a:endParaRPr lang="en-US" sz="3200">
              <a:solidFill>
                <a:srgbClr val="000000"/>
              </a:solidFill>
              <a:latin typeface="Calibri" panose="020F0502020204030204" charset="0"/>
              <a:ea typeface="Faustina" panose="00000500000000000000"/>
              <a:cs typeface="Calibri" panose="020F0502020204030204" charset="0"/>
              <a:sym typeface="Faustina" panose="0000050000000000000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BE4"/>
        </a:solidFill>
        <a:effectLst/>
      </p:bgPr>
    </p:bg>
    <p:spTree>
      <p:nvGrpSpPr>
        <p:cNvPr id="1" name=""/>
        <p:cNvGrpSpPr/>
        <p:nvPr/>
      </p:nvGrpSpPr>
      <p:grpSpPr>
        <a:xfrm>
          <a:off x="0" y="0"/>
          <a:ext cx="0" cy="0"/>
          <a:chOff x="0" y="0"/>
          <a:chExt cx="0" cy="0"/>
        </a:xfrm>
      </p:grpSpPr>
      <p:sp>
        <p:nvSpPr>
          <p:cNvPr id="2" name="Freeform 2"/>
          <p:cNvSpPr/>
          <p:nvPr/>
        </p:nvSpPr>
        <p:spPr>
          <a:xfrm rot="-1367289" flipH="1">
            <a:off x="-3037640" y="4403776"/>
            <a:ext cx="6356565" cy="8632372"/>
          </a:xfrm>
          <a:custGeom>
            <a:avLst/>
            <a:gdLst/>
            <a:ahLst/>
            <a:cxnLst/>
            <a:rect l="l" t="t" r="r" b="b"/>
            <a:pathLst>
              <a:path w="6356565" h="8632372">
                <a:moveTo>
                  <a:pt x="6356565" y="0"/>
                </a:moveTo>
                <a:lnTo>
                  <a:pt x="0" y="0"/>
                </a:lnTo>
                <a:lnTo>
                  <a:pt x="0" y="8632372"/>
                </a:lnTo>
                <a:lnTo>
                  <a:pt x="6356565" y="8632372"/>
                </a:lnTo>
                <a:lnTo>
                  <a:pt x="6356565"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1670061">
            <a:off x="-2420508" y="-1096571"/>
            <a:ext cx="4841015" cy="6792241"/>
          </a:xfrm>
          <a:custGeom>
            <a:avLst/>
            <a:gdLst/>
            <a:ahLst/>
            <a:cxnLst/>
            <a:rect l="l" t="t" r="r" b="b"/>
            <a:pathLst>
              <a:path w="4841015" h="6792241">
                <a:moveTo>
                  <a:pt x="0" y="0"/>
                </a:moveTo>
                <a:lnTo>
                  <a:pt x="4841016" y="0"/>
                </a:lnTo>
                <a:lnTo>
                  <a:pt x="4841016" y="6792241"/>
                </a:lnTo>
                <a:lnTo>
                  <a:pt x="0" y="679224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958805">
            <a:off x="16747681" y="4067289"/>
            <a:ext cx="1198428" cy="1183175"/>
          </a:xfrm>
          <a:custGeom>
            <a:avLst/>
            <a:gdLst/>
            <a:ahLst/>
            <a:cxnLst/>
            <a:rect l="l" t="t" r="r" b="b"/>
            <a:pathLst>
              <a:path w="1198428" h="1183175">
                <a:moveTo>
                  <a:pt x="0" y="0"/>
                </a:moveTo>
                <a:lnTo>
                  <a:pt x="1198427" y="0"/>
                </a:lnTo>
                <a:lnTo>
                  <a:pt x="1198427" y="1183175"/>
                </a:lnTo>
                <a:lnTo>
                  <a:pt x="0" y="118317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rot="-6386407">
            <a:off x="2484158" y="4015021"/>
            <a:ext cx="1883072" cy="1109301"/>
          </a:xfrm>
          <a:custGeom>
            <a:avLst/>
            <a:gdLst/>
            <a:ahLst/>
            <a:cxnLst/>
            <a:rect l="l" t="t" r="r" b="b"/>
            <a:pathLst>
              <a:path w="1883072" h="1109301">
                <a:moveTo>
                  <a:pt x="0" y="0"/>
                </a:moveTo>
                <a:lnTo>
                  <a:pt x="1883072" y="0"/>
                </a:lnTo>
                <a:lnTo>
                  <a:pt x="1883072" y="1109300"/>
                </a:lnTo>
                <a:lnTo>
                  <a:pt x="0" y="11093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rot="773347">
            <a:off x="11623749" y="-66676"/>
            <a:ext cx="1612892" cy="1612892"/>
          </a:xfrm>
          <a:custGeom>
            <a:avLst/>
            <a:gdLst/>
            <a:ahLst/>
            <a:cxnLst/>
            <a:rect l="l" t="t" r="r" b="b"/>
            <a:pathLst>
              <a:path w="1612892" h="1612892">
                <a:moveTo>
                  <a:pt x="0" y="0"/>
                </a:moveTo>
                <a:lnTo>
                  <a:pt x="1612893" y="0"/>
                </a:lnTo>
                <a:lnTo>
                  <a:pt x="1612893" y="1612893"/>
                </a:lnTo>
                <a:lnTo>
                  <a:pt x="0" y="161289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p:cNvSpPr/>
          <p:nvPr/>
        </p:nvSpPr>
        <p:spPr>
          <a:xfrm rot="10179457">
            <a:off x="1440913" y="1837339"/>
            <a:ext cx="1604962" cy="1540763"/>
          </a:xfrm>
          <a:custGeom>
            <a:avLst/>
            <a:gdLst/>
            <a:ahLst/>
            <a:cxnLst/>
            <a:rect l="l" t="t" r="r" b="b"/>
            <a:pathLst>
              <a:path w="1604962" h="1540763">
                <a:moveTo>
                  <a:pt x="0" y="0"/>
                </a:moveTo>
                <a:lnTo>
                  <a:pt x="1604962" y="0"/>
                </a:lnTo>
                <a:lnTo>
                  <a:pt x="1604962" y="1540764"/>
                </a:lnTo>
                <a:lnTo>
                  <a:pt x="0" y="154076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8" name="Freeform 8"/>
          <p:cNvSpPr/>
          <p:nvPr/>
        </p:nvSpPr>
        <p:spPr>
          <a:xfrm>
            <a:off x="4742605" y="2444552"/>
            <a:ext cx="10772224" cy="7401967"/>
          </a:xfrm>
          <a:custGeom>
            <a:avLst/>
            <a:gdLst/>
            <a:ahLst/>
            <a:cxnLst/>
            <a:rect l="l" t="t" r="r" b="b"/>
            <a:pathLst>
              <a:path w="10772224" h="7401967">
                <a:moveTo>
                  <a:pt x="0" y="0"/>
                </a:moveTo>
                <a:lnTo>
                  <a:pt x="10772224" y="0"/>
                </a:lnTo>
                <a:lnTo>
                  <a:pt x="10772224" y="7401967"/>
                </a:lnTo>
                <a:lnTo>
                  <a:pt x="0" y="7401967"/>
                </a:lnTo>
                <a:lnTo>
                  <a:pt x="0" y="0"/>
                </a:lnTo>
                <a:close/>
              </a:path>
            </a:pathLst>
          </a:custGeom>
          <a:blipFill>
            <a:blip r:embed="rId13"/>
            <a:stretch>
              <a:fillRect/>
            </a:stretch>
          </a:blipFill>
        </p:spPr>
      </p:sp>
      <p:sp>
        <p:nvSpPr>
          <p:cNvPr id="9" name="TextBox 9"/>
          <p:cNvSpPr txBox="1"/>
          <p:nvPr/>
        </p:nvSpPr>
        <p:spPr>
          <a:xfrm>
            <a:off x="3726164" y="342895"/>
            <a:ext cx="8080415" cy="1066800"/>
          </a:xfrm>
          <a:prstGeom prst="rect">
            <a:avLst/>
          </a:prstGeom>
        </p:spPr>
        <p:txBody>
          <a:bodyPr lIns="0" tIns="0" rIns="0" bIns="0" rtlCol="0" anchor="t">
            <a:spAutoFit/>
          </a:bodyPr>
          <a:lstStyle/>
          <a:p>
            <a:pPr algn="ctr">
              <a:lnSpc>
                <a:spcPts val="8320"/>
              </a:lnSpc>
              <a:spcBef>
                <a:spcPct val="0"/>
              </a:spcBef>
            </a:pPr>
            <a:r>
              <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rPr>
              <a:t>2. Nội dung nghiên cứu</a:t>
            </a:r>
            <a:endPar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p:txBody>
      </p:sp>
      <p:sp>
        <p:nvSpPr>
          <p:cNvPr id="10" name="TextBox 10"/>
          <p:cNvSpPr txBox="1"/>
          <p:nvPr/>
        </p:nvSpPr>
        <p:spPr>
          <a:xfrm>
            <a:off x="3510856" y="1550569"/>
            <a:ext cx="13097113" cy="566420"/>
          </a:xfrm>
          <a:prstGeom prst="rect">
            <a:avLst/>
          </a:prstGeom>
        </p:spPr>
        <p:txBody>
          <a:bodyPr lIns="0" tIns="0" rIns="0" bIns="0" rtlCol="0" anchor="t">
            <a:spAutoFit/>
          </a:bodyPr>
          <a:lstStyle/>
          <a:p>
            <a:pPr algn="ctr">
              <a:lnSpc>
                <a:spcPts val="4420"/>
              </a:lnSpc>
              <a:spcBef>
                <a:spcPct val="0"/>
              </a:spcBef>
            </a:pPr>
            <a:r>
              <a:rPr lang="en-US" sz="3400">
                <a:solidFill>
                  <a:srgbClr val="000000"/>
                </a:solidFill>
                <a:latin typeface="Calibri" panose="020F0502020204030204" charset="0"/>
                <a:ea typeface="Faustina" panose="00000500000000000000"/>
                <a:cs typeface="Calibri" panose="020F0502020204030204" charset="0"/>
                <a:sym typeface="Faustina" panose="00000500000000000000"/>
              </a:rPr>
              <a:t>Kiến trúc hệ thống: hệ thống được xây dựng theo mô hình Client – Server.</a:t>
            </a:r>
            <a:endParaRPr lang="en-US" sz="3400">
              <a:solidFill>
                <a:srgbClr val="000000"/>
              </a:solidFill>
              <a:latin typeface="Calibri" panose="020F0502020204030204" charset="0"/>
              <a:ea typeface="Faustina" panose="00000500000000000000"/>
              <a:cs typeface="Calibri" panose="020F0502020204030204" charset="0"/>
              <a:sym typeface="Faustina" panose="0000050000000000000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BE4"/>
        </a:solidFill>
        <a:effectLst/>
      </p:bgPr>
    </p:bg>
    <p:spTree>
      <p:nvGrpSpPr>
        <p:cNvPr id="1" name=""/>
        <p:cNvGrpSpPr/>
        <p:nvPr/>
      </p:nvGrpSpPr>
      <p:grpSpPr>
        <a:xfrm>
          <a:off x="0" y="0"/>
          <a:ext cx="0" cy="0"/>
          <a:chOff x="0" y="0"/>
          <a:chExt cx="0" cy="0"/>
        </a:xfrm>
      </p:grpSpPr>
      <p:sp>
        <p:nvSpPr>
          <p:cNvPr id="2" name="Freeform 2"/>
          <p:cNvSpPr/>
          <p:nvPr/>
        </p:nvSpPr>
        <p:spPr>
          <a:xfrm rot="-1367289" flipH="1">
            <a:off x="-4054081" y="4602880"/>
            <a:ext cx="6356565" cy="8632372"/>
          </a:xfrm>
          <a:custGeom>
            <a:avLst/>
            <a:gdLst/>
            <a:ahLst/>
            <a:cxnLst/>
            <a:rect l="l" t="t" r="r" b="b"/>
            <a:pathLst>
              <a:path w="6356565" h="8632372">
                <a:moveTo>
                  <a:pt x="6356565" y="0"/>
                </a:moveTo>
                <a:lnTo>
                  <a:pt x="0" y="0"/>
                </a:lnTo>
                <a:lnTo>
                  <a:pt x="0" y="8632373"/>
                </a:lnTo>
                <a:lnTo>
                  <a:pt x="6356565" y="8632373"/>
                </a:lnTo>
                <a:lnTo>
                  <a:pt x="6356565"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1670061">
            <a:off x="-3231833" y="-1690333"/>
            <a:ext cx="4841015" cy="6792241"/>
          </a:xfrm>
          <a:custGeom>
            <a:avLst/>
            <a:gdLst/>
            <a:ahLst/>
            <a:cxnLst/>
            <a:rect l="l" t="t" r="r" b="b"/>
            <a:pathLst>
              <a:path w="4841015" h="6792241">
                <a:moveTo>
                  <a:pt x="0" y="0"/>
                </a:moveTo>
                <a:lnTo>
                  <a:pt x="4841015" y="0"/>
                </a:lnTo>
                <a:lnTo>
                  <a:pt x="4841015" y="6792240"/>
                </a:lnTo>
                <a:lnTo>
                  <a:pt x="0" y="67922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6386407">
            <a:off x="16797539" y="8882013"/>
            <a:ext cx="1883072" cy="1109301"/>
          </a:xfrm>
          <a:custGeom>
            <a:avLst/>
            <a:gdLst/>
            <a:ahLst/>
            <a:cxnLst/>
            <a:rect l="l" t="t" r="r" b="b"/>
            <a:pathLst>
              <a:path w="1883072" h="1109301">
                <a:moveTo>
                  <a:pt x="0" y="0"/>
                </a:moveTo>
                <a:lnTo>
                  <a:pt x="1883072" y="0"/>
                </a:lnTo>
                <a:lnTo>
                  <a:pt x="1883072" y="1109300"/>
                </a:lnTo>
                <a:lnTo>
                  <a:pt x="0" y="11093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rot="773347">
            <a:off x="11623749" y="-66676"/>
            <a:ext cx="1612892" cy="1612892"/>
          </a:xfrm>
          <a:custGeom>
            <a:avLst/>
            <a:gdLst/>
            <a:ahLst/>
            <a:cxnLst/>
            <a:rect l="l" t="t" r="r" b="b"/>
            <a:pathLst>
              <a:path w="1612892" h="1612892">
                <a:moveTo>
                  <a:pt x="0" y="0"/>
                </a:moveTo>
                <a:lnTo>
                  <a:pt x="1612893" y="0"/>
                </a:lnTo>
                <a:lnTo>
                  <a:pt x="1612893" y="1612893"/>
                </a:lnTo>
                <a:lnTo>
                  <a:pt x="0" y="161289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rot="10179457">
            <a:off x="622374" y="1354558"/>
            <a:ext cx="1604962" cy="1540763"/>
          </a:xfrm>
          <a:custGeom>
            <a:avLst/>
            <a:gdLst/>
            <a:ahLst/>
            <a:cxnLst/>
            <a:rect l="l" t="t" r="r" b="b"/>
            <a:pathLst>
              <a:path w="1604962" h="1540763">
                <a:moveTo>
                  <a:pt x="0" y="0"/>
                </a:moveTo>
                <a:lnTo>
                  <a:pt x="1604961" y="0"/>
                </a:lnTo>
                <a:lnTo>
                  <a:pt x="1604961" y="1540763"/>
                </a:lnTo>
                <a:lnTo>
                  <a:pt x="0" y="154076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p:cNvSpPr/>
          <p:nvPr/>
        </p:nvSpPr>
        <p:spPr>
          <a:xfrm>
            <a:off x="2352604" y="2832538"/>
            <a:ext cx="15386471" cy="2068303"/>
          </a:xfrm>
          <a:custGeom>
            <a:avLst/>
            <a:gdLst/>
            <a:ahLst/>
            <a:cxnLst/>
            <a:rect l="l" t="t" r="r" b="b"/>
            <a:pathLst>
              <a:path w="15386471" h="2068303">
                <a:moveTo>
                  <a:pt x="0" y="0"/>
                </a:moveTo>
                <a:lnTo>
                  <a:pt x="15386471" y="0"/>
                </a:lnTo>
                <a:lnTo>
                  <a:pt x="15386471" y="2068303"/>
                </a:lnTo>
                <a:lnTo>
                  <a:pt x="0" y="2068303"/>
                </a:lnTo>
                <a:lnTo>
                  <a:pt x="0" y="0"/>
                </a:lnTo>
                <a:close/>
              </a:path>
            </a:pathLst>
          </a:custGeom>
          <a:blipFill>
            <a:blip r:embed="rId11"/>
            <a:stretch>
              <a:fillRect t="-6911" b="-6911"/>
            </a:stretch>
          </a:blipFill>
        </p:spPr>
      </p:sp>
      <p:sp>
        <p:nvSpPr>
          <p:cNvPr id="8" name="TextBox 8"/>
          <p:cNvSpPr txBox="1"/>
          <p:nvPr/>
        </p:nvSpPr>
        <p:spPr>
          <a:xfrm>
            <a:off x="2868279" y="800095"/>
            <a:ext cx="8080415" cy="1066800"/>
          </a:xfrm>
          <a:prstGeom prst="rect">
            <a:avLst/>
          </a:prstGeom>
        </p:spPr>
        <p:txBody>
          <a:bodyPr lIns="0" tIns="0" rIns="0" bIns="0" rtlCol="0" anchor="t">
            <a:spAutoFit/>
          </a:bodyPr>
          <a:lstStyle/>
          <a:p>
            <a:pPr algn="ctr">
              <a:lnSpc>
                <a:spcPts val="8320"/>
              </a:lnSpc>
              <a:spcBef>
                <a:spcPct val="0"/>
              </a:spcBef>
            </a:pPr>
            <a:r>
              <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rPr>
              <a:t>2. Nội dung nghiên cứu</a:t>
            </a:r>
            <a:endPar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p:txBody>
      </p:sp>
      <p:sp>
        <p:nvSpPr>
          <p:cNvPr id="9" name="TextBox 9"/>
          <p:cNvSpPr txBox="1"/>
          <p:nvPr/>
        </p:nvSpPr>
        <p:spPr>
          <a:xfrm>
            <a:off x="1724355" y="5468073"/>
            <a:ext cx="16014720" cy="1699895"/>
          </a:xfrm>
          <a:prstGeom prst="rect">
            <a:avLst/>
          </a:prstGeom>
        </p:spPr>
        <p:txBody>
          <a:bodyPr lIns="0" tIns="0" rIns="0" bIns="0" rtlCol="0" anchor="t">
            <a:spAutoFit/>
          </a:bodyPr>
          <a:lstStyle/>
          <a:p>
            <a:pPr algn="just">
              <a:lnSpc>
                <a:spcPts val="4420"/>
              </a:lnSpc>
              <a:spcBef>
                <a:spcPct val="0"/>
              </a:spcBef>
            </a:pPr>
            <a:r>
              <a:rPr lang="en-US" sz="3400">
                <a:solidFill>
                  <a:srgbClr val="000000"/>
                </a:solidFill>
                <a:latin typeface="Calibri" panose="020F0502020204030204" charset="0"/>
                <a:ea typeface="Faustina" panose="00000500000000000000"/>
                <a:cs typeface="Calibri" panose="020F0502020204030204" charset="0"/>
                <a:sym typeface="Faustina" panose="00000500000000000000"/>
              </a:rPr>
              <a:t>Mô hình hoạt động của hệ thống: </a:t>
            </a:r>
            <a:r>
              <a:rPr lang="en-US" sz="3400">
                <a:solidFill>
                  <a:srgbClr val="000000"/>
                </a:solidFill>
                <a:latin typeface="Calibri" panose="020F0502020204030204" charset="0"/>
                <a:ea typeface="Faustina" panose="00000500000000000000"/>
                <a:cs typeface="Calibri" panose="020F0502020204030204" charset="0"/>
                <a:sym typeface="Faustina" panose="00000500000000000000"/>
              </a:rPr>
              <a:t>Ngườ</a:t>
            </a:r>
            <a:r>
              <a:rPr lang="en-US" sz="3400">
                <a:solidFill>
                  <a:srgbClr val="000000"/>
                </a:solidFill>
                <a:latin typeface="Calibri" panose="020F0502020204030204" charset="0"/>
                <a:ea typeface="Faustina" panose="00000500000000000000"/>
                <a:cs typeface="Calibri" panose="020F0502020204030204" charset="0"/>
                <a:sym typeface="Faustina" panose="00000500000000000000"/>
              </a:rPr>
              <a:t>i dùng thao tác trên giao diện web, backend xử lý yêu cầu, dữ liệu được truy xuất hoặc cập nhật trong MySQL và kết quả được trả về hiển thị cho người dùng.</a:t>
            </a:r>
            <a:endParaRPr lang="en-US" sz="3400">
              <a:solidFill>
                <a:srgbClr val="000000"/>
              </a:solidFill>
              <a:latin typeface="Calibri" panose="020F0502020204030204" charset="0"/>
              <a:ea typeface="Faustina" panose="00000500000000000000"/>
              <a:cs typeface="Calibri" panose="020F0502020204030204" charset="0"/>
              <a:sym typeface="Faustina" panose="0000050000000000000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38888" b="-38888"/>
            </a:stretch>
          </a:blipFill>
        </p:spPr>
      </p:sp>
      <p:sp>
        <p:nvSpPr>
          <p:cNvPr id="3" name="Freeform 3"/>
          <p:cNvSpPr/>
          <p:nvPr/>
        </p:nvSpPr>
        <p:spPr>
          <a:xfrm rot="-828669">
            <a:off x="17324261" y="6516732"/>
            <a:ext cx="1188994" cy="959843"/>
          </a:xfrm>
          <a:custGeom>
            <a:avLst/>
            <a:gdLst/>
            <a:ahLst/>
            <a:cxnLst/>
            <a:rect l="l" t="t" r="r" b="b"/>
            <a:pathLst>
              <a:path w="1188994" h="959843">
                <a:moveTo>
                  <a:pt x="0" y="0"/>
                </a:moveTo>
                <a:lnTo>
                  <a:pt x="1188995" y="0"/>
                </a:lnTo>
                <a:lnTo>
                  <a:pt x="1188995" y="959842"/>
                </a:lnTo>
                <a:lnTo>
                  <a:pt x="0" y="9598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7226882" y="5631024"/>
            <a:ext cx="935091" cy="897687"/>
          </a:xfrm>
          <a:custGeom>
            <a:avLst/>
            <a:gdLst/>
            <a:ahLst/>
            <a:cxnLst/>
            <a:rect l="l" t="t" r="r" b="b"/>
            <a:pathLst>
              <a:path w="935091" h="897687">
                <a:moveTo>
                  <a:pt x="0" y="0"/>
                </a:moveTo>
                <a:lnTo>
                  <a:pt x="935090" y="0"/>
                </a:lnTo>
                <a:lnTo>
                  <a:pt x="935090" y="897687"/>
                </a:lnTo>
                <a:lnTo>
                  <a:pt x="0" y="8976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273796" y="7417596"/>
            <a:ext cx="754904" cy="754904"/>
          </a:xfrm>
          <a:custGeom>
            <a:avLst/>
            <a:gdLst/>
            <a:ahLst/>
            <a:cxnLst/>
            <a:rect l="l" t="t" r="r" b="b"/>
            <a:pathLst>
              <a:path w="754904" h="754904">
                <a:moveTo>
                  <a:pt x="0" y="0"/>
                </a:moveTo>
                <a:lnTo>
                  <a:pt x="754904" y="0"/>
                </a:lnTo>
                <a:lnTo>
                  <a:pt x="754904" y="754904"/>
                </a:lnTo>
                <a:lnTo>
                  <a:pt x="0" y="7549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7427148">
            <a:off x="16077109" y="9121782"/>
            <a:ext cx="2364382" cy="1100513"/>
          </a:xfrm>
          <a:custGeom>
            <a:avLst/>
            <a:gdLst/>
            <a:ahLst/>
            <a:cxnLst/>
            <a:rect l="l" t="t" r="r" b="b"/>
            <a:pathLst>
              <a:path w="2364382" h="1100513">
                <a:moveTo>
                  <a:pt x="0" y="0"/>
                </a:moveTo>
                <a:lnTo>
                  <a:pt x="2364382" y="0"/>
                </a:lnTo>
                <a:lnTo>
                  <a:pt x="2364382" y="1100512"/>
                </a:lnTo>
                <a:lnTo>
                  <a:pt x="0" y="110051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1774760">
            <a:off x="73929" y="-334397"/>
            <a:ext cx="1909542" cy="1909542"/>
          </a:xfrm>
          <a:custGeom>
            <a:avLst/>
            <a:gdLst/>
            <a:ahLst/>
            <a:cxnLst/>
            <a:rect l="l" t="t" r="r" b="b"/>
            <a:pathLst>
              <a:path w="1909542" h="1909542">
                <a:moveTo>
                  <a:pt x="0" y="0"/>
                </a:moveTo>
                <a:lnTo>
                  <a:pt x="1909542" y="0"/>
                </a:lnTo>
                <a:lnTo>
                  <a:pt x="1909542" y="1909542"/>
                </a:lnTo>
                <a:lnTo>
                  <a:pt x="0" y="190954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1273716" y="1845386"/>
            <a:ext cx="6888048" cy="7571275"/>
          </a:xfrm>
          <a:custGeom>
            <a:avLst/>
            <a:gdLst/>
            <a:ahLst/>
            <a:cxnLst/>
            <a:rect l="l" t="t" r="r" b="b"/>
            <a:pathLst>
              <a:path w="6888048" h="7571275">
                <a:moveTo>
                  <a:pt x="0" y="0"/>
                </a:moveTo>
                <a:lnTo>
                  <a:pt x="6888047" y="0"/>
                </a:lnTo>
                <a:lnTo>
                  <a:pt x="6888047" y="7571275"/>
                </a:lnTo>
                <a:lnTo>
                  <a:pt x="0" y="7571275"/>
                </a:lnTo>
                <a:lnTo>
                  <a:pt x="0" y="0"/>
                </a:lnTo>
                <a:close/>
              </a:path>
            </a:pathLst>
          </a:custGeom>
          <a:blipFill>
            <a:blip r:embed="rId12"/>
            <a:stretch>
              <a:fillRect/>
            </a:stretch>
          </a:blipFill>
        </p:spPr>
      </p:sp>
      <p:sp>
        <p:nvSpPr>
          <p:cNvPr id="9" name="Freeform 9"/>
          <p:cNvSpPr/>
          <p:nvPr/>
        </p:nvSpPr>
        <p:spPr>
          <a:xfrm>
            <a:off x="8599032" y="3183866"/>
            <a:ext cx="7737787" cy="6232795"/>
          </a:xfrm>
          <a:custGeom>
            <a:avLst/>
            <a:gdLst/>
            <a:ahLst/>
            <a:cxnLst/>
            <a:rect l="l" t="t" r="r" b="b"/>
            <a:pathLst>
              <a:path w="7737787" h="6232795">
                <a:moveTo>
                  <a:pt x="0" y="0"/>
                </a:moveTo>
                <a:lnTo>
                  <a:pt x="7737787" y="0"/>
                </a:lnTo>
                <a:lnTo>
                  <a:pt x="7737787" y="6232795"/>
                </a:lnTo>
                <a:lnTo>
                  <a:pt x="0" y="6232795"/>
                </a:lnTo>
                <a:lnTo>
                  <a:pt x="0" y="0"/>
                </a:lnTo>
                <a:close/>
              </a:path>
            </a:pathLst>
          </a:custGeom>
          <a:blipFill>
            <a:blip r:embed="rId13"/>
            <a:stretch>
              <a:fillRect/>
            </a:stretch>
          </a:blipFill>
        </p:spPr>
      </p:sp>
      <p:sp>
        <p:nvSpPr>
          <p:cNvPr id="10" name="TextBox 10"/>
          <p:cNvSpPr txBox="1"/>
          <p:nvPr/>
        </p:nvSpPr>
        <p:spPr>
          <a:xfrm>
            <a:off x="1640021" y="343196"/>
            <a:ext cx="6959011" cy="880745"/>
          </a:xfrm>
          <a:prstGeom prst="rect">
            <a:avLst/>
          </a:prstGeom>
        </p:spPr>
        <p:txBody>
          <a:bodyPr lIns="0" tIns="0" rIns="0" bIns="0" rtlCol="0" anchor="t">
            <a:spAutoFit/>
          </a:bodyPr>
          <a:lstStyle/>
          <a:p>
            <a:pPr algn="r">
              <a:lnSpc>
                <a:spcPts val="6870"/>
              </a:lnSpc>
            </a:pPr>
            <a:r>
              <a:rPr lang="en-US" sz="5725" b="1">
                <a:solidFill>
                  <a:srgbClr val="000000"/>
                </a:solidFill>
                <a:latin typeface="Calibri" panose="020F0502020204030204" charset="0"/>
                <a:ea typeface="Faustina Bold" panose="00000800000000000000"/>
                <a:cs typeface="Calibri" panose="020F0502020204030204" charset="0"/>
                <a:sym typeface="Faustina Bold" panose="00000800000000000000"/>
              </a:rPr>
              <a:t>3.</a:t>
            </a:r>
            <a:r>
              <a:rPr lang="en-US" sz="5725" b="1">
                <a:solidFill>
                  <a:srgbClr val="000000"/>
                </a:solidFill>
                <a:latin typeface="Calibri" panose="020F0502020204030204" charset="0"/>
                <a:ea typeface="Faustina Bold" panose="00000800000000000000"/>
                <a:cs typeface="Calibri" panose="020F0502020204030204" charset="0"/>
                <a:sym typeface="Faustina Bold" panose="00000800000000000000"/>
              </a:rPr>
              <a:t> Kết quả nghiên cứu</a:t>
            </a:r>
            <a:endParaRPr lang="en-US" sz="5725"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p:txBody>
      </p:sp>
      <p:sp>
        <p:nvSpPr>
          <p:cNvPr id="11" name="TextBox 11"/>
          <p:cNvSpPr txBox="1"/>
          <p:nvPr/>
        </p:nvSpPr>
        <p:spPr>
          <a:xfrm>
            <a:off x="8599032" y="2118397"/>
            <a:ext cx="5931932" cy="533400"/>
          </a:xfrm>
          <a:prstGeom prst="rect">
            <a:avLst/>
          </a:prstGeom>
        </p:spPr>
        <p:txBody>
          <a:bodyPr lIns="0" tIns="0" rIns="0" bIns="0" rtlCol="0" anchor="t">
            <a:spAutoFit/>
          </a:bodyPr>
          <a:lstStyle/>
          <a:p>
            <a:pPr algn="ctr">
              <a:lnSpc>
                <a:spcPts val="4160"/>
              </a:lnSpc>
              <a:spcBef>
                <a:spcPct val="0"/>
              </a:spcBef>
            </a:pPr>
            <a:r>
              <a:rPr lang="en-US" sz="3200">
                <a:solidFill>
                  <a:srgbClr val="000000"/>
                </a:solidFill>
                <a:latin typeface="Calibri" panose="020F0502020204030204" charset="0"/>
                <a:ea typeface="Faustina" panose="00000500000000000000"/>
                <a:cs typeface="Calibri" panose="020F0502020204030204" charset="0"/>
                <a:sym typeface="Faustina" panose="00000500000000000000"/>
              </a:rPr>
              <a:t>Giao diện trang đăng ký/đăng nhập</a:t>
            </a:r>
            <a:endParaRPr lang="en-US" sz="3200">
              <a:solidFill>
                <a:srgbClr val="000000"/>
              </a:solidFill>
              <a:latin typeface="Calibri" panose="020F0502020204030204" charset="0"/>
              <a:ea typeface="Faustina" panose="00000500000000000000"/>
              <a:cs typeface="Calibri" panose="020F0502020204030204" charset="0"/>
              <a:sym typeface="Faustina" panose="0000050000000000000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38888" b="-38888"/>
            </a:stretch>
          </a:blipFill>
        </p:spPr>
      </p:sp>
      <p:sp>
        <p:nvSpPr>
          <p:cNvPr id="3" name="Freeform 3"/>
          <p:cNvSpPr/>
          <p:nvPr/>
        </p:nvSpPr>
        <p:spPr>
          <a:xfrm rot="-828669">
            <a:off x="17324261" y="6516732"/>
            <a:ext cx="1188994" cy="959843"/>
          </a:xfrm>
          <a:custGeom>
            <a:avLst/>
            <a:gdLst/>
            <a:ahLst/>
            <a:cxnLst/>
            <a:rect l="l" t="t" r="r" b="b"/>
            <a:pathLst>
              <a:path w="1188994" h="959843">
                <a:moveTo>
                  <a:pt x="0" y="0"/>
                </a:moveTo>
                <a:lnTo>
                  <a:pt x="1188995" y="0"/>
                </a:lnTo>
                <a:lnTo>
                  <a:pt x="1188995" y="959842"/>
                </a:lnTo>
                <a:lnTo>
                  <a:pt x="0" y="9598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7226882" y="5631024"/>
            <a:ext cx="935091" cy="897687"/>
          </a:xfrm>
          <a:custGeom>
            <a:avLst/>
            <a:gdLst/>
            <a:ahLst/>
            <a:cxnLst/>
            <a:rect l="l" t="t" r="r" b="b"/>
            <a:pathLst>
              <a:path w="935091" h="897687">
                <a:moveTo>
                  <a:pt x="0" y="0"/>
                </a:moveTo>
                <a:lnTo>
                  <a:pt x="935090" y="0"/>
                </a:lnTo>
                <a:lnTo>
                  <a:pt x="935090" y="897687"/>
                </a:lnTo>
                <a:lnTo>
                  <a:pt x="0" y="8976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273796" y="7417596"/>
            <a:ext cx="754904" cy="754904"/>
          </a:xfrm>
          <a:custGeom>
            <a:avLst/>
            <a:gdLst/>
            <a:ahLst/>
            <a:cxnLst/>
            <a:rect l="l" t="t" r="r" b="b"/>
            <a:pathLst>
              <a:path w="754904" h="754904">
                <a:moveTo>
                  <a:pt x="0" y="0"/>
                </a:moveTo>
                <a:lnTo>
                  <a:pt x="754904" y="0"/>
                </a:lnTo>
                <a:lnTo>
                  <a:pt x="754904" y="754904"/>
                </a:lnTo>
                <a:lnTo>
                  <a:pt x="0" y="7549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7427148">
            <a:off x="16077109" y="9121782"/>
            <a:ext cx="2364382" cy="1100513"/>
          </a:xfrm>
          <a:custGeom>
            <a:avLst/>
            <a:gdLst/>
            <a:ahLst/>
            <a:cxnLst/>
            <a:rect l="l" t="t" r="r" b="b"/>
            <a:pathLst>
              <a:path w="2364382" h="1100513">
                <a:moveTo>
                  <a:pt x="0" y="0"/>
                </a:moveTo>
                <a:lnTo>
                  <a:pt x="2364382" y="0"/>
                </a:lnTo>
                <a:lnTo>
                  <a:pt x="2364382" y="1100512"/>
                </a:lnTo>
                <a:lnTo>
                  <a:pt x="0" y="110051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1774760">
            <a:off x="73929" y="-334397"/>
            <a:ext cx="1909542" cy="1909542"/>
          </a:xfrm>
          <a:custGeom>
            <a:avLst/>
            <a:gdLst/>
            <a:ahLst/>
            <a:cxnLst/>
            <a:rect l="l" t="t" r="r" b="b"/>
            <a:pathLst>
              <a:path w="1909542" h="1909542">
                <a:moveTo>
                  <a:pt x="0" y="0"/>
                </a:moveTo>
                <a:lnTo>
                  <a:pt x="1909542" y="0"/>
                </a:lnTo>
                <a:lnTo>
                  <a:pt x="1909542" y="1909542"/>
                </a:lnTo>
                <a:lnTo>
                  <a:pt x="0" y="190954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4234769" y="1256774"/>
            <a:ext cx="11087684" cy="5271937"/>
          </a:xfrm>
          <a:custGeom>
            <a:avLst/>
            <a:gdLst/>
            <a:ahLst/>
            <a:cxnLst/>
            <a:rect l="l" t="t" r="r" b="b"/>
            <a:pathLst>
              <a:path w="11087684" h="5271937">
                <a:moveTo>
                  <a:pt x="0" y="0"/>
                </a:moveTo>
                <a:lnTo>
                  <a:pt x="11087684" y="0"/>
                </a:lnTo>
                <a:lnTo>
                  <a:pt x="11087684" y="5271937"/>
                </a:lnTo>
                <a:lnTo>
                  <a:pt x="0" y="5271937"/>
                </a:lnTo>
                <a:lnTo>
                  <a:pt x="0" y="0"/>
                </a:lnTo>
                <a:close/>
              </a:path>
            </a:pathLst>
          </a:custGeom>
          <a:blipFill>
            <a:blip r:embed="rId12"/>
            <a:stretch>
              <a:fillRect/>
            </a:stretch>
          </a:blipFill>
        </p:spPr>
      </p:sp>
      <p:sp>
        <p:nvSpPr>
          <p:cNvPr id="9" name="Freeform 9"/>
          <p:cNvSpPr/>
          <p:nvPr/>
        </p:nvSpPr>
        <p:spPr>
          <a:xfrm>
            <a:off x="4234769" y="5202791"/>
            <a:ext cx="11087684" cy="4803656"/>
          </a:xfrm>
          <a:custGeom>
            <a:avLst/>
            <a:gdLst/>
            <a:ahLst/>
            <a:cxnLst/>
            <a:rect l="l" t="t" r="r" b="b"/>
            <a:pathLst>
              <a:path w="11087684" h="4803656">
                <a:moveTo>
                  <a:pt x="0" y="0"/>
                </a:moveTo>
                <a:lnTo>
                  <a:pt x="11087684" y="0"/>
                </a:lnTo>
                <a:lnTo>
                  <a:pt x="11087684" y="4803656"/>
                </a:lnTo>
                <a:lnTo>
                  <a:pt x="0" y="4803656"/>
                </a:lnTo>
                <a:lnTo>
                  <a:pt x="0" y="0"/>
                </a:lnTo>
                <a:close/>
              </a:path>
            </a:pathLst>
          </a:custGeom>
          <a:blipFill>
            <a:blip r:embed="rId13"/>
            <a:stretch>
              <a:fillRect/>
            </a:stretch>
          </a:blipFill>
        </p:spPr>
      </p:sp>
      <p:sp>
        <p:nvSpPr>
          <p:cNvPr id="10" name="TextBox 10"/>
          <p:cNvSpPr txBox="1"/>
          <p:nvPr/>
        </p:nvSpPr>
        <p:spPr>
          <a:xfrm>
            <a:off x="1640205" y="186690"/>
            <a:ext cx="7694930" cy="880745"/>
          </a:xfrm>
          <a:prstGeom prst="rect">
            <a:avLst/>
          </a:prstGeom>
        </p:spPr>
        <p:txBody>
          <a:bodyPr wrap="square" lIns="0" tIns="0" rIns="0" bIns="0" rtlCol="0" anchor="t">
            <a:spAutoFit/>
          </a:bodyPr>
          <a:lstStyle/>
          <a:p>
            <a:pPr algn="r">
              <a:lnSpc>
                <a:spcPts val="6870"/>
              </a:lnSpc>
            </a:pPr>
            <a:r>
              <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rPr>
              <a:t>3. Kết quả nghiên cứu</a:t>
            </a:r>
            <a:endPar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p:txBody>
      </p:sp>
      <p:sp>
        <p:nvSpPr>
          <p:cNvPr id="11" name="TextBox 11"/>
          <p:cNvSpPr txBox="1"/>
          <p:nvPr/>
        </p:nvSpPr>
        <p:spPr>
          <a:xfrm>
            <a:off x="651248" y="2293197"/>
            <a:ext cx="3313629" cy="533400"/>
          </a:xfrm>
          <a:prstGeom prst="rect">
            <a:avLst/>
          </a:prstGeom>
        </p:spPr>
        <p:txBody>
          <a:bodyPr lIns="0" tIns="0" rIns="0" bIns="0" rtlCol="0" anchor="t">
            <a:spAutoFit/>
          </a:bodyPr>
          <a:lstStyle/>
          <a:p>
            <a:pPr algn="ctr">
              <a:lnSpc>
                <a:spcPts val="4160"/>
              </a:lnSpc>
              <a:spcBef>
                <a:spcPct val="0"/>
              </a:spcBef>
            </a:pPr>
            <a:r>
              <a:rPr lang="en-US" sz="3200">
                <a:solidFill>
                  <a:srgbClr val="000000"/>
                </a:solidFill>
                <a:latin typeface="Calibri" panose="020F0502020204030204" charset="0"/>
                <a:ea typeface="Faustina" panose="00000500000000000000"/>
                <a:cs typeface="Calibri" panose="020F0502020204030204" charset="0"/>
                <a:sym typeface="Faustina" panose="00000500000000000000"/>
              </a:rPr>
              <a:t>Giao diện trang chủ</a:t>
            </a:r>
            <a:endParaRPr lang="en-US" sz="3200">
              <a:solidFill>
                <a:srgbClr val="000000"/>
              </a:solidFill>
              <a:latin typeface="Calibri" panose="020F0502020204030204" charset="0"/>
              <a:ea typeface="Faustina" panose="00000500000000000000"/>
              <a:cs typeface="Calibri" panose="020F0502020204030204" charset="0"/>
              <a:sym typeface="Faustina" panose="0000050000000000000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38888" b="-38888"/>
            </a:stretch>
          </a:blipFill>
        </p:spPr>
      </p:sp>
      <p:sp>
        <p:nvSpPr>
          <p:cNvPr id="3" name="Freeform 3"/>
          <p:cNvSpPr/>
          <p:nvPr/>
        </p:nvSpPr>
        <p:spPr>
          <a:xfrm rot="-828669">
            <a:off x="17324261" y="6516732"/>
            <a:ext cx="1188994" cy="959843"/>
          </a:xfrm>
          <a:custGeom>
            <a:avLst/>
            <a:gdLst/>
            <a:ahLst/>
            <a:cxnLst/>
            <a:rect l="l" t="t" r="r" b="b"/>
            <a:pathLst>
              <a:path w="1188994" h="959843">
                <a:moveTo>
                  <a:pt x="0" y="0"/>
                </a:moveTo>
                <a:lnTo>
                  <a:pt x="1188995" y="0"/>
                </a:lnTo>
                <a:lnTo>
                  <a:pt x="1188995" y="959842"/>
                </a:lnTo>
                <a:lnTo>
                  <a:pt x="0" y="9598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7226882" y="5631024"/>
            <a:ext cx="935091" cy="897687"/>
          </a:xfrm>
          <a:custGeom>
            <a:avLst/>
            <a:gdLst/>
            <a:ahLst/>
            <a:cxnLst/>
            <a:rect l="l" t="t" r="r" b="b"/>
            <a:pathLst>
              <a:path w="935091" h="897687">
                <a:moveTo>
                  <a:pt x="0" y="0"/>
                </a:moveTo>
                <a:lnTo>
                  <a:pt x="935090" y="0"/>
                </a:lnTo>
                <a:lnTo>
                  <a:pt x="935090" y="897687"/>
                </a:lnTo>
                <a:lnTo>
                  <a:pt x="0" y="8976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273796" y="7417596"/>
            <a:ext cx="754904" cy="754904"/>
          </a:xfrm>
          <a:custGeom>
            <a:avLst/>
            <a:gdLst/>
            <a:ahLst/>
            <a:cxnLst/>
            <a:rect l="l" t="t" r="r" b="b"/>
            <a:pathLst>
              <a:path w="754904" h="754904">
                <a:moveTo>
                  <a:pt x="0" y="0"/>
                </a:moveTo>
                <a:lnTo>
                  <a:pt x="754904" y="0"/>
                </a:lnTo>
                <a:lnTo>
                  <a:pt x="754904" y="754904"/>
                </a:lnTo>
                <a:lnTo>
                  <a:pt x="0" y="7549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7427148">
            <a:off x="16077109" y="9121782"/>
            <a:ext cx="2364382" cy="1100513"/>
          </a:xfrm>
          <a:custGeom>
            <a:avLst/>
            <a:gdLst/>
            <a:ahLst/>
            <a:cxnLst/>
            <a:rect l="l" t="t" r="r" b="b"/>
            <a:pathLst>
              <a:path w="2364382" h="1100513">
                <a:moveTo>
                  <a:pt x="0" y="0"/>
                </a:moveTo>
                <a:lnTo>
                  <a:pt x="2364382" y="0"/>
                </a:lnTo>
                <a:lnTo>
                  <a:pt x="2364382" y="1100512"/>
                </a:lnTo>
                <a:lnTo>
                  <a:pt x="0" y="110051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1774760">
            <a:off x="73929" y="-334397"/>
            <a:ext cx="1909542" cy="1909542"/>
          </a:xfrm>
          <a:custGeom>
            <a:avLst/>
            <a:gdLst/>
            <a:ahLst/>
            <a:cxnLst/>
            <a:rect l="l" t="t" r="r" b="b"/>
            <a:pathLst>
              <a:path w="1909542" h="1909542">
                <a:moveTo>
                  <a:pt x="0" y="0"/>
                </a:moveTo>
                <a:lnTo>
                  <a:pt x="1909542" y="0"/>
                </a:lnTo>
                <a:lnTo>
                  <a:pt x="1909542" y="1909542"/>
                </a:lnTo>
                <a:lnTo>
                  <a:pt x="0" y="190954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2195697" y="2563390"/>
            <a:ext cx="13896606" cy="6587599"/>
          </a:xfrm>
          <a:custGeom>
            <a:avLst/>
            <a:gdLst/>
            <a:ahLst/>
            <a:cxnLst/>
            <a:rect l="l" t="t" r="r" b="b"/>
            <a:pathLst>
              <a:path w="13896606" h="6587599">
                <a:moveTo>
                  <a:pt x="0" y="0"/>
                </a:moveTo>
                <a:lnTo>
                  <a:pt x="13896606" y="0"/>
                </a:lnTo>
                <a:lnTo>
                  <a:pt x="13896606" y="6587598"/>
                </a:lnTo>
                <a:lnTo>
                  <a:pt x="0" y="6587598"/>
                </a:lnTo>
                <a:lnTo>
                  <a:pt x="0" y="0"/>
                </a:lnTo>
                <a:close/>
              </a:path>
            </a:pathLst>
          </a:custGeom>
          <a:blipFill>
            <a:blip r:embed="rId12"/>
            <a:stretch>
              <a:fillRect/>
            </a:stretch>
          </a:blipFill>
        </p:spPr>
      </p:sp>
      <p:sp>
        <p:nvSpPr>
          <p:cNvPr id="9" name="TextBox 9"/>
          <p:cNvSpPr txBox="1"/>
          <p:nvPr/>
        </p:nvSpPr>
        <p:spPr>
          <a:xfrm>
            <a:off x="1295400" y="495300"/>
            <a:ext cx="8010525" cy="880745"/>
          </a:xfrm>
          <a:prstGeom prst="rect">
            <a:avLst/>
          </a:prstGeom>
        </p:spPr>
        <p:txBody>
          <a:bodyPr wrap="square" lIns="0" tIns="0" rIns="0" bIns="0" rtlCol="0" anchor="t">
            <a:spAutoFit/>
          </a:bodyPr>
          <a:lstStyle/>
          <a:p>
            <a:pPr algn="r">
              <a:lnSpc>
                <a:spcPts val="6870"/>
              </a:lnSpc>
            </a:pPr>
            <a:r>
              <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rPr>
              <a:t>3. Kết quả nghiên cứu</a:t>
            </a:r>
            <a:endPar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p:txBody>
      </p:sp>
      <p:sp>
        <p:nvSpPr>
          <p:cNvPr id="10" name="TextBox 10"/>
          <p:cNvSpPr txBox="1"/>
          <p:nvPr/>
        </p:nvSpPr>
        <p:spPr>
          <a:xfrm>
            <a:off x="2195697" y="1538383"/>
            <a:ext cx="4354711" cy="533400"/>
          </a:xfrm>
          <a:prstGeom prst="rect">
            <a:avLst/>
          </a:prstGeom>
        </p:spPr>
        <p:txBody>
          <a:bodyPr lIns="0" tIns="0" rIns="0" bIns="0" rtlCol="0" anchor="t">
            <a:spAutoFit/>
          </a:bodyPr>
          <a:lstStyle/>
          <a:p>
            <a:pPr algn="ctr">
              <a:lnSpc>
                <a:spcPts val="4160"/>
              </a:lnSpc>
              <a:spcBef>
                <a:spcPct val="0"/>
              </a:spcBef>
            </a:pPr>
            <a:r>
              <a:rPr lang="en-US" sz="3200">
                <a:solidFill>
                  <a:srgbClr val="000000"/>
                </a:solidFill>
                <a:latin typeface="Calibri" panose="020F0502020204030204" charset="0"/>
                <a:ea typeface="Faustina" panose="00000500000000000000"/>
                <a:cs typeface="Calibri" panose="020F0502020204030204" charset="0"/>
                <a:sym typeface="Faustina" panose="00000500000000000000"/>
              </a:rPr>
              <a:t>Giao diện trang sản phẩm</a:t>
            </a:r>
            <a:endParaRPr lang="en-US" sz="3200">
              <a:solidFill>
                <a:srgbClr val="000000"/>
              </a:solidFill>
              <a:latin typeface="Calibri" panose="020F0502020204030204" charset="0"/>
              <a:ea typeface="Faustina" panose="00000500000000000000"/>
              <a:cs typeface="Calibri" panose="020F0502020204030204" charset="0"/>
              <a:sym typeface="Faustina" panose="0000050000000000000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38888" b="-38888"/>
            </a:stretch>
          </a:blipFill>
        </p:spPr>
      </p:sp>
      <p:sp>
        <p:nvSpPr>
          <p:cNvPr id="3" name="Freeform 3"/>
          <p:cNvSpPr/>
          <p:nvPr/>
        </p:nvSpPr>
        <p:spPr>
          <a:xfrm rot="-828669">
            <a:off x="17324261" y="6516732"/>
            <a:ext cx="1188994" cy="959843"/>
          </a:xfrm>
          <a:custGeom>
            <a:avLst/>
            <a:gdLst/>
            <a:ahLst/>
            <a:cxnLst/>
            <a:rect l="l" t="t" r="r" b="b"/>
            <a:pathLst>
              <a:path w="1188994" h="959843">
                <a:moveTo>
                  <a:pt x="0" y="0"/>
                </a:moveTo>
                <a:lnTo>
                  <a:pt x="1188995" y="0"/>
                </a:lnTo>
                <a:lnTo>
                  <a:pt x="1188995" y="959842"/>
                </a:lnTo>
                <a:lnTo>
                  <a:pt x="0" y="9598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7226882" y="5631024"/>
            <a:ext cx="935091" cy="897687"/>
          </a:xfrm>
          <a:custGeom>
            <a:avLst/>
            <a:gdLst/>
            <a:ahLst/>
            <a:cxnLst/>
            <a:rect l="l" t="t" r="r" b="b"/>
            <a:pathLst>
              <a:path w="935091" h="897687">
                <a:moveTo>
                  <a:pt x="0" y="0"/>
                </a:moveTo>
                <a:lnTo>
                  <a:pt x="935090" y="0"/>
                </a:lnTo>
                <a:lnTo>
                  <a:pt x="935090" y="897687"/>
                </a:lnTo>
                <a:lnTo>
                  <a:pt x="0" y="8976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273796" y="7417596"/>
            <a:ext cx="754904" cy="754904"/>
          </a:xfrm>
          <a:custGeom>
            <a:avLst/>
            <a:gdLst/>
            <a:ahLst/>
            <a:cxnLst/>
            <a:rect l="l" t="t" r="r" b="b"/>
            <a:pathLst>
              <a:path w="754904" h="754904">
                <a:moveTo>
                  <a:pt x="0" y="0"/>
                </a:moveTo>
                <a:lnTo>
                  <a:pt x="754904" y="0"/>
                </a:lnTo>
                <a:lnTo>
                  <a:pt x="754904" y="754904"/>
                </a:lnTo>
                <a:lnTo>
                  <a:pt x="0" y="7549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7427148">
            <a:off x="16077109" y="9121782"/>
            <a:ext cx="2364382" cy="1100513"/>
          </a:xfrm>
          <a:custGeom>
            <a:avLst/>
            <a:gdLst/>
            <a:ahLst/>
            <a:cxnLst/>
            <a:rect l="l" t="t" r="r" b="b"/>
            <a:pathLst>
              <a:path w="2364382" h="1100513">
                <a:moveTo>
                  <a:pt x="0" y="0"/>
                </a:moveTo>
                <a:lnTo>
                  <a:pt x="2364382" y="0"/>
                </a:lnTo>
                <a:lnTo>
                  <a:pt x="2364382" y="1100512"/>
                </a:lnTo>
                <a:lnTo>
                  <a:pt x="0" y="110051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1774760">
            <a:off x="73929" y="-334397"/>
            <a:ext cx="1909542" cy="1909542"/>
          </a:xfrm>
          <a:custGeom>
            <a:avLst/>
            <a:gdLst/>
            <a:ahLst/>
            <a:cxnLst/>
            <a:rect l="l" t="t" r="r" b="b"/>
            <a:pathLst>
              <a:path w="1909542" h="1909542">
                <a:moveTo>
                  <a:pt x="0" y="0"/>
                </a:moveTo>
                <a:lnTo>
                  <a:pt x="1909542" y="0"/>
                </a:lnTo>
                <a:lnTo>
                  <a:pt x="1909542" y="1909542"/>
                </a:lnTo>
                <a:lnTo>
                  <a:pt x="0" y="190954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2603952" y="2564543"/>
            <a:ext cx="13047678" cy="6220819"/>
          </a:xfrm>
          <a:custGeom>
            <a:avLst/>
            <a:gdLst/>
            <a:ahLst/>
            <a:cxnLst/>
            <a:rect l="l" t="t" r="r" b="b"/>
            <a:pathLst>
              <a:path w="13047678" h="6220819">
                <a:moveTo>
                  <a:pt x="0" y="0"/>
                </a:moveTo>
                <a:lnTo>
                  <a:pt x="13047678" y="0"/>
                </a:lnTo>
                <a:lnTo>
                  <a:pt x="13047678" y="6220819"/>
                </a:lnTo>
                <a:lnTo>
                  <a:pt x="0" y="6220819"/>
                </a:lnTo>
                <a:lnTo>
                  <a:pt x="0" y="0"/>
                </a:lnTo>
                <a:close/>
              </a:path>
            </a:pathLst>
          </a:custGeom>
          <a:blipFill>
            <a:blip r:embed="rId12"/>
            <a:stretch>
              <a:fillRect/>
            </a:stretch>
          </a:blipFill>
        </p:spPr>
      </p:sp>
      <p:sp>
        <p:nvSpPr>
          <p:cNvPr id="9" name="TextBox 9"/>
          <p:cNvSpPr txBox="1"/>
          <p:nvPr/>
        </p:nvSpPr>
        <p:spPr>
          <a:xfrm>
            <a:off x="1676400" y="419100"/>
            <a:ext cx="7753350" cy="880745"/>
          </a:xfrm>
          <a:prstGeom prst="rect">
            <a:avLst/>
          </a:prstGeom>
        </p:spPr>
        <p:txBody>
          <a:bodyPr wrap="square" lIns="0" tIns="0" rIns="0" bIns="0" rtlCol="0" anchor="t">
            <a:spAutoFit/>
          </a:bodyPr>
          <a:lstStyle/>
          <a:p>
            <a:pPr algn="r">
              <a:lnSpc>
                <a:spcPts val="6870"/>
              </a:lnSpc>
            </a:pPr>
            <a:r>
              <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rPr>
              <a:t>3. Kết quả nghiên cứu</a:t>
            </a:r>
            <a:endPar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p:txBody>
      </p:sp>
      <p:sp>
        <p:nvSpPr>
          <p:cNvPr id="10" name="TextBox 10"/>
          <p:cNvSpPr txBox="1"/>
          <p:nvPr/>
        </p:nvSpPr>
        <p:spPr>
          <a:xfrm>
            <a:off x="1549412" y="1538383"/>
            <a:ext cx="7049620" cy="533400"/>
          </a:xfrm>
          <a:prstGeom prst="rect">
            <a:avLst/>
          </a:prstGeom>
        </p:spPr>
        <p:txBody>
          <a:bodyPr lIns="0" tIns="0" rIns="0" bIns="0" rtlCol="0" anchor="t">
            <a:spAutoFit/>
          </a:bodyPr>
          <a:lstStyle/>
          <a:p>
            <a:pPr algn="ctr">
              <a:lnSpc>
                <a:spcPts val="4160"/>
              </a:lnSpc>
              <a:spcBef>
                <a:spcPct val="0"/>
              </a:spcBef>
            </a:pPr>
            <a:r>
              <a:rPr lang="en-US" sz="3200">
                <a:solidFill>
                  <a:srgbClr val="000000"/>
                </a:solidFill>
                <a:latin typeface="Calibri" panose="020F0502020204030204" charset="0"/>
                <a:ea typeface="Faustina" panose="00000500000000000000"/>
                <a:cs typeface="Calibri" panose="020F0502020204030204" charset="0"/>
                <a:sym typeface="Faustina" panose="00000500000000000000"/>
              </a:rPr>
              <a:t>Giao diện trang chi tiết sản phẩm</a:t>
            </a:r>
            <a:endParaRPr lang="en-US" sz="3200">
              <a:solidFill>
                <a:srgbClr val="000000"/>
              </a:solidFill>
              <a:latin typeface="Calibri" panose="020F0502020204030204" charset="0"/>
              <a:ea typeface="Faustina" panose="00000500000000000000"/>
              <a:cs typeface="Calibri" panose="020F0502020204030204" charset="0"/>
              <a:sym typeface="Faustina" panose="0000050000000000000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38888" b="-38888"/>
            </a:stretch>
          </a:blipFill>
        </p:spPr>
      </p:sp>
      <p:sp>
        <p:nvSpPr>
          <p:cNvPr id="3" name="Freeform 3"/>
          <p:cNvSpPr/>
          <p:nvPr/>
        </p:nvSpPr>
        <p:spPr>
          <a:xfrm rot="-828669">
            <a:off x="17324261" y="6516732"/>
            <a:ext cx="1188994" cy="959843"/>
          </a:xfrm>
          <a:custGeom>
            <a:avLst/>
            <a:gdLst/>
            <a:ahLst/>
            <a:cxnLst/>
            <a:rect l="l" t="t" r="r" b="b"/>
            <a:pathLst>
              <a:path w="1188994" h="959843">
                <a:moveTo>
                  <a:pt x="0" y="0"/>
                </a:moveTo>
                <a:lnTo>
                  <a:pt x="1188995" y="0"/>
                </a:lnTo>
                <a:lnTo>
                  <a:pt x="1188995" y="959842"/>
                </a:lnTo>
                <a:lnTo>
                  <a:pt x="0" y="9598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7226882" y="5631024"/>
            <a:ext cx="935091" cy="897687"/>
          </a:xfrm>
          <a:custGeom>
            <a:avLst/>
            <a:gdLst/>
            <a:ahLst/>
            <a:cxnLst/>
            <a:rect l="l" t="t" r="r" b="b"/>
            <a:pathLst>
              <a:path w="935091" h="897687">
                <a:moveTo>
                  <a:pt x="0" y="0"/>
                </a:moveTo>
                <a:lnTo>
                  <a:pt x="935090" y="0"/>
                </a:lnTo>
                <a:lnTo>
                  <a:pt x="935090" y="897687"/>
                </a:lnTo>
                <a:lnTo>
                  <a:pt x="0" y="8976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273796" y="7417596"/>
            <a:ext cx="754904" cy="754904"/>
          </a:xfrm>
          <a:custGeom>
            <a:avLst/>
            <a:gdLst/>
            <a:ahLst/>
            <a:cxnLst/>
            <a:rect l="l" t="t" r="r" b="b"/>
            <a:pathLst>
              <a:path w="754904" h="754904">
                <a:moveTo>
                  <a:pt x="0" y="0"/>
                </a:moveTo>
                <a:lnTo>
                  <a:pt x="754904" y="0"/>
                </a:lnTo>
                <a:lnTo>
                  <a:pt x="754904" y="754904"/>
                </a:lnTo>
                <a:lnTo>
                  <a:pt x="0" y="7549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7427148">
            <a:off x="16077109" y="9121782"/>
            <a:ext cx="2364382" cy="1100513"/>
          </a:xfrm>
          <a:custGeom>
            <a:avLst/>
            <a:gdLst/>
            <a:ahLst/>
            <a:cxnLst/>
            <a:rect l="l" t="t" r="r" b="b"/>
            <a:pathLst>
              <a:path w="2364382" h="1100513">
                <a:moveTo>
                  <a:pt x="0" y="0"/>
                </a:moveTo>
                <a:lnTo>
                  <a:pt x="2364382" y="0"/>
                </a:lnTo>
                <a:lnTo>
                  <a:pt x="2364382" y="1100512"/>
                </a:lnTo>
                <a:lnTo>
                  <a:pt x="0" y="110051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1774760">
            <a:off x="73929" y="-334397"/>
            <a:ext cx="1909542" cy="1909542"/>
          </a:xfrm>
          <a:custGeom>
            <a:avLst/>
            <a:gdLst/>
            <a:ahLst/>
            <a:cxnLst/>
            <a:rect l="l" t="t" r="r" b="b"/>
            <a:pathLst>
              <a:path w="1909542" h="1909542">
                <a:moveTo>
                  <a:pt x="0" y="0"/>
                </a:moveTo>
                <a:lnTo>
                  <a:pt x="1909542" y="0"/>
                </a:lnTo>
                <a:lnTo>
                  <a:pt x="1909542" y="1909542"/>
                </a:lnTo>
                <a:lnTo>
                  <a:pt x="0" y="190954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2578336" y="2563390"/>
            <a:ext cx="13131328" cy="6237381"/>
          </a:xfrm>
          <a:custGeom>
            <a:avLst/>
            <a:gdLst/>
            <a:ahLst/>
            <a:cxnLst/>
            <a:rect l="l" t="t" r="r" b="b"/>
            <a:pathLst>
              <a:path w="13131328" h="6237381">
                <a:moveTo>
                  <a:pt x="0" y="0"/>
                </a:moveTo>
                <a:lnTo>
                  <a:pt x="13131328" y="0"/>
                </a:lnTo>
                <a:lnTo>
                  <a:pt x="13131328" y="6237380"/>
                </a:lnTo>
                <a:lnTo>
                  <a:pt x="0" y="6237380"/>
                </a:lnTo>
                <a:lnTo>
                  <a:pt x="0" y="0"/>
                </a:lnTo>
                <a:close/>
              </a:path>
            </a:pathLst>
          </a:custGeom>
          <a:blipFill>
            <a:blip r:embed="rId12"/>
            <a:stretch>
              <a:fillRect/>
            </a:stretch>
          </a:blipFill>
        </p:spPr>
      </p:sp>
      <p:sp>
        <p:nvSpPr>
          <p:cNvPr id="9" name="TextBox 9"/>
          <p:cNvSpPr txBox="1"/>
          <p:nvPr/>
        </p:nvSpPr>
        <p:spPr>
          <a:xfrm>
            <a:off x="1676400" y="419100"/>
            <a:ext cx="7861300" cy="880745"/>
          </a:xfrm>
          <a:prstGeom prst="rect">
            <a:avLst/>
          </a:prstGeom>
        </p:spPr>
        <p:txBody>
          <a:bodyPr wrap="square" lIns="0" tIns="0" rIns="0" bIns="0" rtlCol="0" anchor="t">
            <a:spAutoFit/>
          </a:bodyPr>
          <a:lstStyle/>
          <a:p>
            <a:pPr algn="r">
              <a:lnSpc>
                <a:spcPts val="6870"/>
              </a:lnSpc>
            </a:pPr>
            <a:r>
              <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rPr>
              <a:t>3. Kết quả nghiên cứu</a:t>
            </a:r>
            <a:endPar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p:txBody>
      </p:sp>
      <p:sp>
        <p:nvSpPr>
          <p:cNvPr id="10" name="TextBox 10"/>
          <p:cNvSpPr txBox="1"/>
          <p:nvPr/>
        </p:nvSpPr>
        <p:spPr>
          <a:xfrm>
            <a:off x="1929156" y="1538383"/>
            <a:ext cx="4297442" cy="533400"/>
          </a:xfrm>
          <a:prstGeom prst="rect">
            <a:avLst/>
          </a:prstGeom>
        </p:spPr>
        <p:txBody>
          <a:bodyPr lIns="0" tIns="0" rIns="0" bIns="0" rtlCol="0" anchor="t">
            <a:spAutoFit/>
          </a:bodyPr>
          <a:lstStyle/>
          <a:p>
            <a:pPr algn="ctr">
              <a:lnSpc>
                <a:spcPts val="4160"/>
              </a:lnSpc>
              <a:spcBef>
                <a:spcPct val="0"/>
              </a:spcBef>
            </a:pPr>
            <a:r>
              <a:rPr lang="en-US" sz="3200">
                <a:solidFill>
                  <a:srgbClr val="000000"/>
                </a:solidFill>
                <a:latin typeface="Calibri" panose="020F0502020204030204" charset="0"/>
                <a:ea typeface="Faustina" panose="00000500000000000000"/>
                <a:cs typeface="Calibri" panose="020F0502020204030204" charset="0"/>
                <a:sym typeface="Faustina" panose="00000500000000000000"/>
              </a:rPr>
              <a:t>Giao diện trang giới thiệu</a:t>
            </a:r>
            <a:endParaRPr lang="en-US" sz="3200">
              <a:solidFill>
                <a:srgbClr val="000000"/>
              </a:solidFill>
              <a:latin typeface="Calibri" panose="020F0502020204030204" charset="0"/>
              <a:ea typeface="Faustina" panose="00000500000000000000"/>
              <a:cs typeface="Calibri" panose="020F0502020204030204" charset="0"/>
              <a:sym typeface="Faustina" panose="0000050000000000000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38888" b="-38888"/>
            </a:stretch>
          </a:blipFill>
        </p:spPr>
      </p:sp>
      <p:sp>
        <p:nvSpPr>
          <p:cNvPr id="3" name="Freeform 3"/>
          <p:cNvSpPr/>
          <p:nvPr/>
        </p:nvSpPr>
        <p:spPr>
          <a:xfrm rot="-828669">
            <a:off x="17324261" y="6516732"/>
            <a:ext cx="1188994" cy="959843"/>
          </a:xfrm>
          <a:custGeom>
            <a:avLst/>
            <a:gdLst/>
            <a:ahLst/>
            <a:cxnLst/>
            <a:rect l="l" t="t" r="r" b="b"/>
            <a:pathLst>
              <a:path w="1188994" h="959843">
                <a:moveTo>
                  <a:pt x="0" y="0"/>
                </a:moveTo>
                <a:lnTo>
                  <a:pt x="1188995" y="0"/>
                </a:lnTo>
                <a:lnTo>
                  <a:pt x="1188995" y="959842"/>
                </a:lnTo>
                <a:lnTo>
                  <a:pt x="0" y="9598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7226882" y="5631024"/>
            <a:ext cx="935091" cy="897687"/>
          </a:xfrm>
          <a:custGeom>
            <a:avLst/>
            <a:gdLst/>
            <a:ahLst/>
            <a:cxnLst/>
            <a:rect l="l" t="t" r="r" b="b"/>
            <a:pathLst>
              <a:path w="935091" h="897687">
                <a:moveTo>
                  <a:pt x="0" y="0"/>
                </a:moveTo>
                <a:lnTo>
                  <a:pt x="935090" y="0"/>
                </a:lnTo>
                <a:lnTo>
                  <a:pt x="935090" y="897687"/>
                </a:lnTo>
                <a:lnTo>
                  <a:pt x="0" y="8976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273796" y="7417596"/>
            <a:ext cx="754904" cy="754904"/>
          </a:xfrm>
          <a:custGeom>
            <a:avLst/>
            <a:gdLst/>
            <a:ahLst/>
            <a:cxnLst/>
            <a:rect l="l" t="t" r="r" b="b"/>
            <a:pathLst>
              <a:path w="754904" h="754904">
                <a:moveTo>
                  <a:pt x="0" y="0"/>
                </a:moveTo>
                <a:lnTo>
                  <a:pt x="754904" y="0"/>
                </a:lnTo>
                <a:lnTo>
                  <a:pt x="754904" y="754904"/>
                </a:lnTo>
                <a:lnTo>
                  <a:pt x="0" y="7549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7427148">
            <a:off x="16077109" y="9121782"/>
            <a:ext cx="2364382" cy="1100513"/>
          </a:xfrm>
          <a:custGeom>
            <a:avLst/>
            <a:gdLst/>
            <a:ahLst/>
            <a:cxnLst/>
            <a:rect l="l" t="t" r="r" b="b"/>
            <a:pathLst>
              <a:path w="2364382" h="1100513">
                <a:moveTo>
                  <a:pt x="0" y="0"/>
                </a:moveTo>
                <a:lnTo>
                  <a:pt x="2364382" y="0"/>
                </a:lnTo>
                <a:lnTo>
                  <a:pt x="2364382" y="1100512"/>
                </a:lnTo>
                <a:lnTo>
                  <a:pt x="0" y="110051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1774760">
            <a:off x="73929" y="-334397"/>
            <a:ext cx="1909542" cy="1909542"/>
          </a:xfrm>
          <a:custGeom>
            <a:avLst/>
            <a:gdLst/>
            <a:ahLst/>
            <a:cxnLst/>
            <a:rect l="l" t="t" r="r" b="b"/>
            <a:pathLst>
              <a:path w="1909542" h="1909542">
                <a:moveTo>
                  <a:pt x="0" y="0"/>
                </a:moveTo>
                <a:lnTo>
                  <a:pt x="1909542" y="0"/>
                </a:lnTo>
                <a:lnTo>
                  <a:pt x="1909542" y="1909542"/>
                </a:lnTo>
                <a:lnTo>
                  <a:pt x="0" y="190954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2405949" y="2438872"/>
            <a:ext cx="13476103" cy="6384304"/>
          </a:xfrm>
          <a:custGeom>
            <a:avLst/>
            <a:gdLst/>
            <a:ahLst/>
            <a:cxnLst/>
            <a:rect l="l" t="t" r="r" b="b"/>
            <a:pathLst>
              <a:path w="13476103" h="6384304">
                <a:moveTo>
                  <a:pt x="0" y="0"/>
                </a:moveTo>
                <a:lnTo>
                  <a:pt x="13476102" y="0"/>
                </a:lnTo>
                <a:lnTo>
                  <a:pt x="13476102" y="6384304"/>
                </a:lnTo>
                <a:lnTo>
                  <a:pt x="0" y="6384304"/>
                </a:lnTo>
                <a:lnTo>
                  <a:pt x="0" y="0"/>
                </a:lnTo>
                <a:close/>
              </a:path>
            </a:pathLst>
          </a:custGeom>
          <a:blipFill>
            <a:blip r:embed="rId12"/>
            <a:stretch>
              <a:fillRect/>
            </a:stretch>
          </a:blipFill>
        </p:spPr>
      </p:sp>
      <p:sp>
        <p:nvSpPr>
          <p:cNvPr id="9" name="TextBox 9"/>
          <p:cNvSpPr txBox="1"/>
          <p:nvPr/>
        </p:nvSpPr>
        <p:spPr>
          <a:xfrm>
            <a:off x="1600200" y="495300"/>
            <a:ext cx="7600315" cy="880745"/>
          </a:xfrm>
          <a:prstGeom prst="rect">
            <a:avLst/>
          </a:prstGeom>
        </p:spPr>
        <p:txBody>
          <a:bodyPr wrap="square" lIns="0" tIns="0" rIns="0" bIns="0" rtlCol="0" anchor="t">
            <a:spAutoFit/>
          </a:bodyPr>
          <a:lstStyle/>
          <a:p>
            <a:pPr algn="r">
              <a:lnSpc>
                <a:spcPts val="6870"/>
              </a:lnSpc>
            </a:pPr>
            <a:r>
              <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rPr>
              <a:t>3. Kết quả nghiên cứu</a:t>
            </a:r>
            <a:endPar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p:txBody>
      </p:sp>
      <p:sp>
        <p:nvSpPr>
          <p:cNvPr id="10" name="TextBox 10"/>
          <p:cNvSpPr txBox="1"/>
          <p:nvPr/>
        </p:nvSpPr>
        <p:spPr>
          <a:xfrm>
            <a:off x="2155494" y="1538383"/>
            <a:ext cx="3844766" cy="533400"/>
          </a:xfrm>
          <a:prstGeom prst="rect">
            <a:avLst/>
          </a:prstGeom>
        </p:spPr>
        <p:txBody>
          <a:bodyPr lIns="0" tIns="0" rIns="0" bIns="0" rtlCol="0" anchor="t">
            <a:spAutoFit/>
          </a:bodyPr>
          <a:lstStyle/>
          <a:p>
            <a:pPr algn="ctr">
              <a:lnSpc>
                <a:spcPts val="4160"/>
              </a:lnSpc>
              <a:spcBef>
                <a:spcPct val="0"/>
              </a:spcBef>
            </a:pPr>
            <a:r>
              <a:rPr lang="en-US" sz="3200">
                <a:solidFill>
                  <a:srgbClr val="000000"/>
                </a:solidFill>
                <a:latin typeface="Calibri" panose="020F0502020204030204" charset="0"/>
                <a:ea typeface="Faustina" panose="00000500000000000000"/>
                <a:cs typeface="Calibri" panose="020F0502020204030204" charset="0"/>
                <a:sym typeface="Faustina" panose="00000500000000000000"/>
              </a:rPr>
              <a:t>Giao diện trang liên hệ</a:t>
            </a:r>
            <a:endParaRPr lang="en-US" sz="3200">
              <a:solidFill>
                <a:srgbClr val="000000"/>
              </a:solidFill>
              <a:latin typeface="Calibri" panose="020F0502020204030204" charset="0"/>
              <a:ea typeface="Faustina" panose="00000500000000000000"/>
              <a:cs typeface="Calibri" panose="020F0502020204030204" charset="0"/>
              <a:sym typeface="Faustina" panose="0000050000000000000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38888" b="-38888"/>
            </a:stretch>
          </a:blipFill>
        </p:spPr>
      </p:sp>
      <p:sp>
        <p:nvSpPr>
          <p:cNvPr id="3" name="Freeform 3"/>
          <p:cNvSpPr/>
          <p:nvPr/>
        </p:nvSpPr>
        <p:spPr>
          <a:xfrm rot="-828669">
            <a:off x="17324261" y="6516732"/>
            <a:ext cx="1188994" cy="959843"/>
          </a:xfrm>
          <a:custGeom>
            <a:avLst/>
            <a:gdLst/>
            <a:ahLst/>
            <a:cxnLst/>
            <a:rect l="l" t="t" r="r" b="b"/>
            <a:pathLst>
              <a:path w="1188994" h="959843">
                <a:moveTo>
                  <a:pt x="0" y="0"/>
                </a:moveTo>
                <a:lnTo>
                  <a:pt x="1188995" y="0"/>
                </a:lnTo>
                <a:lnTo>
                  <a:pt x="1188995" y="959842"/>
                </a:lnTo>
                <a:lnTo>
                  <a:pt x="0" y="9598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7226882" y="5631024"/>
            <a:ext cx="935091" cy="897687"/>
          </a:xfrm>
          <a:custGeom>
            <a:avLst/>
            <a:gdLst/>
            <a:ahLst/>
            <a:cxnLst/>
            <a:rect l="l" t="t" r="r" b="b"/>
            <a:pathLst>
              <a:path w="935091" h="897687">
                <a:moveTo>
                  <a:pt x="0" y="0"/>
                </a:moveTo>
                <a:lnTo>
                  <a:pt x="935090" y="0"/>
                </a:lnTo>
                <a:lnTo>
                  <a:pt x="935090" y="897687"/>
                </a:lnTo>
                <a:lnTo>
                  <a:pt x="0" y="8976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273796" y="7417596"/>
            <a:ext cx="754904" cy="754904"/>
          </a:xfrm>
          <a:custGeom>
            <a:avLst/>
            <a:gdLst/>
            <a:ahLst/>
            <a:cxnLst/>
            <a:rect l="l" t="t" r="r" b="b"/>
            <a:pathLst>
              <a:path w="754904" h="754904">
                <a:moveTo>
                  <a:pt x="0" y="0"/>
                </a:moveTo>
                <a:lnTo>
                  <a:pt x="754904" y="0"/>
                </a:lnTo>
                <a:lnTo>
                  <a:pt x="754904" y="754904"/>
                </a:lnTo>
                <a:lnTo>
                  <a:pt x="0" y="7549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7427148">
            <a:off x="16077109" y="9121782"/>
            <a:ext cx="2364382" cy="1100513"/>
          </a:xfrm>
          <a:custGeom>
            <a:avLst/>
            <a:gdLst/>
            <a:ahLst/>
            <a:cxnLst/>
            <a:rect l="l" t="t" r="r" b="b"/>
            <a:pathLst>
              <a:path w="2364382" h="1100513">
                <a:moveTo>
                  <a:pt x="0" y="0"/>
                </a:moveTo>
                <a:lnTo>
                  <a:pt x="2364382" y="0"/>
                </a:lnTo>
                <a:lnTo>
                  <a:pt x="2364382" y="1100512"/>
                </a:lnTo>
                <a:lnTo>
                  <a:pt x="0" y="110051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1774760">
            <a:off x="73929" y="-334397"/>
            <a:ext cx="1909542" cy="1909542"/>
          </a:xfrm>
          <a:custGeom>
            <a:avLst/>
            <a:gdLst/>
            <a:ahLst/>
            <a:cxnLst/>
            <a:rect l="l" t="t" r="r" b="b"/>
            <a:pathLst>
              <a:path w="1909542" h="1909542">
                <a:moveTo>
                  <a:pt x="0" y="0"/>
                </a:moveTo>
                <a:lnTo>
                  <a:pt x="1909542" y="0"/>
                </a:lnTo>
                <a:lnTo>
                  <a:pt x="1909542" y="1909542"/>
                </a:lnTo>
                <a:lnTo>
                  <a:pt x="0" y="190954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2719076" y="2523793"/>
            <a:ext cx="13117596" cy="6214461"/>
          </a:xfrm>
          <a:custGeom>
            <a:avLst/>
            <a:gdLst/>
            <a:ahLst/>
            <a:cxnLst/>
            <a:rect l="l" t="t" r="r" b="b"/>
            <a:pathLst>
              <a:path w="13117596" h="6214461">
                <a:moveTo>
                  <a:pt x="0" y="0"/>
                </a:moveTo>
                <a:lnTo>
                  <a:pt x="13117596" y="0"/>
                </a:lnTo>
                <a:lnTo>
                  <a:pt x="13117596" y="6214461"/>
                </a:lnTo>
                <a:lnTo>
                  <a:pt x="0" y="6214461"/>
                </a:lnTo>
                <a:lnTo>
                  <a:pt x="0" y="0"/>
                </a:lnTo>
                <a:close/>
              </a:path>
            </a:pathLst>
          </a:custGeom>
          <a:blipFill>
            <a:blip r:embed="rId12"/>
            <a:stretch>
              <a:fillRect/>
            </a:stretch>
          </a:blipFill>
        </p:spPr>
      </p:sp>
      <p:sp>
        <p:nvSpPr>
          <p:cNvPr id="9" name="TextBox 9"/>
          <p:cNvSpPr txBox="1"/>
          <p:nvPr/>
        </p:nvSpPr>
        <p:spPr>
          <a:xfrm>
            <a:off x="1371600" y="495300"/>
            <a:ext cx="7905750" cy="880745"/>
          </a:xfrm>
          <a:prstGeom prst="rect">
            <a:avLst/>
          </a:prstGeom>
        </p:spPr>
        <p:txBody>
          <a:bodyPr wrap="square" lIns="0" tIns="0" rIns="0" bIns="0" rtlCol="0" anchor="t">
            <a:spAutoFit/>
          </a:bodyPr>
          <a:lstStyle/>
          <a:p>
            <a:pPr algn="r">
              <a:lnSpc>
                <a:spcPts val="6870"/>
              </a:lnSpc>
            </a:pPr>
            <a:r>
              <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rPr>
              <a:t>3. Kết quả nghiên cứu</a:t>
            </a:r>
            <a:endPar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p:txBody>
      </p:sp>
      <p:sp>
        <p:nvSpPr>
          <p:cNvPr id="10" name="TextBox 10"/>
          <p:cNvSpPr txBox="1"/>
          <p:nvPr/>
        </p:nvSpPr>
        <p:spPr>
          <a:xfrm>
            <a:off x="2017144" y="1538383"/>
            <a:ext cx="4121468" cy="533400"/>
          </a:xfrm>
          <a:prstGeom prst="rect">
            <a:avLst/>
          </a:prstGeom>
        </p:spPr>
        <p:txBody>
          <a:bodyPr lIns="0" tIns="0" rIns="0" bIns="0" rtlCol="0" anchor="t">
            <a:spAutoFit/>
          </a:bodyPr>
          <a:lstStyle/>
          <a:p>
            <a:pPr algn="ctr">
              <a:lnSpc>
                <a:spcPts val="4160"/>
              </a:lnSpc>
              <a:spcBef>
                <a:spcPct val="0"/>
              </a:spcBef>
            </a:pPr>
            <a:r>
              <a:rPr lang="en-US" sz="3200">
                <a:solidFill>
                  <a:srgbClr val="000000"/>
                </a:solidFill>
                <a:latin typeface="Calibri" panose="020F0502020204030204" charset="0"/>
                <a:ea typeface="Faustina" panose="00000500000000000000"/>
                <a:cs typeface="Calibri" panose="020F0502020204030204" charset="0"/>
                <a:sym typeface="Faustina" panose="00000500000000000000"/>
              </a:rPr>
              <a:t>Giao diện trang giỏ hàng</a:t>
            </a:r>
            <a:endParaRPr lang="en-US" sz="3200">
              <a:solidFill>
                <a:srgbClr val="000000"/>
              </a:solidFill>
              <a:latin typeface="Calibri" panose="020F0502020204030204" charset="0"/>
              <a:ea typeface="Faustina" panose="00000500000000000000"/>
              <a:cs typeface="Calibri" panose="020F0502020204030204" charset="0"/>
              <a:sym typeface="Faustina" panose="0000050000000000000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38888" b="-38888"/>
            </a:stretch>
          </a:blipFill>
        </p:spPr>
      </p:sp>
      <p:sp>
        <p:nvSpPr>
          <p:cNvPr id="3" name="Freeform 3"/>
          <p:cNvSpPr/>
          <p:nvPr/>
        </p:nvSpPr>
        <p:spPr>
          <a:xfrm>
            <a:off x="-235811" y="7517987"/>
            <a:ext cx="754904" cy="754904"/>
          </a:xfrm>
          <a:custGeom>
            <a:avLst/>
            <a:gdLst/>
            <a:ahLst/>
            <a:cxnLst/>
            <a:rect l="l" t="t" r="r" b="b"/>
            <a:pathLst>
              <a:path w="754904" h="754904">
                <a:moveTo>
                  <a:pt x="0" y="0"/>
                </a:moveTo>
                <a:lnTo>
                  <a:pt x="754904" y="0"/>
                </a:lnTo>
                <a:lnTo>
                  <a:pt x="754904" y="754904"/>
                </a:lnTo>
                <a:lnTo>
                  <a:pt x="0" y="7549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1774760">
            <a:off x="73929" y="-334397"/>
            <a:ext cx="1909542" cy="1909542"/>
          </a:xfrm>
          <a:custGeom>
            <a:avLst/>
            <a:gdLst/>
            <a:ahLst/>
            <a:cxnLst/>
            <a:rect l="l" t="t" r="r" b="b"/>
            <a:pathLst>
              <a:path w="1909542" h="1909542">
                <a:moveTo>
                  <a:pt x="0" y="0"/>
                </a:moveTo>
                <a:lnTo>
                  <a:pt x="1909542" y="0"/>
                </a:lnTo>
                <a:lnTo>
                  <a:pt x="1909542" y="1909542"/>
                </a:lnTo>
                <a:lnTo>
                  <a:pt x="0" y="190954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827504" y="1960798"/>
            <a:ext cx="8258116" cy="3929622"/>
          </a:xfrm>
          <a:custGeom>
            <a:avLst/>
            <a:gdLst/>
            <a:ahLst/>
            <a:cxnLst/>
            <a:rect l="l" t="t" r="r" b="b"/>
            <a:pathLst>
              <a:path w="8258116" h="3929622">
                <a:moveTo>
                  <a:pt x="0" y="0"/>
                </a:moveTo>
                <a:lnTo>
                  <a:pt x="8258116" y="0"/>
                </a:lnTo>
                <a:lnTo>
                  <a:pt x="8258116" y="3929622"/>
                </a:lnTo>
                <a:lnTo>
                  <a:pt x="0" y="3929622"/>
                </a:lnTo>
                <a:lnTo>
                  <a:pt x="0" y="0"/>
                </a:lnTo>
                <a:close/>
              </a:path>
            </a:pathLst>
          </a:custGeom>
          <a:blipFill>
            <a:blip r:embed="rId6"/>
            <a:stretch>
              <a:fillRect/>
            </a:stretch>
          </a:blipFill>
        </p:spPr>
      </p:sp>
      <p:sp>
        <p:nvSpPr>
          <p:cNvPr id="6" name="Freeform 6"/>
          <p:cNvSpPr/>
          <p:nvPr/>
        </p:nvSpPr>
        <p:spPr>
          <a:xfrm>
            <a:off x="852468" y="5929203"/>
            <a:ext cx="8233151" cy="3932471"/>
          </a:xfrm>
          <a:custGeom>
            <a:avLst/>
            <a:gdLst/>
            <a:ahLst/>
            <a:cxnLst/>
            <a:rect l="l" t="t" r="r" b="b"/>
            <a:pathLst>
              <a:path w="8233151" h="3932471">
                <a:moveTo>
                  <a:pt x="0" y="0"/>
                </a:moveTo>
                <a:lnTo>
                  <a:pt x="8233152" y="0"/>
                </a:lnTo>
                <a:lnTo>
                  <a:pt x="8233152" y="3932472"/>
                </a:lnTo>
                <a:lnTo>
                  <a:pt x="0" y="3932472"/>
                </a:lnTo>
                <a:lnTo>
                  <a:pt x="0" y="0"/>
                </a:lnTo>
                <a:close/>
              </a:path>
            </a:pathLst>
          </a:custGeom>
          <a:blipFill>
            <a:blip r:embed="rId7"/>
            <a:stretch>
              <a:fillRect/>
            </a:stretch>
          </a:blipFill>
        </p:spPr>
      </p:sp>
      <p:sp>
        <p:nvSpPr>
          <p:cNvPr id="7" name="Freeform 7"/>
          <p:cNvSpPr/>
          <p:nvPr/>
        </p:nvSpPr>
        <p:spPr>
          <a:xfrm>
            <a:off x="9423178" y="1922015"/>
            <a:ext cx="8258116" cy="3925989"/>
          </a:xfrm>
          <a:custGeom>
            <a:avLst/>
            <a:gdLst/>
            <a:ahLst/>
            <a:cxnLst/>
            <a:rect l="l" t="t" r="r" b="b"/>
            <a:pathLst>
              <a:path w="8258116" h="3925989">
                <a:moveTo>
                  <a:pt x="0" y="0"/>
                </a:moveTo>
                <a:lnTo>
                  <a:pt x="8258115" y="0"/>
                </a:lnTo>
                <a:lnTo>
                  <a:pt x="8258115" y="3925989"/>
                </a:lnTo>
                <a:lnTo>
                  <a:pt x="0" y="3925989"/>
                </a:lnTo>
                <a:lnTo>
                  <a:pt x="0" y="0"/>
                </a:lnTo>
                <a:close/>
              </a:path>
            </a:pathLst>
          </a:custGeom>
          <a:blipFill>
            <a:blip r:embed="rId8"/>
            <a:stretch>
              <a:fillRect/>
            </a:stretch>
          </a:blipFill>
        </p:spPr>
      </p:sp>
      <p:sp>
        <p:nvSpPr>
          <p:cNvPr id="8" name="Freeform 8"/>
          <p:cNvSpPr/>
          <p:nvPr/>
        </p:nvSpPr>
        <p:spPr>
          <a:xfrm>
            <a:off x="9423178" y="5929203"/>
            <a:ext cx="8271249" cy="3932471"/>
          </a:xfrm>
          <a:custGeom>
            <a:avLst/>
            <a:gdLst/>
            <a:ahLst/>
            <a:cxnLst/>
            <a:rect l="l" t="t" r="r" b="b"/>
            <a:pathLst>
              <a:path w="8271249" h="3932471">
                <a:moveTo>
                  <a:pt x="0" y="0"/>
                </a:moveTo>
                <a:lnTo>
                  <a:pt x="8271249" y="0"/>
                </a:lnTo>
                <a:lnTo>
                  <a:pt x="8271249" y="3932472"/>
                </a:lnTo>
                <a:lnTo>
                  <a:pt x="0" y="3932472"/>
                </a:lnTo>
                <a:lnTo>
                  <a:pt x="0" y="0"/>
                </a:lnTo>
                <a:close/>
              </a:path>
            </a:pathLst>
          </a:custGeom>
          <a:blipFill>
            <a:blip r:embed="rId9"/>
            <a:stretch>
              <a:fillRect/>
            </a:stretch>
          </a:blipFill>
        </p:spPr>
      </p:sp>
      <p:sp>
        <p:nvSpPr>
          <p:cNvPr id="9" name="TextBox 9"/>
          <p:cNvSpPr txBox="1"/>
          <p:nvPr/>
        </p:nvSpPr>
        <p:spPr>
          <a:xfrm>
            <a:off x="1640205" y="186690"/>
            <a:ext cx="7478395" cy="880745"/>
          </a:xfrm>
          <a:prstGeom prst="rect">
            <a:avLst/>
          </a:prstGeom>
        </p:spPr>
        <p:txBody>
          <a:bodyPr wrap="square" lIns="0" tIns="0" rIns="0" bIns="0" rtlCol="0" anchor="t">
            <a:spAutoFit/>
          </a:bodyPr>
          <a:lstStyle/>
          <a:p>
            <a:pPr algn="r">
              <a:lnSpc>
                <a:spcPts val="6870"/>
              </a:lnSpc>
            </a:pPr>
            <a:r>
              <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rPr>
              <a:t>3. Kết quả nghiên cứu</a:t>
            </a:r>
            <a:endPar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p:txBody>
      </p:sp>
      <p:sp>
        <p:nvSpPr>
          <p:cNvPr id="10" name="TextBox 10"/>
          <p:cNvSpPr txBox="1"/>
          <p:nvPr/>
        </p:nvSpPr>
        <p:spPr>
          <a:xfrm>
            <a:off x="2222262" y="1237087"/>
            <a:ext cx="6863358" cy="533400"/>
          </a:xfrm>
          <a:prstGeom prst="rect">
            <a:avLst/>
          </a:prstGeom>
        </p:spPr>
        <p:txBody>
          <a:bodyPr lIns="0" tIns="0" rIns="0" bIns="0" rtlCol="0" anchor="t">
            <a:spAutoFit/>
          </a:bodyPr>
          <a:lstStyle/>
          <a:p>
            <a:pPr algn="ctr">
              <a:lnSpc>
                <a:spcPts val="4160"/>
              </a:lnSpc>
              <a:spcBef>
                <a:spcPct val="0"/>
              </a:spcBef>
            </a:pPr>
            <a:r>
              <a:rPr lang="en-US" sz="3200">
                <a:solidFill>
                  <a:srgbClr val="000000"/>
                </a:solidFill>
                <a:latin typeface="Calibri" panose="020F0502020204030204" charset="0"/>
                <a:ea typeface="Faustina" panose="00000500000000000000"/>
                <a:cs typeface="Calibri" panose="020F0502020204030204" charset="0"/>
                <a:sym typeface="Faustina" panose="00000500000000000000"/>
              </a:rPr>
              <a:t>Giao diện trang quản lý của quản trị viên</a:t>
            </a:r>
            <a:endParaRPr lang="en-US" sz="3200">
              <a:solidFill>
                <a:srgbClr val="000000"/>
              </a:solidFill>
              <a:latin typeface="Calibri" panose="020F0502020204030204" charset="0"/>
              <a:ea typeface="Faustina" panose="00000500000000000000"/>
              <a:cs typeface="Calibri" panose="020F0502020204030204" charset="0"/>
              <a:sym typeface="Faustina" panose="00000500000000000000"/>
            </a:endParaRPr>
          </a:p>
        </p:txBody>
      </p:sp>
      <p:sp>
        <p:nvSpPr>
          <p:cNvPr id="11" name="Freeform 11"/>
          <p:cNvSpPr/>
          <p:nvPr/>
        </p:nvSpPr>
        <p:spPr>
          <a:xfrm rot="7427148">
            <a:off x="16896086" y="9277546"/>
            <a:ext cx="1596681" cy="743182"/>
          </a:xfrm>
          <a:custGeom>
            <a:avLst/>
            <a:gdLst/>
            <a:ahLst/>
            <a:cxnLst/>
            <a:rect l="l" t="t" r="r" b="b"/>
            <a:pathLst>
              <a:path w="1596681" h="743182">
                <a:moveTo>
                  <a:pt x="0" y="0"/>
                </a:moveTo>
                <a:lnTo>
                  <a:pt x="1596682" y="0"/>
                </a:lnTo>
                <a:lnTo>
                  <a:pt x="1596682" y="743182"/>
                </a:lnTo>
                <a:lnTo>
                  <a:pt x="0" y="74318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Freeform 12"/>
          <p:cNvSpPr/>
          <p:nvPr/>
        </p:nvSpPr>
        <p:spPr>
          <a:xfrm>
            <a:off x="17506433" y="6084062"/>
            <a:ext cx="781567" cy="750304"/>
          </a:xfrm>
          <a:custGeom>
            <a:avLst/>
            <a:gdLst/>
            <a:ahLst/>
            <a:cxnLst/>
            <a:rect l="l" t="t" r="r" b="b"/>
            <a:pathLst>
              <a:path w="781567" h="750304">
                <a:moveTo>
                  <a:pt x="0" y="0"/>
                </a:moveTo>
                <a:lnTo>
                  <a:pt x="781567" y="0"/>
                </a:lnTo>
                <a:lnTo>
                  <a:pt x="781567" y="750305"/>
                </a:lnTo>
                <a:lnTo>
                  <a:pt x="0" y="75030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3" name="Freeform 13"/>
          <p:cNvSpPr/>
          <p:nvPr/>
        </p:nvSpPr>
        <p:spPr>
          <a:xfrm rot="-828669">
            <a:off x="17356680" y="6807552"/>
            <a:ext cx="1188994" cy="959843"/>
          </a:xfrm>
          <a:custGeom>
            <a:avLst/>
            <a:gdLst/>
            <a:ahLst/>
            <a:cxnLst/>
            <a:rect l="l" t="t" r="r" b="b"/>
            <a:pathLst>
              <a:path w="1188994" h="959843">
                <a:moveTo>
                  <a:pt x="0" y="0"/>
                </a:moveTo>
                <a:lnTo>
                  <a:pt x="1188994" y="0"/>
                </a:lnTo>
                <a:lnTo>
                  <a:pt x="1188994" y="959843"/>
                </a:lnTo>
                <a:lnTo>
                  <a:pt x="0" y="959843"/>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CFBE4"/>
        </a:solidFill>
        <a:effectLst/>
      </p:bgPr>
    </p:bg>
    <p:spTree>
      <p:nvGrpSpPr>
        <p:cNvPr id="1" name=""/>
        <p:cNvGrpSpPr/>
        <p:nvPr/>
      </p:nvGrpSpPr>
      <p:grpSpPr>
        <a:xfrm>
          <a:off x="0" y="0"/>
          <a:ext cx="0" cy="0"/>
          <a:chOff x="0" y="0"/>
          <a:chExt cx="0" cy="0"/>
        </a:xfrm>
      </p:grpSpPr>
      <p:sp>
        <p:nvSpPr>
          <p:cNvPr id="2" name="Freeform 2"/>
          <p:cNvSpPr/>
          <p:nvPr/>
        </p:nvSpPr>
        <p:spPr>
          <a:xfrm rot="-1154114">
            <a:off x="13791398" y="-1016509"/>
            <a:ext cx="5045593" cy="7061263"/>
          </a:xfrm>
          <a:custGeom>
            <a:avLst/>
            <a:gdLst/>
            <a:ahLst/>
            <a:cxnLst/>
            <a:rect l="l" t="t" r="r" b="b"/>
            <a:pathLst>
              <a:path w="5045593" h="7061263">
                <a:moveTo>
                  <a:pt x="0" y="0"/>
                </a:moveTo>
                <a:lnTo>
                  <a:pt x="5045593" y="0"/>
                </a:lnTo>
                <a:lnTo>
                  <a:pt x="5045593" y="7061263"/>
                </a:lnTo>
                <a:lnTo>
                  <a:pt x="0" y="706126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827595">
            <a:off x="13666423" y="5080246"/>
            <a:ext cx="4918771" cy="6814418"/>
          </a:xfrm>
          <a:custGeom>
            <a:avLst/>
            <a:gdLst/>
            <a:ahLst/>
            <a:cxnLst/>
            <a:rect l="l" t="t" r="r" b="b"/>
            <a:pathLst>
              <a:path w="4918771" h="6814418">
                <a:moveTo>
                  <a:pt x="0" y="0"/>
                </a:moveTo>
                <a:lnTo>
                  <a:pt x="4918771" y="0"/>
                </a:lnTo>
                <a:lnTo>
                  <a:pt x="4918771" y="6814418"/>
                </a:lnTo>
                <a:lnTo>
                  <a:pt x="0" y="681441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30444" y="291297"/>
            <a:ext cx="1442628" cy="1474805"/>
          </a:xfrm>
          <a:custGeom>
            <a:avLst/>
            <a:gdLst/>
            <a:ahLst/>
            <a:cxnLst/>
            <a:rect l="l" t="t" r="r" b="b"/>
            <a:pathLst>
              <a:path w="1442628" h="1474805">
                <a:moveTo>
                  <a:pt x="0" y="0"/>
                </a:moveTo>
                <a:lnTo>
                  <a:pt x="1442628" y="0"/>
                </a:lnTo>
                <a:lnTo>
                  <a:pt x="1442628" y="1474806"/>
                </a:lnTo>
                <a:lnTo>
                  <a:pt x="0" y="1474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rot="-792500">
            <a:off x="-146691" y="8109619"/>
            <a:ext cx="1474805" cy="1153030"/>
          </a:xfrm>
          <a:custGeom>
            <a:avLst/>
            <a:gdLst/>
            <a:ahLst/>
            <a:cxnLst/>
            <a:rect l="l" t="t" r="r" b="b"/>
            <a:pathLst>
              <a:path w="1474805" h="1153030">
                <a:moveTo>
                  <a:pt x="0" y="0"/>
                </a:moveTo>
                <a:lnTo>
                  <a:pt x="1474805" y="0"/>
                </a:lnTo>
                <a:lnTo>
                  <a:pt x="1474805" y="1153030"/>
                </a:lnTo>
                <a:lnTo>
                  <a:pt x="0" y="115303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TextBox 6"/>
          <p:cNvSpPr txBox="1"/>
          <p:nvPr/>
        </p:nvSpPr>
        <p:spPr>
          <a:xfrm>
            <a:off x="1708785" y="794385"/>
            <a:ext cx="11395075" cy="1300480"/>
          </a:xfrm>
          <a:prstGeom prst="rect">
            <a:avLst/>
          </a:prstGeom>
        </p:spPr>
        <p:txBody>
          <a:bodyPr lIns="0" tIns="0" rIns="0" bIns="0" rtlCol="0" anchor="t">
            <a:noAutofit/>
          </a:bodyPr>
          <a:lstStyle/>
          <a:p>
            <a:pPr algn="l">
              <a:lnSpc>
                <a:spcPts val="7680"/>
              </a:lnSpc>
            </a:pPr>
            <a:r>
              <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rPr>
              <a:t>4.</a:t>
            </a:r>
            <a:r>
              <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rPr>
              <a:t> Kết luận và hướng phát triển</a:t>
            </a:r>
            <a:endPar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a:p>
            <a:pPr algn="l">
              <a:lnSpc>
                <a:spcPts val="7680"/>
              </a:lnSpc>
            </a:pPr>
            <a:endParaRPr>
              <a:latin typeface="Calibri" panose="020F0502020204030204" charset="0"/>
              <a:cs typeface="Calibri" panose="020F0502020204030204" charset="0"/>
            </a:endParaRPr>
          </a:p>
        </p:txBody>
      </p:sp>
      <p:sp>
        <p:nvSpPr>
          <p:cNvPr id="7" name="Freeform 7"/>
          <p:cNvSpPr/>
          <p:nvPr/>
        </p:nvSpPr>
        <p:spPr>
          <a:xfrm rot="-1589702">
            <a:off x="15560895" y="2600522"/>
            <a:ext cx="3204598" cy="3269998"/>
          </a:xfrm>
          <a:custGeom>
            <a:avLst/>
            <a:gdLst/>
            <a:ahLst/>
            <a:cxnLst/>
            <a:rect l="l" t="t" r="r" b="b"/>
            <a:pathLst>
              <a:path w="3204598" h="3269998">
                <a:moveTo>
                  <a:pt x="0" y="0"/>
                </a:moveTo>
                <a:lnTo>
                  <a:pt x="3204598" y="0"/>
                </a:lnTo>
                <a:lnTo>
                  <a:pt x="3204598" y="3269998"/>
                </a:lnTo>
                <a:lnTo>
                  <a:pt x="0" y="326999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8" name="TextBox 8"/>
          <p:cNvSpPr txBox="1"/>
          <p:nvPr/>
        </p:nvSpPr>
        <p:spPr>
          <a:xfrm>
            <a:off x="1254190" y="2542688"/>
            <a:ext cx="12304501" cy="5170805"/>
          </a:xfrm>
          <a:prstGeom prst="rect">
            <a:avLst/>
          </a:prstGeom>
        </p:spPr>
        <p:txBody>
          <a:bodyPr lIns="0" tIns="0" rIns="0" bIns="0" rtlCol="0" anchor="t">
            <a:spAutoFit/>
          </a:bodyPr>
          <a:lstStyle/>
          <a:p>
            <a:pPr algn="just">
              <a:lnSpc>
                <a:spcPts val="5040"/>
              </a:lnSpc>
              <a:spcBef>
                <a:spcPct val="0"/>
              </a:spcBef>
            </a:pPr>
            <a:r>
              <a:rPr lang="en-US" sz="4200">
                <a:solidFill>
                  <a:srgbClr val="000000"/>
                </a:solidFill>
                <a:latin typeface="Calibri" panose="020F0502020204030204" charset="0"/>
                <a:ea typeface="Faustina" panose="00000500000000000000"/>
                <a:cs typeface="Calibri" panose="020F0502020204030204" charset="0"/>
                <a:sym typeface="Faustina" panose="00000500000000000000"/>
              </a:rPr>
              <a:t>Kết luận:</a:t>
            </a:r>
            <a:endParaRPr lang="en-US" sz="4200">
              <a:solidFill>
                <a:srgbClr val="000000"/>
              </a:solidFill>
              <a:latin typeface="Calibri" panose="020F0502020204030204" charset="0"/>
              <a:ea typeface="Faustina" panose="00000500000000000000"/>
              <a:cs typeface="Calibri" panose="020F0502020204030204" charset="0"/>
              <a:sym typeface="Faustina" panose="00000500000000000000"/>
            </a:endParaRPr>
          </a:p>
          <a:p>
            <a:pPr algn="just">
              <a:lnSpc>
                <a:spcPts val="5040"/>
              </a:lnSpc>
              <a:spcBef>
                <a:spcPct val="0"/>
              </a:spcBef>
            </a:pPr>
            <a:r>
              <a:rPr lang="en-US" sz="4200">
                <a:solidFill>
                  <a:srgbClr val="000000"/>
                </a:solidFill>
                <a:latin typeface="Calibri" panose="020F0502020204030204" charset="0"/>
                <a:ea typeface="Faustina" panose="00000500000000000000"/>
                <a:cs typeface="Calibri" panose="020F0502020204030204" charset="0"/>
                <a:sym typeface="Faustina" panose="00000500000000000000"/>
              </a:rPr>
              <a:t>Qua quá trình thực hiện đề tài, website cửa hàng nước hoa Orianna đã được xây dựng thành công với các chức năng cơ bản của một hệ thống bán hàng trực tuyến. Đề tài không chỉ giúp hoàn thiện một sản phẩm có tính ứng dụng thực tế mà còn giúp sinh viên củng cố và nâng cao kiến thức về lập trình web, cơ sở dữ liệu và phát triển hệ thống.</a:t>
            </a:r>
            <a:endParaRPr lang="en-US" sz="4200">
              <a:solidFill>
                <a:srgbClr val="000000"/>
              </a:solidFill>
              <a:latin typeface="Calibri" panose="020F0502020204030204" charset="0"/>
              <a:ea typeface="Faustina" panose="00000500000000000000"/>
              <a:cs typeface="Calibri" panose="020F0502020204030204" charset="0"/>
              <a:sym typeface="Faustina" panose="0000050000000000000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CFBE4"/>
        </a:solidFill>
        <a:effectLst/>
      </p:bgPr>
    </p:bg>
    <p:spTree>
      <p:nvGrpSpPr>
        <p:cNvPr id="1" name=""/>
        <p:cNvGrpSpPr/>
        <p:nvPr/>
      </p:nvGrpSpPr>
      <p:grpSpPr>
        <a:xfrm>
          <a:off x="0" y="0"/>
          <a:ext cx="0" cy="0"/>
          <a:chOff x="0" y="0"/>
          <a:chExt cx="0" cy="0"/>
        </a:xfrm>
      </p:grpSpPr>
      <p:sp>
        <p:nvSpPr>
          <p:cNvPr id="2" name="Freeform 2"/>
          <p:cNvSpPr/>
          <p:nvPr/>
        </p:nvSpPr>
        <p:spPr>
          <a:xfrm rot="-1154114">
            <a:off x="13791398" y="-1016509"/>
            <a:ext cx="5045593" cy="7061263"/>
          </a:xfrm>
          <a:custGeom>
            <a:avLst/>
            <a:gdLst/>
            <a:ahLst/>
            <a:cxnLst/>
            <a:rect l="l" t="t" r="r" b="b"/>
            <a:pathLst>
              <a:path w="5045593" h="7061263">
                <a:moveTo>
                  <a:pt x="0" y="0"/>
                </a:moveTo>
                <a:lnTo>
                  <a:pt x="5045593" y="0"/>
                </a:lnTo>
                <a:lnTo>
                  <a:pt x="5045593" y="7061263"/>
                </a:lnTo>
                <a:lnTo>
                  <a:pt x="0" y="706126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827595">
            <a:off x="13666423" y="5080246"/>
            <a:ext cx="4918771" cy="6814418"/>
          </a:xfrm>
          <a:custGeom>
            <a:avLst/>
            <a:gdLst/>
            <a:ahLst/>
            <a:cxnLst/>
            <a:rect l="l" t="t" r="r" b="b"/>
            <a:pathLst>
              <a:path w="4918771" h="6814418">
                <a:moveTo>
                  <a:pt x="0" y="0"/>
                </a:moveTo>
                <a:lnTo>
                  <a:pt x="4918771" y="0"/>
                </a:lnTo>
                <a:lnTo>
                  <a:pt x="4918771" y="6814418"/>
                </a:lnTo>
                <a:lnTo>
                  <a:pt x="0" y="681441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30444" y="291297"/>
            <a:ext cx="1442628" cy="1474805"/>
          </a:xfrm>
          <a:custGeom>
            <a:avLst/>
            <a:gdLst/>
            <a:ahLst/>
            <a:cxnLst/>
            <a:rect l="l" t="t" r="r" b="b"/>
            <a:pathLst>
              <a:path w="1442628" h="1474805">
                <a:moveTo>
                  <a:pt x="0" y="0"/>
                </a:moveTo>
                <a:lnTo>
                  <a:pt x="1442628" y="0"/>
                </a:lnTo>
                <a:lnTo>
                  <a:pt x="1442628" y="1474806"/>
                </a:lnTo>
                <a:lnTo>
                  <a:pt x="0" y="1474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rot="-792500">
            <a:off x="-146691" y="8109619"/>
            <a:ext cx="1474805" cy="1153030"/>
          </a:xfrm>
          <a:custGeom>
            <a:avLst/>
            <a:gdLst/>
            <a:ahLst/>
            <a:cxnLst/>
            <a:rect l="l" t="t" r="r" b="b"/>
            <a:pathLst>
              <a:path w="1474805" h="1153030">
                <a:moveTo>
                  <a:pt x="0" y="0"/>
                </a:moveTo>
                <a:lnTo>
                  <a:pt x="1474805" y="0"/>
                </a:lnTo>
                <a:lnTo>
                  <a:pt x="1474805" y="1153030"/>
                </a:lnTo>
                <a:lnTo>
                  <a:pt x="0" y="115303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TextBox 6"/>
          <p:cNvSpPr txBox="1"/>
          <p:nvPr/>
        </p:nvSpPr>
        <p:spPr>
          <a:xfrm>
            <a:off x="1708785" y="794385"/>
            <a:ext cx="11395075" cy="1366520"/>
          </a:xfrm>
          <a:prstGeom prst="rect">
            <a:avLst/>
          </a:prstGeom>
        </p:spPr>
        <p:txBody>
          <a:bodyPr lIns="0" tIns="0" rIns="0" bIns="0" rtlCol="0" anchor="t">
            <a:noAutofit/>
          </a:bodyPr>
          <a:lstStyle/>
          <a:p>
            <a:pPr algn="l">
              <a:lnSpc>
                <a:spcPts val="7680"/>
              </a:lnSpc>
            </a:pPr>
            <a:r>
              <a:rPr lang="en-US" sz="6400" b="1">
                <a:solidFill>
                  <a:srgbClr val="000000"/>
                </a:solidFill>
                <a:latin typeface="Calibri" panose="020F0502020204030204" charset="0"/>
                <a:ea typeface="Faustina Bold" panose="00000800000000000000"/>
                <a:cs typeface="Calibri" panose="020F0502020204030204" charset="0"/>
                <a:sym typeface="Faustina Bold" panose="00000800000000000000"/>
              </a:rPr>
              <a:t>4. Kết luận và hướng phát triển</a:t>
            </a:r>
            <a:endParaRPr lang="en-US" sz="6400" b="1">
              <a:solidFill>
                <a:srgbClr val="000000"/>
              </a:solidFill>
              <a:latin typeface="Faustina Bold" panose="00000800000000000000"/>
              <a:ea typeface="Faustina Bold" panose="00000800000000000000"/>
              <a:cs typeface="Faustina Bold" panose="00000800000000000000"/>
              <a:sym typeface="Faustina Bold" panose="00000800000000000000"/>
            </a:endParaRPr>
          </a:p>
          <a:p>
            <a:pPr algn="l">
              <a:lnSpc>
                <a:spcPts val="7680"/>
              </a:lnSpc>
            </a:pPr>
          </a:p>
        </p:txBody>
      </p:sp>
      <p:sp>
        <p:nvSpPr>
          <p:cNvPr id="7" name="Freeform 7"/>
          <p:cNvSpPr/>
          <p:nvPr/>
        </p:nvSpPr>
        <p:spPr>
          <a:xfrm rot="-1589702">
            <a:off x="15560895" y="2600522"/>
            <a:ext cx="3204598" cy="3269998"/>
          </a:xfrm>
          <a:custGeom>
            <a:avLst/>
            <a:gdLst/>
            <a:ahLst/>
            <a:cxnLst/>
            <a:rect l="l" t="t" r="r" b="b"/>
            <a:pathLst>
              <a:path w="3204598" h="3269998">
                <a:moveTo>
                  <a:pt x="0" y="0"/>
                </a:moveTo>
                <a:lnTo>
                  <a:pt x="3204598" y="0"/>
                </a:lnTo>
                <a:lnTo>
                  <a:pt x="3204598" y="3269998"/>
                </a:lnTo>
                <a:lnTo>
                  <a:pt x="0" y="326999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8" name="TextBox 8"/>
          <p:cNvSpPr txBox="1"/>
          <p:nvPr/>
        </p:nvSpPr>
        <p:spPr>
          <a:xfrm>
            <a:off x="1254190" y="2627629"/>
            <a:ext cx="12304501" cy="4524375"/>
          </a:xfrm>
          <a:prstGeom prst="rect">
            <a:avLst/>
          </a:prstGeom>
        </p:spPr>
        <p:txBody>
          <a:bodyPr lIns="0" tIns="0" rIns="0" bIns="0" rtlCol="0" anchor="t">
            <a:spAutoFit/>
          </a:bodyPr>
          <a:lstStyle/>
          <a:p>
            <a:pPr algn="just">
              <a:lnSpc>
                <a:spcPts val="5040"/>
              </a:lnSpc>
              <a:spcBef>
                <a:spcPct val="0"/>
              </a:spcBef>
            </a:pPr>
            <a:r>
              <a:rPr lang="en-US" sz="4200">
                <a:solidFill>
                  <a:srgbClr val="000000"/>
                </a:solidFill>
                <a:latin typeface="Calibri" panose="020F0502020204030204" charset="0"/>
                <a:ea typeface="Faustina" panose="00000500000000000000"/>
                <a:cs typeface="Calibri" panose="020F0502020204030204" charset="0"/>
                <a:sym typeface="Faustina" panose="00000500000000000000"/>
              </a:rPr>
              <a:t>Hướ</a:t>
            </a:r>
            <a:r>
              <a:rPr lang="en-US" sz="4200">
                <a:solidFill>
                  <a:srgbClr val="000000"/>
                </a:solidFill>
                <a:latin typeface="Calibri" panose="020F0502020204030204" charset="0"/>
                <a:ea typeface="Faustina" panose="00000500000000000000"/>
                <a:cs typeface="Calibri" panose="020F0502020204030204" charset="0"/>
                <a:sym typeface="Faustina" panose="00000500000000000000"/>
              </a:rPr>
              <a:t>ng phát triển:</a:t>
            </a:r>
            <a:endParaRPr lang="en-US" sz="4200">
              <a:solidFill>
                <a:srgbClr val="000000"/>
              </a:solidFill>
              <a:latin typeface="Calibri" panose="020F0502020204030204" charset="0"/>
              <a:ea typeface="Faustina" panose="00000500000000000000"/>
              <a:cs typeface="Calibri" panose="020F0502020204030204" charset="0"/>
              <a:sym typeface="Faustina" panose="00000500000000000000"/>
            </a:endParaRPr>
          </a:p>
          <a:p>
            <a:pPr algn="just">
              <a:lnSpc>
                <a:spcPts val="5040"/>
              </a:lnSpc>
              <a:spcBef>
                <a:spcPct val="0"/>
              </a:spcBef>
            </a:pPr>
            <a:endParaRPr>
              <a:latin typeface="Calibri" panose="020F0502020204030204" charset="0"/>
              <a:cs typeface="Calibri" panose="020F0502020204030204" charset="0"/>
            </a:endParaRPr>
          </a:p>
          <a:p>
            <a:pPr algn="just">
              <a:lnSpc>
                <a:spcPts val="5040"/>
              </a:lnSpc>
              <a:spcBef>
                <a:spcPct val="0"/>
              </a:spcBef>
            </a:pPr>
            <a:r>
              <a:rPr lang="en-US" sz="4200">
                <a:solidFill>
                  <a:srgbClr val="000000"/>
                </a:solidFill>
                <a:latin typeface="Calibri" panose="020F0502020204030204" charset="0"/>
                <a:ea typeface="Faustina" panose="00000500000000000000"/>
                <a:cs typeface="Calibri" panose="020F0502020204030204" charset="0"/>
                <a:sym typeface="Faustina" panose="00000500000000000000"/>
              </a:rPr>
              <a:t>Tối ưu hiệu năng và tăng cường bảo mật hệ thống.</a:t>
            </a:r>
            <a:endParaRPr lang="en-US" sz="4200">
              <a:solidFill>
                <a:srgbClr val="000000"/>
              </a:solidFill>
              <a:latin typeface="Calibri" panose="020F0502020204030204" charset="0"/>
              <a:ea typeface="Faustina" panose="00000500000000000000"/>
              <a:cs typeface="Calibri" panose="020F0502020204030204" charset="0"/>
              <a:sym typeface="Faustina" panose="00000500000000000000"/>
            </a:endParaRPr>
          </a:p>
          <a:p>
            <a:pPr algn="just">
              <a:lnSpc>
                <a:spcPts val="5040"/>
              </a:lnSpc>
              <a:spcBef>
                <a:spcPct val="0"/>
              </a:spcBef>
            </a:pPr>
            <a:endParaRPr>
              <a:latin typeface="Calibri" panose="020F0502020204030204" charset="0"/>
              <a:cs typeface="Calibri" panose="020F0502020204030204" charset="0"/>
            </a:endParaRPr>
          </a:p>
          <a:p>
            <a:pPr algn="just">
              <a:lnSpc>
                <a:spcPts val="5040"/>
              </a:lnSpc>
              <a:spcBef>
                <a:spcPct val="0"/>
              </a:spcBef>
            </a:pPr>
            <a:r>
              <a:rPr lang="en-US" sz="4200">
                <a:solidFill>
                  <a:srgbClr val="000000"/>
                </a:solidFill>
                <a:latin typeface="Calibri" panose="020F0502020204030204" charset="0"/>
                <a:ea typeface="Faustina" panose="00000500000000000000"/>
                <a:cs typeface="Calibri" panose="020F0502020204030204" charset="0"/>
                <a:sym typeface="Faustina" panose="00000500000000000000"/>
              </a:rPr>
              <a:t>Gợi ý sản phẩm thông minh.</a:t>
            </a:r>
            <a:endParaRPr lang="en-US" sz="4200">
              <a:solidFill>
                <a:srgbClr val="000000"/>
              </a:solidFill>
              <a:latin typeface="Calibri" panose="020F0502020204030204" charset="0"/>
              <a:ea typeface="Faustina" panose="00000500000000000000"/>
              <a:cs typeface="Calibri" panose="020F0502020204030204" charset="0"/>
              <a:sym typeface="Faustina" panose="00000500000000000000"/>
            </a:endParaRPr>
          </a:p>
          <a:p>
            <a:pPr algn="just">
              <a:lnSpc>
                <a:spcPts val="5040"/>
              </a:lnSpc>
              <a:spcBef>
                <a:spcPct val="0"/>
              </a:spcBef>
            </a:pPr>
            <a:endParaRPr>
              <a:latin typeface="Calibri" panose="020F0502020204030204" charset="0"/>
              <a:cs typeface="Calibri" panose="020F0502020204030204" charset="0"/>
            </a:endParaRPr>
          </a:p>
          <a:p>
            <a:pPr algn="just">
              <a:lnSpc>
                <a:spcPts val="5040"/>
              </a:lnSpc>
              <a:spcBef>
                <a:spcPct val="0"/>
              </a:spcBef>
            </a:pPr>
            <a:r>
              <a:rPr lang="en-US" sz="4200">
                <a:solidFill>
                  <a:srgbClr val="000000"/>
                </a:solidFill>
                <a:latin typeface="Calibri" panose="020F0502020204030204" charset="0"/>
                <a:ea typeface="Faustina" panose="00000500000000000000"/>
                <a:cs typeface="Calibri" panose="020F0502020204030204" charset="0"/>
                <a:sym typeface="Faustina" panose="00000500000000000000"/>
              </a:rPr>
              <a:t>Phát triển ứng dụng dành cho điện thoại di động.</a:t>
            </a:r>
            <a:endParaRPr lang="en-US" sz="4200">
              <a:solidFill>
                <a:srgbClr val="000000"/>
              </a:solidFill>
              <a:latin typeface="Calibri" panose="020F0502020204030204" charset="0"/>
              <a:ea typeface="Faustina" panose="00000500000000000000"/>
              <a:cs typeface="Calibri" panose="020F0502020204030204" charset="0"/>
              <a:sym typeface="Faustina" panose="0000050000000000000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D3D5"/>
        </a:solidFill>
        <a:effectLst/>
      </p:bgPr>
    </p:bg>
    <p:spTree>
      <p:nvGrpSpPr>
        <p:cNvPr id="1" name=""/>
        <p:cNvGrpSpPr/>
        <p:nvPr/>
      </p:nvGrpSpPr>
      <p:grpSpPr>
        <a:xfrm>
          <a:off x="0" y="0"/>
          <a:ext cx="0" cy="0"/>
          <a:chOff x="0" y="0"/>
          <a:chExt cx="0" cy="0"/>
        </a:xfrm>
      </p:grpSpPr>
      <p:sp>
        <p:nvSpPr>
          <p:cNvPr id="2" name="Freeform 2"/>
          <p:cNvSpPr/>
          <p:nvPr/>
        </p:nvSpPr>
        <p:spPr>
          <a:xfrm>
            <a:off x="7298047" y="507906"/>
            <a:ext cx="10440836" cy="14178913"/>
          </a:xfrm>
          <a:custGeom>
            <a:avLst/>
            <a:gdLst/>
            <a:ahLst/>
            <a:cxnLst/>
            <a:rect l="l" t="t" r="r" b="b"/>
            <a:pathLst>
              <a:path w="10440836" h="14178913">
                <a:moveTo>
                  <a:pt x="0" y="0"/>
                </a:moveTo>
                <a:lnTo>
                  <a:pt x="10440836" y="0"/>
                </a:lnTo>
                <a:lnTo>
                  <a:pt x="10440836" y="14178913"/>
                </a:lnTo>
                <a:lnTo>
                  <a:pt x="0" y="1417891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6730586" y="8603674"/>
            <a:ext cx="1057429" cy="1057429"/>
          </a:xfrm>
          <a:custGeom>
            <a:avLst/>
            <a:gdLst/>
            <a:ahLst/>
            <a:cxnLst/>
            <a:rect l="l" t="t" r="r" b="b"/>
            <a:pathLst>
              <a:path w="1057429" h="1057429">
                <a:moveTo>
                  <a:pt x="0" y="0"/>
                </a:moveTo>
                <a:lnTo>
                  <a:pt x="1057428" y="0"/>
                </a:lnTo>
                <a:lnTo>
                  <a:pt x="1057428" y="1057428"/>
                </a:lnTo>
                <a:lnTo>
                  <a:pt x="0" y="105742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967591">
            <a:off x="-571298" y="2986278"/>
            <a:ext cx="1604829" cy="2033769"/>
          </a:xfrm>
          <a:custGeom>
            <a:avLst/>
            <a:gdLst/>
            <a:ahLst/>
            <a:cxnLst/>
            <a:rect l="l" t="t" r="r" b="b"/>
            <a:pathLst>
              <a:path w="1604829" h="2033769">
                <a:moveTo>
                  <a:pt x="0" y="0"/>
                </a:moveTo>
                <a:lnTo>
                  <a:pt x="1604828" y="0"/>
                </a:lnTo>
                <a:lnTo>
                  <a:pt x="1604828" y="2033769"/>
                </a:lnTo>
                <a:lnTo>
                  <a:pt x="0" y="203376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rot="-1312542">
            <a:off x="5142045" y="9480274"/>
            <a:ext cx="2051947" cy="955088"/>
          </a:xfrm>
          <a:custGeom>
            <a:avLst/>
            <a:gdLst/>
            <a:ahLst/>
            <a:cxnLst/>
            <a:rect l="l" t="t" r="r" b="b"/>
            <a:pathLst>
              <a:path w="2051947" h="955088">
                <a:moveTo>
                  <a:pt x="0" y="0"/>
                </a:moveTo>
                <a:lnTo>
                  <a:pt x="2051948" y="0"/>
                </a:lnTo>
                <a:lnTo>
                  <a:pt x="2051948" y="955088"/>
                </a:lnTo>
                <a:lnTo>
                  <a:pt x="0" y="95508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rot="-1609731">
            <a:off x="16408377" y="3099527"/>
            <a:ext cx="1701845" cy="1633772"/>
          </a:xfrm>
          <a:custGeom>
            <a:avLst/>
            <a:gdLst/>
            <a:ahLst/>
            <a:cxnLst/>
            <a:rect l="l" t="t" r="r" b="b"/>
            <a:pathLst>
              <a:path w="1701845" h="1633772">
                <a:moveTo>
                  <a:pt x="0" y="0"/>
                </a:moveTo>
                <a:lnTo>
                  <a:pt x="1701846" y="0"/>
                </a:lnTo>
                <a:lnTo>
                  <a:pt x="1701846" y="1633772"/>
                </a:lnTo>
                <a:lnTo>
                  <a:pt x="0" y="163377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p:cNvSpPr/>
          <p:nvPr/>
        </p:nvSpPr>
        <p:spPr>
          <a:xfrm rot="-1026302">
            <a:off x="16446408" y="4755676"/>
            <a:ext cx="2209324" cy="1783527"/>
          </a:xfrm>
          <a:custGeom>
            <a:avLst/>
            <a:gdLst/>
            <a:ahLst/>
            <a:cxnLst/>
            <a:rect l="l" t="t" r="r" b="b"/>
            <a:pathLst>
              <a:path w="2209324" h="1783527">
                <a:moveTo>
                  <a:pt x="0" y="0"/>
                </a:moveTo>
                <a:lnTo>
                  <a:pt x="2209324" y="0"/>
                </a:lnTo>
                <a:lnTo>
                  <a:pt x="2209324" y="1783527"/>
                </a:lnTo>
                <a:lnTo>
                  <a:pt x="0" y="178352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8" name="Freeform 8"/>
          <p:cNvSpPr/>
          <p:nvPr/>
        </p:nvSpPr>
        <p:spPr>
          <a:xfrm>
            <a:off x="947601" y="662765"/>
            <a:ext cx="10440836" cy="14178913"/>
          </a:xfrm>
          <a:custGeom>
            <a:avLst/>
            <a:gdLst/>
            <a:ahLst/>
            <a:cxnLst/>
            <a:rect l="l" t="t" r="r" b="b"/>
            <a:pathLst>
              <a:path w="10440836" h="14178913">
                <a:moveTo>
                  <a:pt x="0" y="0"/>
                </a:moveTo>
                <a:lnTo>
                  <a:pt x="10440836" y="0"/>
                </a:lnTo>
                <a:lnTo>
                  <a:pt x="10440836" y="14178913"/>
                </a:lnTo>
                <a:lnTo>
                  <a:pt x="0" y="1417891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9" name="Freeform 9"/>
          <p:cNvSpPr/>
          <p:nvPr/>
        </p:nvSpPr>
        <p:spPr>
          <a:xfrm>
            <a:off x="15466411" y="724920"/>
            <a:ext cx="607559" cy="607559"/>
          </a:xfrm>
          <a:custGeom>
            <a:avLst/>
            <a:gdLst/>
            <a:ahLst/>
            <a:cxnLst/>
            <a:rect l="l" t="t" r="r" b="b"/>
            <a:pathLst>
              <a:path w="607559" h="607559">
                <a:moveTo>
                  <a:pt x="0" y="0"/>
                </a:moveTo>
                <a:lnTo>
                  <a:pt x="607559" y="0"/>
                </a:lnTo>
                <a:lnTo>
                  <a:pt x="607559" y="607560"/>
                </a:lnTo>
                <a:lnTo>
                  <a:pt x="0" y="60756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0" name="Freeform 10"/>
          <p:cNvSpPr/>
          <p:nvPr/>
        </p:nvSpPr>
        <p:spPr>
          <a:xfrm rot="-634647">
            <a:off x="657223" y="4684033"/>
            <a:ext cx="1254364" cy="1589632"/>
          </a:xfrm>
          <a:custGeom>
            <a:avLst/>
            <a:gdLst/>
            <a:ahLst/>
            <a:cxnLst/>
            <a:rect l="l" t="t" r="r" b="b"/>
            <a:pathLst>
              <a:path w="1254364" h="1589632">
                <a:moveTo>
                  <a:pt x="0" y="0"/>
                </a:moveTo>
                <a:lnTo>
                  <a:pt x="1254364" y="0"/>
                </a:lnTo>
                <a:lnTo>
                  <a:pt x="1254364" y="1589632"/>
                </a:lnTo>
                <a:lnTo>
                  <a:pt x="0" y="1589632"/>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1" name="Freeform 11"/>
          <p:cNvSpPr/>
          <p:nvPr/>
        </p:nvSpPr>
        <p:spPr>
          <a:xfrm rot="-342021" flipH="1">
            <a:off x="1878066" y="146857"/>
            <a:ext cx="3062417" cy="2115852"/>
          </a:xfrm>
          <a:custGeom>
            <a:avLst/>
            <a:gdLst/>
            <a:ahLst/>
            <a:cxnLst/>
            <a:rect l="l" t="t" r="r" b="b"/>
            <a:pathLst>
              <a:path w="3062417" h="2115852">
                <a:moveTo>
                  <a:pt x="3062417" y="0"/>
                </a:moveTo>
                <a:lnTo>
                  <a:pt x="0" y="0"/>
                </a:lnTo>
                <a:lnTo>
                  <a:pt x="0" y="2115852"/>
                </a:lnTo>
                <a:lnTo>
                  <a:pt x="3062417" y="2115852"/>
                </a:lnTo>
                <a:lnTo>
                  <a:pt x="3062417"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12" name="TextBox 12"/>
          <p:cNvSpPr txBox="1"/>
          <p:nvPr/>
        </p:nvSpPr>
        <p:spPr>
          <a:xfrm>
            <a:off x="2470677" y="4279934"/>
            <a:ext cx="13972314" cy="1938655"/>
          </a:xfrm>
          <a:prstGeom prst="rect">
            <a:avLst/>
          </a:prstGeom>
        </p:spPr>
        <p:txBody>
          <a:bodyPr lIns="0" tIns="0" rIns="0" bIns="0" rtlCol="0" anchor="t">
            <a:spAutoFit/>
          </a:bodyPr>
          <a:lstStyle/>
          <a:p>
            <a:pPr algn="ctr">
              <a:lnSpc>
                <a:spcPts val="7560"/>
              </a:lnSpc>
              <a:spcBef>
                <a:spcPct val="0"/>
              </a:spcBef>
            </a:pPr>
            <a:r>
              <a:rPr lang="en-US" sz="6600" b="1">
                <a:solidFill>
                  <a:srgbClr val="000000"/>
                </a:solidFill>
                <a:latin typeface="Calibri" panose="020F0502020204030204" charset="0"/>
                <a:ea typeface="Faustina Bold" panose="00000800000000000000"/>
                <a:cs typeface="Calibri" panose="020F0502020204030204" charset="0"/>
                <a:sym typeface="Faustina Bold" panose="00000800000000000000"/>
              </a:rPr>
              <a:t>EM XIN CẢM ƠN QUÝ THẦY, CÔ</a:t>
            </a:r>
            <a:endParaRPr lang="en-US" sz="66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a:p>
            <a:pPr algn="ctr">
              <a:lnSpc>
                <a:spcPts val="7560"/>
              </a:lnSpc>
              <a:spcBef>
                <a:spcPct val="0"/>
              </a:spcBef>
            </a:pPr>
            <a:r>
              <a:rPr lang="en-US" sz="6600" b="1">
                <a:solidFill>
                  <a:srgbClr val="000000"/>
                </a:solidFill>
                <a:latin typeface="Calibri" panose="020F0502020204030204" charset="0"/>
                <a:ea typeface="Faustina Bold" panose="00000800000000000000"/>
                <a:cs typeface="Calibri" panose="020F0502020204030204" charset="0"/>
                <a:sym typeface="Faustina Bold" panose="00000800000000000000"/>
              </a:rPr>
              <a:t>ĐÃ LẮNG NGHE BÀI THUYẾT TRÌNH</a:t>
            </a:r>
            <a:endParaRPr lang="en-US" sz="6600" b="1">
              <a:solidFill>
                <a:srgbClr val="000000"/>
              </a:solidFill>
              <a:latin typeface="Calibri" panose="020F0502020204030204" charset="0"/>
              <a:ea typeface="Faustina Bold" panose="00000800000000000000"/>
              <a:cs typeface="Calibri" panose="020F0502020204030204" charset="0"/>
              <a:sym typeface="Faustina Bold" panose="0000080000000000000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3778</Words>
  <Application>WPS Presentation</Application>
  <PresentationFormat>On-screen Show (4:3)</PresentationFormat>
  <Paragraphs>119</Paragraphs>
  <Slides>20</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20</vt:i4>
      </vt:variant>
    </vt:vector>
  </HeadingPairs>
  <TitlesOfParts>
    <vt:vector size="31" baseType="lpstr">
      <vt:lpstr>Arial</vt:lpstr>
      <vt:lpstr>SimSun</vt:lpstr>
      <vt:lpstr>Wingdings</vt:lpstr>
      <vt:lpstr>Faustina Bold</vt:lpstr>
      <vt:lpstr>Faustina</vt:lpstr>
      <vt:lpstr>Asap</vt:lpstr>
      <vt:lpstr>Microsoft YaHei</vt:lpstr>
      <vt:lpstr>Arial Unicode MS</vt:lpstr>
      <vt:lpstr>Calibri</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thuyết trình về Bảng kế hoạch trường học Hàng ngày Hàng tuần Hàng tháng, Tông màu Hồng Trắng Vàng Pastel, Phong cách Nhật ký</dc:title>
  <dc:creator/>
  <cp:lastModifiedBy>Thảo Vy Hứa</cp:lastModifiedBy>
  <cp:revision>3</cp:revision>
  <dcterms:created xsi:type="dcterms:W3CDTF">2006-08-16T00:00:00Z</dcterms:created>
  <dcterms:modified xsi:type="dcterms:W3CDTF">2026-01-06T13:31:23Z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DE13EA60367B46319E313BE8762C01CD_13</vt:lpwstr>
  </property>
  <property fmtid="{D5CDD505-2E9C-101B-9397-08002B2CF9AE}" pid="3" name="KSOProductBuildVer">
    <vt:lpwstr>1033-12.2.0.23196</vt:lpwstr>
  </property>
</Properties>
</file>