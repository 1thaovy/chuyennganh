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3"/>
  </p:notesMasterIdLst>
  <p:sldIdLst>
    <p:sldId id="275" r:id="rId3"/>
    <p:sldId id="272" r:id="rId4"/>
    <p:sldId id="276" r:id="rId5"/>
    <p:sldId id="280" r:id="rId6"/>
    <p:sldId id="279" r:id="rId7"/>
    <p:sldId id="281" r:id="rId8"/>
    <p:sldId id="282" r:id="rId9"/>
    <p:sldId id="283" r:id="rId10"/>
    <p:sldId id="285" r:id="rId11"/>
    <p:sldId id="286" r:id="rId12"/>
    <p:sldId id="284" r:id="rId13"/>
    <p:sldId id="287" r:id="rId14"/>
    <p:sldId id="288" r:id="rId15"/>
    <p:sldId id="289" r:id="rId16"/>
    <p:sldId id="290" r:id="rId17"/>
    <p:sldId id="291" r:id="rId18"/>
    <p:sldId id="292" r:id="rId19"/>
    <p:sldId id="277" r:id="rId20"/>
    <p:sldId id="293" r:id="rId21"/>
    <p:sldId id="294"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6" userDrawn="1">
          <p15:clr>
            <a:srgbClr val="A4A3A4"/>
          </p15:clr>
        </p15:guide>
        <p15:guide id="2" pos="291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79" d="100"/>
          <a:sy n="79" d="100"/>
        </p:scale>
        <p:origin x="1077" y="54"/>
      </p:cViewPr>
      <p:guideLst>
        <p:guide orient="horz" pos="2196"/>
        <p:guide pos="291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notesMaster" Target="notesMasters/notesMaster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B0FA47-8B15-437F-B746-4611B2E50E7E}"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AFC3B5-3211-45B9-A75F-21C4D8AB734F}"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07240"/>
          </a:xfrm>
        </p:spPr>
        <p:txBody>
          <a:bodyPr>
            <a:noAutofit/>
          </a:bodyPr>
          <a:lstStyle>
            <a:lvl1pPr>
              <a:defRPr sz="3600" b="1">
                <a:solidFill>
                  <a:schemeClr val="accent1">
                    <a:lumMod val="75000"/>
                  </a:schemeClr>
                </a:solidFill>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normAutofit/>
          </a:bodyPr>
          <a:lstStyle>
            <a:lvl1pPr>
              <a:defRPr sz="2400">
                <a:latin typeface="Arial" panose="020B0604020202020204" pitchFamily="34" charset="0"/>
                <a:cs typeface="Arial" panose="020B0604020202020204" pitchFamily="34" charset="0"/>
              </a:defRPr>
            </a:lvl1pPr>
            <a:lvl2pPr>
              <a:defRPr sz="2400">
                <a:latin typeface="Arial" panose="020B0604020202020204" pitchFamily="34" charset="0"/>
                <a:cs typeface="Arial" panose="020B0604020202020204" pitchFamily="34" charset="0"/>
              </a:defRPr>
            </a:lvl2pPr>
            <a:lvl3pPr>
              <a:defRPr sz="2400">
                <a:latin typeface="Arial" panose="020B0604020202020204" pitchFamily="34" charset="0"/>
                <a:cs typeface="Arial" panose="020B0604020202020204" pitchFamily="34" charset="0"/>
              </a:defRPr>
            </a:lvl3pPr>
            <a:lvl4pPr>
              <a:defRPr sz="2400">
                <a:latin typeface="Arial" panose="020B0604020202020204" pitchFamily="34" charset="0"/>
                <a:cs typeface="Arial" panose="020B0604020202020204" pitchFamily="34" charset="0"/>
              </a:defRPr>
            </a:lvl4pPr>
            <a:lvl5pPr>
              <a:defRPr sz="2400">
                <a:latin typeface="Arial" panose="020B0604020202020204" pitchFamily="34" charset="0"/>
                <a:cs typeface="Arial" panose="020B0604020202020204" pitchFamily="34" charset="0"/>
              </a:defRPr>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286471"/>
            <a:ext cx="9144000" cy="571529"/>
          </a:xfrm>
          <a:prstGeom prst="rect">
            <a:avLst/>
          </a:prstGeom>
        </p:spPr>
      </p:pic>
      <p:pic>
        <p:nvPicPr>
          <p:cNvPr id="9" name="Picture 8"/>
          <p:cNvPicPr>
            <a:picLocks noChangeAspect="1"/>
          </p:cNvPicPr>
          <p:nvPr userDrawn="1"/>
        </p:nvPicPr>
        <p:blipFill>
          <a:blip r:embed="rId3"/>
          <a:stretch>
            <a:fillRect/>
          </a:stretch>
        </p:blipFill>
        <p:spPr>
          <a:xfrm flipV="1">
            <a:off x="0" y="896533"/>
            <a:ext cx="9144000" cy="89875"/>
          </a:xfrm>
          <a:prstGeom prst="rect">
            <a:avLst/>
          </a:prstGeom>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12.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14.png"/><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16.png"/><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4.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4.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4.jpeg"/></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4.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54635" y="1012190"/>
            <a:ext cx="9788525" cy="3091815"/>
          </a:xfrm>
        </p:spPr>
        <p:txBody>
          <a:bodyPr>
            <a:normAutofit/>
          </a:bodyPr>
          <a:lstStyle/>
          <a:p>
            <a:r>
              <a:rPr lang="en-US" altLang="en-US" sz="4800" b="1" dirty="0">
                <a:solidFill>
                  <a:schemeClr val="accent1">
                    <a:lumMod val="75000"/>
                  </a:schemeClr>
                </a:solidFill>
                <a:effectLst>
                  <a:outerShdw blurRad="38100" dist="38100" dir="2700000" algn="tl">
                    <a:srgbClr val="000000">
                      <a:alpha val="43137"/>
                    </a:srgbClr>
                  </a:outerShdw>
                </a:effectLst>
              </a:rPr>
              <a:t>XÂY DỰNG WEBSITE CỬA HÀNG NƯỚC HOA ORIANNA</a:t>
            </a:r>
            <a:endParaRPr lang="en-US" altLang="en-US" sz="4800" b="1" dirty="0">
              <a:solidFill>
                <a:schemeClr val="accent1">
                  <a:lumMod val="75000"/>
                </a:schemeClr>
              </a:solidFill>
              <a:effectLst>
                <a:outerShdw blurRad="38100" dist="38100" dir="2700000" algn="tl">
                  <a:srgbClr val="000000">
                    <a:alpha val="43137"/>
                  </a:srgbClr>
                </a:outerShdw>
              </a:effectLst>
            </a:endParaRPr>
          </a:p>
        </p:txBody>
      </p:sp>
      <p:pic>
        <p:nvPicPr>
          <p:cNvPr id="7" name="Picture 6"/>
          <p:cNvPicPr>
            <a:picLocks noChangeAspect="1"/>
          </p:cNvPicPr>
          <p:nvPr/>
        </p:nvPicPr>
        <p:blipFill>
          <a:blip r:embed="rId1"/>
          <a:stretch>
            <a:fillRect/>
          </a:stretch>
        </p:blipFill>
        <p:spPr>
          <a:xfrm>
            <a:off x="0" y="5943599"/>
            <a:ext cx="9144000" cy="914401"/>
          </a:xfrm>
          <a:prstGeom prst="rect">
            <a:avLst/>
          </a:prstGeom>
        </p:spPr>
      </p:pic>
      <p:sp>
        <p:nvSpPr>
          <p:cNvPr id="3" name="Text Box 2"/>
          <p:cNvSpPr txBox="1"/>
          <p:nvPr/>
        </p:nvSpPr>
        <p:spPr>
          <a:xfrm>
            <a:off x="346710" y="4348480"/>
            <a:ext cx="3211830" cy="829945"/>
          </a:xfrm>
          <a:prstGeom prst="rect">
            <a:avLst/>
          </a:prstGeom>
          <a:noFill/>
        </p:spPr>
        <p:txBody>
          <a:bodyPr wrap="square" rtlCol="0" anchor="t">
            <a:spAutoFit/>
          </a:bodyPr>
          <a:p>
            <a:r>
              <a:rPr lang="en-US" altLang="en-US" sz="2400" b="1" dirty="0">
                <a:solidFill>
                  <a:srgbClr val="0070C0"/>
                </a:solidFill>
                <a:effectLst>
                  <a:outerShdw blurRad="38100" dist="38100" dir="2700000" algn="tl">
                    <a:srgbClr val="000000">
                      <a:alpha val="43137"/>
                    </a:srgbClr>
                  </a:outerShdw>
                </a:effectLst>
                <a:sym typeface="+mn-ea"/>
              </a:rPr>
              <a:t>Giảng viên hướng dẫn:</a:t>
            </a:r>
            <a:endParaRPr lang="en-US" altLang="en-US" sz="2400" b="1" dirty="0">
              <a:solidFill>
                <a:srgbClr val="0070C0"/>
              </a:solidFill>
              <a:effectLst>
                <a:outerShdw blurRad="38100" dist="38100" dir="2700000" algn="tl">
                  <a:srgbClr val="000000">
                    <a:alpha val="43137"/>
                  </a:srgbClr>
                </a:outerShdw>
              </a:effectLst>
              <a:sym typeface="+mn-ea"/>
            </a:endParaRPr>
          </a:p>
          <a:p>
            <a:r>
              <a:rPr lang="en-US" altLang="en-US" sz="2400" b="1" dirty="0">
                <a:solidFill>
                  <a:srgbClr val="0070C0"/>
                </a:solidFill>
                <a:effectLst>
                  <a:outerShdw blurRad="38100" dist="38100" dir="2700000" algn="tl">
                    <a:srgbClr val="000000">
                      <a:alpha val="43137"/>
                    </a:srgbClr>
                  </a:outerShdw>
                </a:effectLst>
                <a:sym typeface="+mn-ea"/>
              </a:rPr>
              <a:t>Ths. Phạm Minh Đương</a:t>
            </a:r>
            <a:endParaRPr lang="en-US" altLang="en-US" sz="2400" b="1" dirty="0">
              <a:solidFill>
                <a:srgbClr val="0070C0"/>
              </a:solidFill>
              <a:effectLst>
                <a:outerShdw blurRad="38100" dist="38100" dir="2700000" algn="tl">
                  <a:srgbClr val="000000">
                    <a:alpha val="43137"/>
                  </a:srgbClr>
                </a:outerShdw>
              </a:effectLst>
              <a:sym typeface="+mn-ea"/>
            </a:endParaRPr>
          </a:p>
        </p:txBody>
      </p:sp>
      <p:sp>
        <p:nvSpPr>
          <p:cNvPr id="4" name="Text Box 3"/>
          <p:cNvSpPr txBox="1"/>
          <p:nvPr/>
        </p:nvSpPr>
        <p:spPr>
          <a:xfrm>
            <a:off x="5854700" y="4348480"/>
            <a:ext cx="2912745" cy="829945"/>
          </a:xfrm>
          <a:prstGeom prst="rect">
            <a:avLst/>
          </a:prstGeom>
          <a:noFill/>
        </p:spPr>
        <p:txBody>
          <a:bodyPr wrap="square" rtlCol="0" anchor="t">
            <a:spAutoFit/>
          </a:bodyPr>
          <a:p>
            <a:r>
              <a:rPr lang="en-US" altLang="en-US" sz="2400" b="1" dirty="0">
                <a:solidFill>
                  <a:srgbClr val="0070C0"/>
                </a:solidFill>
                <a:effectLst>
                  <a:outerShdw blurRad="38100" dist="38100" dir="2700000" algn="tl">
                    <a:srgbClr val="000000">
                      <a:alpha val="43137"/>
                    </a:srgbClr>
                  </a:outerShdw>
                </a:effectLst>
                <a:sym typeface="+mn-ea"/>
              </a:rPr>
              <a:t>Sinh viên thực hiện: </a:t>
            </a:r>
            <a:endParaRPr lang="en-US" altLang="en-US" sz="2400" b="1" dirty="0">
              <a:solidFill>
                <a:srgbClr val="0070C0"/>
              </a:solidFill>
              <a:effectLst>
                <a:outerShdw blurRad="38100" dist="38100" dir="2700000" algn="tl">
                  <a:srgbClr val="000000">
                    <a:alpha val="43137"/>
                  </a:srgbClr>
                </a:outerShdw>
              </a:effectLst>
              <a:sym typeface="+mn-ea"/>
            </a:endParaRPr>
          </a:p>
          <a:p>
            <a:r>
              <a:rPr lang="en-US" altLang="en-US" sz="2400" b="1" dirty="0">
                <a:solidFill>
                  <a:srgbClr val="0070C0"/>
                </a:solidFill>
                <a:effectLst>
                  <a:outerShdw blurRad="38100" dist="38100" dir="2700000" algn="tl">
                    <a:srgbClr val="000000">
                      <a:alpha val="43137"/>
                    </a:srgbClr>
                  </a:outerShdw>
                </a:effectLst>
                <a:sym typeface="+mn-ea"/>
              </a:rPr>
              <a:t>Hứa Thị Thảo Vy</a:t>
            </a:r>
            <a:endParaRPr lang="en-US" altLang="en-US" sz="2400" b="1" dirty="0">
              <a:solidFill>
                <a:srgbClr val="0070C0"/>
              </a:solidFill>
              <a:effectLst>
                <a:outerShdw blurRad="38100" dist="38100" dir="2700000" algn="tl">
                  <a:srgbClr val="000000">
                    <a:alpha val="43137"/>
                  </a:srgbClr>
                </a:outerShdw>
              </a:effectLst>
              <a:sym typeface="+mn-ea"/>
            </a:endParaRPr>
          </a:p>
        </p:txBody>
      </p:sp>
      <p:pic>
        <p:nvPicPr>
          <p:cNvPr id="5" name="Picture 4" descr="logo-truong-dai-hoc-tra-vinh-inkythuatso-01-20-13-22-30"/>
          <p:cNvPicPr>
            <a:picLocks noChangeAspect="1"/>
          </p:cNvPicPr>
          <p:nvPr/>
        </p:nvPicPr>
        <p:blipFill>
          <a:blip r:embed="rId2"/>
          <a:stretch>
            <a:fillRect/>
          </a:stretch>
        </p:blipFill>
        <p:spPr>
          <a:xfrm>
            <a:off x="168910" y="134620"/>
            <a:ext cx="790575" cy="790575"/>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Calibri" panose="020F0502020204030204" charset="0"/>
                <a:cs typeface="Calibri" panose="020F0502020204030204" charset="0"/>
              </a:rPr>
              <a:t>Nội dung</a:t>
            </a:r>
            <a:endParaRPr lang="en-US">
              <a:latin typeface="Calibri" panose="020F0502020204030204" charset="0"/>
              <a:cs typeface="Calibri" panose="020F0502020204030204" charset="0"/>
            </a:endParaRPr>
          </a:p>
        </p:txBody>
      </p:sp>
      <p:sp>
        <p:nvSpPr>
          <p:cNvPr id="3" name="Content Placeholder 2"/>
          <p:cNvSpPr>
            <a:spLocks noGrp="1"/>
          </p:cNvSpPr>
          <p:nvPr>
            <p:ph idx="1"/>
          </p:nvPr>
        </p:nvSpPr>
        <p:spPr>
          <a:xfrm>
            <a:off x="1527810" y="1377950"/>
            <a:ext cx="3265805" cy="784860"/>
          </a:xfrm>
        </p:spPr>
        <p:txBody>
          <a:bodyPr>
            <a:noAutofit/>
          </a:bodyPr>
          <a:p>
            <a:pPr marL="0" indent="0">
              <a:buNone/>
            </a:pPr>
            <a:r>
              <a:rPr lang="en-US" sz="3600">
                <a:solidFill>
                  <a:schemeClr val="tx1"/>
                </a:solidFill>
                <a:latin typeface="Calibri" panose="020F0502020204030204" charset="0"/>
                <a:cs typeface="Calibri" panose="020F0502020204030204" charset="0"/>
              </a:rPr>
              <a:t>Giới thiệu đề tài</a:t>
            </a:r>
            <a:endParaRPr lang="en-US" sz="3600">
              <a:solidFill>
                <a:schemeClr val="tx1"/>
              </a:solidFill>
              <a:latin typeface="Calibri" panose="020F0502020204030204" charset="0"/>
              <a:cs typeface="Calibri" panose="020F0502020204030204" charset="0"/>
            </a:endParaRPr>
          </a:p>
        </p:txBody>
      </p:sp>
      <p:sp>
        <p:nvSpPr>
          <p:cNvPr id="4" name="Text Box 3"/>
          <p:cNvSpPr txBox="1"/>
          <p:nvPr/>
        </p:nvSpPr>
        <p:spPr>
          <a:xfrm>
            <a:off x="1527810" y="2521585"/>
            <a:ext cx="4572000" cy="645160"/>
          </a:xfrm>
          <a:prstGeom prst="rect">
            <a:avLst/>
          </a:prstGeom>
          <a:noFill/>
        </p:spPr>
        <p:txBody>
          <a:bodyPr wrap="square" rtlCol="0" anchor="t">
            <a:spAutoFit/>
          </a:bodyPr>
          <a:p>
            <a:pPr marL="0" indent="0">
              <a:buNone/>
            </a:pPr>
            <a:r>
              <a:rPr lang="en-US" sz="3600">
                <a:latin typeface="Calibri" panose="020F0502020204030204" charset="0"/>
                <a:cs typeface="Calibri" panose="020F0502020204030204" charset="0"/>
                <a:sym typeface="+mn-ea"/>
              </a:rPr>
              <a:t>Nội dung nghiên cứu</a:t>
            </a:r>
            <a:endParaRPr lang="en-US" sz="3600">
              <a:latin typeface="Calibri" panose="020F0502020204030204" charset="0"/>
              <a:cs typeface="Calibri" panose="020F0502020204030204" charset="0"/>
              <a:sym typeface="+mn-ea"/>
            </a:endParaRPr>
          </a:p>
        </p:txBody>
      </p:sp>
      <p:sp>
        <p:nvSpPr>
          <p:cNvPr id="5" name="Text Box 4"/>
          <p:cNvSpPr txBox="1"/>
          <p:nvPr/>
        </p:nvSpPr>
        <p:spPr>
          <a:xfrm>
            <a:off x="1527810" y="3698240"/>
            <a:ext cx="4572000" cy="645160"/>
          </a:xfrm>
          <a:prstGeom prst="rect">
            <a:avLst/>
          </a:prstGeom>
          <a:noFill/>
        </p:spPr>
        <p:txBody>
          <a:bodyPr wrap="square" rtlCol="0" anchor="t">
            <a:spAutoFit/>
          </a:bodyPr>
          <a:p>
            <a:pPr marL="0" indent="0">
              <a:buNone/>
            </a:pPr>
            <a:r>
              <a:rPr lang="en-US" sz="3600">
                <a:latin typeface="Calibri" panose="020F0502020204030204" charset="0"/>
                <a:cs typeface="Calibri" panose="020F0502020204030204" charset="0"/>
                <a:sym typeface="+mn-ea"/>
              </a:rPr>
              <a:t>Kết quả đạt được</a:t>
            </a:r>
            <a:endParaRPr lang="en-US" sz="3600">
              <a:latin typeface="Calibri" panose="020F0502020204030204" charset="0"/>
              <a:cs typeface="Calibri" panose="020F0502020204030204" charset="0"/>
              <a:sym typeface="+mn-ea"/>
            </a:endParaRPr>
          </a:p>
        </p:txBody>
      </p:sp>
      <p:sp>
        <p:nvSpPr>
          <p:cNvPr id="6" name="Text Box 5"/>
          <p:cNvSpPr txBox="1"/>
          <p:nvPr/>
        </p:nvSpPr>
        <p:spPr>
          <a:xfrm>
            <a:off x="1527810" y="4874260"/>
            <a:ext cx="5854700" cy="645160"/>
          </a:xfrm>
          <a:prstGeom prst="rect">
            <a:avLst/>
          </a:prstGeom>
          <a:noFill/>
        </p:spPr>
        <p:txBody>
          <a:bodyPr wrap="square" rtlCol="0" anchor="t">
            <a:spAutoFit/>
          </a:bodyPr>
          <a:p>
            <a:pPr marL="0" indent="0">
              <a:buNone/>
            </a:pPr>
            <a:r>
              <a:rPr lang="en-US" sz="3600">
                <a:latin typeface="Calibri" panose="020F0502020204030204" charset="0"/>
                <a:cs typeface="Calibri" panose="020F0502020204030204" charset="0"/>
                <a:sym typeface="+mn-ea"/>
              </a:rPr>
              <a:t>Kết luận và hướng phát triển</a:t>
            </a:r>
            <a:endParaRPr lang="en-US" sz="3600">
              <a:latin typeface="Calibri" panose="020F0502020204030204" charset="0"/>
              <a:cs typeface="Calibri" panose="020F0502020204030204" charset="0"/>
              <a:sym typeface="+mn-ea"/>
            </a:endParaRPr>
          </a:p>
        </p:txBody>
      </p:sp>
      <p:pic>
        <p:nvPicPr>
          <p:cNvPr id="11" name="Picture 10" descr="Screenshot 2026-01-04 193543"/>
          <p:cNvPicPr>
            <a:picLocks noChangeAspect="1"/>
          </p:cNvPicPr>
          <p:nvPr/>
        </p:nvPicPr>
        <p:blipFill>
          <a:blip r:embed="rId1"/>
          <a:stretch>
            <a:fillRect/>
          </a:stretch>
        </p:blipFill>
        <p:spPr>
          <a:xfrm>
            <a:off x="331470" y="1227455"/>
            <a:ext cx="960755" cy="935355"/>
          </a:xfrm>
          <a:prstGeom prst="rect">
            <a:avLst/>
          </a:prstGeom>
        </p:spPr>
      </p:pic>
      <p:pic>
        <p:nvPicPr>
          <p:cNvPr id="12" name="Picture 11" descr="Screenshot 2026-01-04 193552"/>
          <p:cNvPicPr>
            <a:picLocks noChangeAspect="1"/>
          </p:cNvPicPr>
          <p:nvPr/>
        </p:nvPicPr>
        <p:blipFill>
          <a:blip r:embed="rId2"/>
          <a:stretch>
            <a:fillRect/>
          </a:stretch>
        </p:blipFill>
        <p:spPr>
          <a:xfrm>
            <a:off x="331470" y="2371090"/>
            <a:ext cx="919480" cy="946150"/>
          </a:xfrm>
          <a:prstGeom prst="rect">
            <a:avLst/>
          </a:prstGeom>
        </p:spPr>
      </p:pic>
      <p:pic>
        <p:nvPicPr>
          <p:cNvPr id="13" name="Picture 12" descr="Screenshot 2026-01-04 193559"/>
          <p:cNvPicPr>
            <a:picLocks noChangeAspect="1"/>
          </p:cNvPicPr>
          <p:nvPr/>
        </p:nvPicPr>
        <p:blipFill>
          <a:blip r:embed="rId3"/>
          <a:stretch>
            <a:fillRect/>
          </a:stretch>
        </p:blipFill>
        <p:spPr>
          <a:xfrm>
            <a:off x="301625" y="3525520"/>
            <a:ext cx="943610" cy="956945"/>
          </a:xfrm>
          <a:prstGeom prst="rect">
            <a:avLst/>
          </a:prstGeom>
        </p:spPr>
      </p:pic>
      <p:pic>
        <p:nvPicPr>
          <p:cNvPr id="14" name="Picture 13" descr="Screenshot 2026-01-04 193606"/>
          <p:cNvPicPr>
            <a:picLocks noChangeAspect="1"/>
          </p:cNvPicPr>
          <p:nvPr/>
        </p:nvPicPr>
        <p:blipFill>
          <a:blip r:embed="rId4"/>
          <a:stretch>
            <a:fillRect/>
          </a:stretch>
        </p:blipFill>
        <p:spPr>
          <a:xfrm>
            <a:off x="305435" y="4690745"/>
            <a:ext cx="945515" cy="920750"/>
          </a:xfrm>
          <a:prstGeom prst="rect">
            <a:avLst/>
          </a:prstGeom>
        </p:spPr>
      </p:pic>
      <p:pic>
        <p:nvPicPr>
          <p:cNvPr id="15" name="Picture 14" descr="logo-truong-dai-hoc-tra-vinh-inkythuatso-01-20-13-22-30"/>
          <p:cNvPicPr>
            <a:picLocks noChangeAspect="1"/>
          </p:cNvPicPr>
          <p:nvPr/>
        </p:nvPicPr>
        <p:blipFill>
          <a:blip r:embed="rId5"/>
          <a:stretch>
            <a:fillRect/>
          </a:stretch>
        </p:blipFill>
        <p:spPr>
          <a:xfrm>
            <a:off x="168910" y="57785"/>
            <a:ext cx="790575" cy="7905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Calibri" panose="020F0502020204030204" charset="0"/>
                <a:cs typeface="Calibri" panose="020F0502020204030204" charset="0"/>
              </a:rPr>
              <a:t>1. Giới thiệu đề tài</a:t>
            </a:r>
            <a:endParaRPr lang="en-US">
              <a:latin typeface="Calibri" panose="020F0502020204030204" charset="0"/>
              <a:cs typeface="Calibri" panose="020F0502020204030204" charset="0"/>
            </a:endParaRPr>
          </a:p>
        </p:txBody>
      </p:sp>
      <p:sp>
        <p:nvSpPr>
          <p:cNvPr id="3" name="Content Placeholder 2"/>
          <p:cNvSpPr>
            <a:spLocks noGrp="1"/>
          </p:cNvSpPr>
          <p:nvPr>
            <p:ph idx="1"/>
          </p:nvPr>
        </p:nvSpPr>
        <p:spPr>
          <a:xfrm>
            <a:off x="457200" y="1600200"/>
            <a:ext cx="8229600" cy="3551555"/>
          </a:xfrm>
        </p:spPr>
        <p:txBody>
          <a:bodyPr>
            <a:noAutofit/>
          </a:bodyPr>
          <a:p>
            <a:pPr marL="0" indent="0" algn="just">
              <a:buNone/>
            </a:pPr>
            <a:r>
              <a:rPr lang="en-US" altLang="en-US" sz="2600">
                <a:latin typeface="Calibri" panose="020F0502020204030204" charset="0"/>
                <a:cs typeface="Calibri" panose="020F0502020204030204" charset="0"/>
              </a:rPr>
              <a:t>Lý do chọn đề tài: </a:t>
            </a:r>
            <a:endParaRPr lang="en-US" altLang="en-US" sz="2600">
              <a:latin typeface="Calibri" panose="020F0502020204030204" charset="0"/>
              <a:cs typeface="Calibri" panose="020F0502020204030204" charset="0"/>
            </a:endParaRPr>
          </a:p>
          <a:p>
            <a:pPr marL="457200" lvl="1" indent="0" algn="just">
              <a:buNone/>
            </a:pPr>
            <a:r>
              <a:rPr lang="en-US" altLang="en-US" sz="2600">
                <a:latin typeface="Calibri" panose="020F0502020204030204" charset="0"/>
                <a:cs typeface="Calibri" panose="020F0502020204030204" charset="0"/>
              </a:rPr>
              <a:t>Xu h</a:t>
            </a:r>
            <a:r>
              <a:rPr lang="" altLang="en-US" sz="2600">
                <a:latin typeface="Calibri" panose="020F0502020204030204" charset="0"/>
                <a:cs typeface="Calibri" panose="020F0502020204030204" charset="0"/>
              </a:rPr>
              <a:t>ư</a:t>
            </a:r>
            <a:r>
              <a:rPr lang="en-US" altLang="en-US" sz="2600">
                <a:latin typeface="Calibri" panose="020F0502020204030204" charset="0"/>
                <a:cs typeface="Calibri" panose="020F0502020204030204" charset="0"/>
              </a:rPr>
              <a:t>ớng mua sắm trực tuyến </a:t>
            </a:r>
            <a:r>
              <a:rPr lang="" altLang="en-US" sz="2600">
                <a:latin typeface="Calibri" panose="020F0502020204030204" charset="0"/>
                <a:cs typeface="Calibri" panose="020F0502020204030204" charset="0"/>
              </a:rPr>
              <a:t>đ</a:t>
            </a:r>
            <a:r>
              <a:rPr lang="en-US" altLang="en-US" sz="2600">
                <a:latin typeface="Calibri" panose="020F0502020204030204" charset="0"/>
                <a:cs typeface="Calibri" panose="020F0502020204030204" charset="0"/>
              </a:rPr>
              <a:t>ang trở thành lựa chọn phổ biến nhờ sự tiện lợi và nhanh chóng, </a:t>
            </a:r>
            <a:r>
              <a:rPr lang="" altLang="en-US" sz="2600">
                <a:latin typeface="Calibri" panose="020F0502020204030204" charset="0"/>
                <a:cs typeface="Calibri" panose="020F0502020204030204" charset="0"/>
              </a:rPr>
              <a:t>đ</a:t>
            </a:r>
            <a:r>
              <a:rPr lang="en-US" altLang="en-US" sz="2600">
                <a:latin typeface="Calibri" panose="020F0502020204030204" charset="0"/>
                <a:cs typeface="Calibri" panose="020F0502020204030204" charset="0"/>
              </a:rPr>
              <a:t>ặc biệt trong l</a:t>
            </a:r>
            <a:r>
              <a:rPr lang="" altLang="en-US" sz="2600">
                <a:latin typeface="Calibri" panose="020F0502020204030204" charset="0"/>
                <a:cs typeface="Calibri" panose="020F0502020204030204" charset="0"/>
              </a:rPr>
              <a:t>ĩ</a:t>
            </a:r>
            <a:r>
              <a:rPr lang="en-US" altLang="en-US" sz="2600">
                <a:latin typeface="Calibri" panose="020F0502020204030204" charset="0"/>
                <a:cs typeface="Calibri" panose="020F0502020204030204" charset="0"/>
              </a:rPr>
              <a:t>nh vực kinh doanh n</a:t>
            </a:r>
            <a:r>
              <a:rPr lang="" altLang="en-US" sz="2600">
                <a:latin typeface="Calibri" panose="020F0502020204030204" charset="0"/>
                <a:cs typeface="Calibri" panose="020F0502020204030204" charset="0"/>
              </a:rPr>
              <a:t>ư</a:t>
            </a:r>
            <a:r>
              <a:rPr lang="en-US" altLang="en-US" sz="2600">
                <a:latin typeface="Calibri" panose="020F0502020204030204" charset="0"/>
                <a:cs typeface="Calibri" panose="020F0502020204030204" charset="0"/>
              </a:rPr>
              <a:t>ớc hoa. Việc triển khai website bán hàng giúp mở rộng khả n</a:t>
            </a:r>
            <a:r>
              <a:rPr lang="" altLang="en-US" sz="2600">
                <a:latin typeface="Calibri" panose="020F0502020204030204" charset="0"/>
                <a:cs typeface="Calibri" panose="020F0502020204030204" charset="0"/>
              </a:rPr>
              <a:t>ă</a:t>
            </a:r>
            <a:r>
              <a:rPr lang="en-US" altLang="en-US" sz="2600">
                <a:latin typeface="Calibri" panose="020F0502020204030204" charset="0"/>
                <a:cs typeface="Calibri" panose="020F0502020204030204" charset="0"/>
              </a:rPr>
              <a:t>ng tiếp cận khách hàng và nâng cao hiệu quả kinh doanh, giúp khách hàng dễ dàng tìm kiếm, lựa chọn và </a:t>
            </a:r>
            <a:r>
              <a:rPr lang="" altLang="en-US" sz="2600">
                <a:latin typeface="Calibri" panose="020F0502020204030204" charset="0"/>
                <a:cs typeface="Calibri" panose="020F0502020204030204" charset="0"/>
              </a:rPr>
              <a:t>đ</a:t>
            </a:r>
            <a:r>
              <a:rPr lang="en-US" altLang="en-US" sz="2600">
                <a:latin typeface="Calibri" panose="020F0502020204030204" charset="0"/>
                <a:cs typeface="Calibri" panose="020F0502020204030204" charset="0"/>
              </a:rPr>
              <a:t>ặt mua sản phẩm trực tuyến.</a:t>
            </a:r>
            <a:endParaRPr lang="en-US" altLang="en-US" sz="2600">
              <a:latin typeface="Calibri" panose="020F0502020204030204" charset="0"/>
              <a:cs typeface="Calibri" panose="020F0502020204030204" charset="0"/>
            </a:endParaRPr>
          </a:p>
        </p:txBody>
      </p:sp>
      <p:pic>
        <p:nvPicPr>
          <p:cNvPr id="15" name="Picture 14" descr="logo-truong-dai-hoc-tra-vinh-inkythuatso-01-20-13-22-30"/>
          <p:cNvPicPr>
            <a:picLocks noChangeAspect="1"/>
          </p:cNvPicPr>
          <p:nvPr/>
        </p:nvPicPr>
        <p:blipFill>
          <a:blip r:embed="rId1"/>
          <a:stretch>
            <a:fillRect/>
          </a:stretch>
        </p:blipFill>
        <p:spPr>
          <a:xfrm>
            <a:off x="168910" y="57785"/>
            <a:ext cx="790575" cy="7905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Calibri" panose="020F0502020204030204" charset="0"/>
                <a:cs typeface="Calibri" panose="020F0502020204030204" charset="0"/>
              </a:rPr>
              <a:t>1. Giới thiệu đề tài</a:t>
            </a:r>
            <a:endParaRPr lang="en-US">
              <a:latin typeface="Calibri" panose="020F0502020204030204" charset="0"/>
              <a:cs typeface="Calibri" panose="020F0502020204030204" charset="0"/>
            </a:endParaRPr>
          </a:p>
        </p:txBody>
      </p:sp>
      <p:sp>
        <p:nvSpPr>
          <p:cNvPr id="3" name="Content Placeholder 2"/>
          <p:cNvSpPr>
            <a:spLocks noGrp="1"/>
          </p:cNvSpPr>
          <p:nvPr>
            <p:ph idx="1"/>
          </p:nvPr>
        </p:nvSpPr>
        <p:spPr>
          <a:xfrm>
            <a:off x="457200" y="1600200"/>
            <a:ext cx="8229600" cy="3551555"/>
          </a:xfrm>
        </p:spPr>
        <p:txBody>
          <a:bodyPr>
            <a:noAutofit/>
          </a:bodyPr>
          <a:p>
            <a:pPr marL="0" indent="0" algn="just">
              <a:buNone/>
            </a:pPr>
            <a:r>
              <a:rPr lang="en-US" altLang="en-US" sz="2600">
                <a:latin typeface="Calibri" panose="020F0502020204030204" charset="0"/>
                <a:cs typeface="Calibri" panose="020F0502020204030204" charset="0"/>
              </a:rPr>
              <a:t>Mục tiêu của </a:t>
            </a:r>
            <a:r>
              <a:rPr lang="" altLang="en-US" sz="2600">
                <a:latin typeface="Calibri" panose="020F0502020204030204" charset="0"/>
                <a:cs typeface="Calibri" panose="020F0502020204030204" charset="0"/>
              </a:rPr>
              <a:t>đ</a:t>
            </a:r>
            <a:r>
              <a:rPr lang="en-US" altLang="en-US" sz="2600">
                <a:latin typeface="Calibri" panose="020F0502020204030204" charset="0"/>
                <a:cs typeface="Calibri" panose="020F0502020204030204" charset="0"/>
              </a:rPr>
              <a:t>ề tài:</a:t>
            </a:r>
            <a:endParaRPr lang="en-US" altLang="en-US" sz="2600">
              <a:latin typeface="Calibri" panose="020F0502020204030204" charset="0"/>
              <a:cs typeface="Calibri" panose="020F0502020204030204" charset="0"/>
            </a:endParaRPr>
          </a:p>
          <a:p>
            <a:pPr marL="457200" lvl="1" indent="0" algn="just">
              <a:buNone/>
            </a:pPr>
            <a:r>
              <a:rPr lang="en-US" altLang="en-US" sz="2600">
                <a:latin typeface="Calibri" panose="020F0502020204030204" charset="0"/>
                <a:cs typeface="Calibri" panose="020F0502020204030204" charset="0"/>
              </a:rPr>
              <a:t>Xây dựng một website bán n</a:t>
            </a:r>
            <a:r>
              <a:rPr lang="" altLang="en-US" sz="2600">
                <a:latin typeface="Calibri" panose="020F0502020204030204" charset="0"/>
                <a:cs typeface="Calibri" panose="020F0502020204030204" charset="0"/>
              </a:rPr>
              <a:t>ư</a:t>
            </a:r>
            <a:r>
              <a:rPr lang="en-US" altLang="en-US" sz="2600">
                <a:latin typeface="Calibri" panose="020F0502020204030204" charset="0"/>
                <a:cs typeface="Calibri" panose="020F0502020204030204" charset="0"/>
              </a:rPr>
              <a:t>ớc hoa trực tuyến với </a:t>
            </a:r>
            <a:r>
              <a:rPr lang="" altLang="en-US" sz="2600">
                <a:latin typeface="Calibri" panose="020F0502020204030204" charset="0"/>
                <a:cs typeface="Calibri" panose="020F0502020204030204" charset="0"/>
              </a:rPr>
              <a:t>đ</a:t>
            </a:r>
            <a:r>
              <a:rPr lang="en-US" altLang="en-US" sz="2600">
                <a:latin typeface="Calibri" panose="020F0502020204030204" charset="0"/>
                <a:cs typeface="Calibri" panose="020F0502020204030204" charset="0"/>
              </a:rPr>
              <a:t>ầy </a:t>
            </a:r>
            <a:r>
              <a:rPr lang="" altLang="en-US" sz="2600">
                <a:latin typeface="Calibri" panose="020F0502020204030204" charset="0"/>
                <a:cs typeface="Calibri" panose="020F0502020204030204" charset="0"/>
              </a:rPr>
              <a:t>đ</a:t>
            </a:r>
            <a:r>
              <a:rPr lang="en-US" altLang="en-US" sz="2600">
                <a:latin typeface="Calibri" panose="020F0502020204030204" charset="0"/>
                <a:cs typeface="Calibri" panose="020F0502020204030204" charset="0"/>
              </a:rPr>
              <a:t>ủ các chức n</a:t>
            </a:r>
            <a:r>
              <a:rPr lang="" altLang="en-US" sz="2600">
                <a:latin typeface="Calibri" panose="020F0502020204030204" charset="0"/>
                <a:cs typeface="Calibri" panose="020F0502020204030204" charset="0"/>
              </a:rPr>
              <a:t>ă</a:t>
            </a:r>
            <a:r>
              <a:rPr lang="en-US" altLang="en-US" sz="2600">
                <a:latin typeface="Calibri" panose="020F0502020204030204" charset="0"/>
                <a:cs typeface="Calibri" panose="020F0502020204030204" charset="0"/>
              </a:rPr>
              <a:t>ng cơ bản nh</a:t>
            </a:r>
            <a:r>
              <a:rPr lang="" altLang="en-US" sz="2600">
                <a:latin typeface="Calibri" panose="020F0502020204030204" charset="0"/>
                <a:cs typeface="Calibri" panose="020F0502020204030204" charset="0"/>
              </a:rPr>
              <a:t>ư</a:t>
            </a:r>
            <a:r>
              <a:rPr lang="en-US" altLang="en-US" sz="2600">
                <a:latin typeface="Calibri" panose="020F0502020204030204" charset="0"/>
                <a:cs typeface="Calibri" panose="020F0502020204030204" charset="0"/>
              </a:rPr>
              <a:t> </a:t>
            </a:r>
            <a:r>
              <a:rPr lang="" altLang="en-US" sz="2600">
                <a:latin typeface="Calibri" panose="020F0502020204030204" charset="0"/>
                <a:cs typeface="Calibri" panose="020F0502020204030204" charset="0"/>
              </a:rPr>
              <a:t>đă</a:t>
            </a:r>
            <a:r>
              <a:rPr lang="en-US" altLang="en-US" sz="2600">
                <a:latin typeface="Calibri" panose="020F0502020204030204" charset="0"/>
                <a:cs typeface="Calibri" panose="020F0502020204030204" charset="0"/>
              </a:rPr>
              <a:t>ng k</a:t>
            </a:r>
            <a:r>
              <a:rPr lang="" altLang="en-US" sz="2600">
                <a:latin typeface="Calibri" panose="020F0502020204030204" charset="0"/>
                <a:cs typeface="Calibri" panose="020F0502020204030204" charset="0"/>
              </a:rPr>
              <a:t>ý</a:t>
            </a:r>
            <a:r>
              <a:rPr lang="en-US" altLang="en-US" sz="2600">
                <a:latin typeface="Calibri" panose="020F0502020204030204" charset="0"/>
                <a:cs typeface="Calibri" panose="020F0502020204030204" charset="0"/>
              </a:rPr>
              <a:t>, </a:t>
            </a:r>
            <a:r>
              <a:rPr lang="" altLang="en-US" sz="2600">
                <a:latin typeface="Calibri" panose="020F0502020204030204" charset="0"/>
                <a:cs typeface="Calibri" panose="020F0502020204030204" charset="0"/>
              </a:rPr>
              <a:t>đă</a:t>
            </a:r>
            <a:r>
              <a:rPr lang="en-US" altLang="en-US" sz="2600">
                <a:latin typeface="Calibri" panose="020F0502020204030204" charset="0"/>
                <a:cs typeface="Calibri" panose="020F0502020204030204" charset="0"/>
              </a:rPr>
              <a:t>ng nhập, hiển thị và tìm kiếm sản phẩm, </a:t>
            </a:r>
            <a:r>
              <a:rPr lang="" altLang="en-US" sz="2600">
                <a:latin typeface="Calibri" panose="020F0502020204030204" charset="0"/>
                <a:cs typeface="Calibri" panose="020F0502020204030204" charset="0"/>
              </a:rPr>
              <a:t>đ</a:t>
            </a:r>
            <a:r>
              <a:rPr lang="en-US" altLang="en-US" sz="2600">
                <a:latin typeface="Calibri" panose="020F0502020204030204" charset="0"/>
                <a:cs typeface="Calibri" panose="020F0502020204030204" charset="0"/>
              </a:rPr>
              <a:t>ặt hàng trực tuyến. Ngoài ra, hệ thống còn tích hợp chatbot AI nhằm hỗ trợ t</a:t>
            </a:r>
            <a:r>
              <a:rPr lang="" altLang="en-US" sz="2600">
                <a:latin typeface="Calibri" panose="020F0502020204030204" charset="0"/>
                <a:cs typeface="Calibri" panose="020F0502020204030204" charset="0"/>
              </a:rPr>
              <a:t>ư</a:t>
            </a:r>
            <a:r>
              <a:rPr lang="en-US" altLang="en-US" sz="2600">
                <a:latin typeface="Calibri" panose="020F0502020204030204" charset="0"/>
                <a:cs typeface="Calibri" panose="020F0502020204030204" charset="0"/>
              </a:rPr>
              <a:t> vấn sản phẩm, </a:t>
            </a:r>
            <a:r>
              <a:rPr lang="" altLang="en-US" sz="2600">
                <a:latin typeface="Calibri" panose="020F0502020204030204" charset="0"/>
                <a:cs typeface="Calibri" panose="020F0502020204030204" charset="0"/>
              </a:rPr>
              <a:t>đ</a:t>
            </a:r>
            <a:r>
              <a:rPr lang="en-US" altLang="en-US" sz="2600">
                <a:latin typeface="Calibri" panose="020F0502020204030204" charset="0"/>
                <a:cs typeface="Calibri" panose="020F0502020204030204" charset="0"/>
              </a:rPr>
              <a:t>ồng thời cung cấp trang quản trị giúp quản l</a:t>
            </a:r>
            <a:r>
              <a:rPr lang="" altLang="en-US" sz="2600">
                <a:latin typeface="Calibri" panose="020F0502020204030204" charset="0"/>
                <a:cs typeface="Calibri" panose="020F0502020204030204" charset="0"/>
              </a:rPr>
              <a:t>ý</a:t>
            </a:r>
            <a:r>
              <a:rPr lang="en-US" altLang="en-US" sz="2600">
                <a:latin typeface="Calibri" panose="020F0502020204030204" charset="0"/>
                <a:cs typeface="Calibri" panose="020F0502020204030204" charset="0"/>
              </a:rPr>
              <a:t> sản phẩm, </a:t>
            </a:r>
            <a:r>
              <a:rPr lang="" altLang="en-US" sz="2600">
                <a:latin typeface="Calibri" panose="020F0502020204030204" charset="0"/>
                <a:cs typeface="Calibri" panose="020F0502020204030204" charset="0"/>
              </a:rPr>
              <a:t>đ</a:t>
            </a:r>
            <a:r>
              <a:rPr lang="en-US" altLang="en-US" sz="2600">
                <a:latin typeface="Calibri" panose="020F0502020204030204" charset="0"/>
                <a:cs typeface="Calibri" panose="020F0502020204030204" charset="0"/>
              </a:rPr>
              <a:t>ơn hàng và ng</a:t>
            </a:r>
            <a:r>
              <a:rPr lang="" altLang="en-US" sz="2600">
                <a:latin typeface="Calibri" panose="020F0502020204030204" charset="0"/>
                <a:cs typeface="Calibri" panose="020F0502020204030204" charset="0"/>
              </a:rPr>
              <a:t>ư</a:t>
            </a:r>
            <a:r>
              <a:rPr lang="en-US" altLang="en-US" sz="2600">
                <a:latin typeface="Calibri" panose="020F0502020204030204" charset="0"/>
                <a:cs typeface="Calibri" panose="020F0502020204030204" charset="0"/>
              </a:rPr>
              <a:t>ời dùng một cách hiệu quả.</a:t>
            </a:r>
            <a:endParaRPr lang="en-US" altLang="en-US" sz="2600">
              <a:latin typeface="Calibri" panose="020F0502020204030204" charset="0"/>
              <a:cs typeface="Calibri" panose="020F0502020204030204" charset="0"/>
            </a:endParaRPr>
          </a:p>
        </p:txBody>
      </p:sp>
      <p:pic>
        <p:nvPicPr>
          <p:cNvPr id="15" name="Picture 14" descr="logo-truong-dai-hoc-tra-vinh-inkythuatso-01-20-13-22-30"/>
          <p:cNvPicPr>
            <a:picLocks noChangeAspect="1"/>
          </p:cNvPicPr>
          <p:nvPr/>
        </p:nvPicPr>
        <p:blipFill>
          <a:blip r:embed="rId1"/>
          <a:stretch>
            <a:fillRect/>
          </a:stretch>
        </p:blipFill>
        <p:spPr>
          <a:xfrm>
            <a:off x="168910" y="57785"/>
            <a:ext cx="790575" cy="7905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Calibri" panose="020F0502020204030204" charset="0"/>
                <a:cs typeface="Calibri" panose="020F0502020204030204" charset="0"/>
              </a:rPr>
              <a:t>2. Nội dung nghiên cứu</a:t>
            </a:r>
            <a:endParaRPr lang="en-US">
              <a:latin typeface="Calibri" panose="020F0502020204030204" charset="0"/>
              <a:cs typeface="Calibri" panose="020F0502020204030204" charset="0"/>
            </a:endParaRPr>
          </a:p>
        </p:txBody>
      </p:sp>
      <p:sp>
        <p:nvSpPr>
          <p:cNvPr id="3" name="Content Placeholder 2"/>
          <p:cNvSpPr>
            <a:spLocks noGrp="1"/>
          </p:cNvSpPr>
          <p:nvPr>
            <p:ph idx="1"/>
          </p:nvPr>
        </p:nvSpPr>
        <p:spPr>
          <a:xfrm>
            <a:off x="457200" y="1600200"/>
            <a:ext cx="8229600" cy="4285615"/>
          </a:xfrm>
        </p:spPr>
        <p:txBody>
          <a:bodyPr>
            <a:noAutofit/>
          </a:bodyPr>
          <a:p>
            <a:pPr marL="0" indent="0" algn="just">
              <a:buNone/>
            </a:pPr>
            <a:r>
              <a:rPr lang="en-US" sz="2600">
                <a:latin typeface="Calibri" panose="020F0502020204030204" charset="0"/>
                <a:cs typeface="Calibri" panose="020F0502020204030204" charset="0"/>
              </a:rPr>
              <a:t>Đối tượng và phạm vi nghiên cứu:</a:t>
            </a:r>
            <a:endParaRPr lang="en-US" sz="2600">
              <a:latin typeface="Calibri" panose="020F0502020204030204" charset="0"/>
              <a:cs typeface="Calibri" panose="020F0502020204030204" charset="0"/>
            </a:endParaRPr>
          </a:p>
          <a:p>
            <a:pPr marL="457200" lvl="1" indent="0" algn="just">
              <a:buNone/>
            </a:pPr>
            <a:r>
              <a:rPr lang="" altLang="en-US" sz="2600">
                <a:latin typeface="Calibri" panose="020F0502020204030204" charset="0"/>
                <a:cs typeface="Calibri" panose="020F0502020204030204" charset="0"/>
              </a:rPr>
              <a:t>Đ</a:t>
            </a:r>
            <a:r>
              <a:rPr lang="en-US" altLang="en-US" sz="2600">
                <a:latin typeface="Calibri" panose="020F0502020204030204" charset="0"/>
                <a:cs typeface="Calibri" panose="020F0502020204030204" charset="0"/>
              </a:rPr>
              <a:t>ối t</a:t>
            </a:r>
            <a:r>
              <a:rPr lang="" altLang="en-US" sz="2600">
                <a:latin typeface="Calibri" panose="020F0502020204030204" charset="0"/>
                <a:cs typeface="Calibri" panose="020F0502020204030204" charset="0"/>
              </a:rPr>
              <a:t>ư</a:t>
            </a:r>
            <a:r>
              <a:rPr lang="en-US" altLang="en-US" sz="2600">
                <a:latin typeface="Calibri" panose="020F0502020204030204" charset="0"/>
                <a:cs typeface="Calibri" panose="020F0502020204030204" charset="0"/>
              </a:rPr>
              <a:t>ợng nghiên cứu của </a:t>
            </a:r>
            <a:r>
              <a:rPr lang="" altLang="en-US" sz="2600">
                <a:latin typeface="Calibri" panose="020F0502020204030204" charset="0"/>
                <a:cs typeface="Calibri" panose="020F0502020204030204" charset="0"/>
              </a:rPr>
              <a:t>đ</a:t>
            </a:r>
            <a:r>
              <a:rPr lang="en-US" altLang="en-US" sz="2600">
                <a:latin typeface="Calibri" panose="020F0502020204030204" charset="0"/>
                <a:cs typeface="Calibri" panose="020F0502020204030204" charset="0"/>
              </a:rPr>
              <a:t>ề tài là hệ thống website bán n</a:t>
            </a:r>
            <a:r>
              <a:rPr lang="" altLang="en-US" sz="2600">
                <a:latin typeface="Calibri" panose="020F0502020204030204" charset="0"/>
                <a:cs typeface="Calibri" panose="020F0502020204030204" charset="0"/>
              </a:rPr>
              <a:t>ư</a:t>
            </a:r>
            <a:r>
              <a:rPr lang="en-US" altLang="en-US" sz="2600">
                <a:latin typeface="Calibri" panose="020F0502020204030204" charset="0"/>
                <a:cs typeface="Calibri" panose="020F0502020204030204" charset="0"/>
              </a:rPr>
              <a:t>ớc hoa trực tuyến Orianna cùng các nhóm ng</a:t>
            </a:r>
            <a:r>
              <a:rPr lang="" altLang="en-US" sz="2600">
                <a:latin typeface="Calibri" panose="020F0502020204030204" charset="0"/>
                <a:cs typeface="Calibri" panose="020F0502020204030204" charset="0"/>
              </a:rPr>
              <a:t>ư</a:t>
            </a:r>
            <a:r>
              <a:rPr lang="en-US" altLang="en-US" sz="2600">
                <a:latin typeface="Calibri" panose="020F0502020204030204" charset="0"/>
                <a:cs typeface="Calibri" panose="020F0502020204030204" charset="0"/>
              </a:rPr>
              <a:t>ời dùng bao gồm khách hàng và quản trị viên. </a:t>
            </a:r>
            <a:endParaRPr lang="en-US" altLang="en-US" sz="2600">
              <a:latin typeface="Calibri" panose="020F0502020204030204" charset="0"/>
              <a:cs typeface="Calibri" panose="020F0502020204030204" charset="0"/>
            </a:endParaRPr>
          </a:p>
          <a:p>
            <a:pPr marL="457200" lvl="1" indent="0" algn="just">
              <a:buNone/>
            </a:pPr>
            <a:r>
              <a:rPr lang="en-US" altLang="en-US" sz="2600">
                <a:latin typeface="Calibri" panose="020F0502020204030204" charset="0"/>
                <a:cs typeface="Calibri" panose="020F0502020204030204" charset="0"/>
              </a:rPr>
              <a:t>Phạm vi nghiên cứu tập trung vào việc xây dựng website ở mức </a:t>
            </a:r>
            <a:r>
              <a:rPr lang="" altLang="en-US" sz="2600">
                <a:latin typeface="Calibri" panose="020F0502020204030204" charset="0"/>
                <a:cs typeface="Calibri" panose="020F0502020204030204" charset="0"/>
              </a:rPr>
              <a:t>đ</a:t>
            </a:r>
            <a:r>
              <a:rPr lang="en-US" altLang="en-US" sz="2600">
                <a:latin typeface="Calibri" panose="020F0502020204030204" charset="0"/>
                <a:cs typeface="Calibri" panose="020F0502020204030204" charset="0"/>
              </a:rPr>
              <a:t>ộ minh họa, phục vụ mục </a:t>
            </a:r>
            <a:r>
              <a:rPr lang="" altLang="en-US" sz="2600">
                <a:latin typeface="Calibri" panose="020F0502020204030204" charset="0"/>
                <a:cs typeface="Calibri" panose="020F0502020204030204" charset="0"/>
              </a:rPr>
              <a:t>đ</a:t>
            </a:r>
            <a:r>
              <a:rPr lang="en-US" altLang="en-US" sz="2600">
                <a:latin typeface="Calibri" panose="020F0502020204030204" charset="0"/>
                <a:cs typeface="Calibri" panose="020F0502020204030204" charset="0"/>
              </a:rPr>
              <a:t>ích học tập và nghiên cứu, ch</a:t>
            </a:r>
            <a:r>
              <a:rPr lang="" altLang="en-US" sz="2600">
                <a:latin typeface="Calibri" panose="020F0502020204030204" charset="0"/>
                <a:cs typeface="Calibri" panose="020F0502020204030204" charset="0"/>
              </a:rPr>
              <a:t>ư</a:t>
            </a:r>
            <a:r>
              <a:rPr lang="en-US" altLang="en-US" sz="2600">
                <a:latin typeface="Calibri" panose="020F0502020204030204" charset="0"/>
                <a:cs typeface="Calibri" panose="020F0502020204030204" charset="0"/>
              </a:rPr>
              <a:t>a </a:t>
            </a:r>
            <a:r>
              <a:rPr lang="" altLang="en-US" sz="2600">
                <a:latin typeface="Calibri" panose="020F0502020204030204" charset="0"/>
                <a:cs typeface="Calibri" panose="020F0502020204030204" charset="0"/>
              </a:rPr>
              <a:t>đ</a:t>
            </a:r>
            <a:r>
              <a:rPr lang="en-US" altLang="en-US" sz="2600">
                <a:latin typeface="Calibri" panose="020F0502020204030204" charset="0"/>
                <a:cs typeface="Calibri" panose="020F0502020204030204" charset="0"/>
              </a:rPr>
              <a:t>i sâu vào các chức n</a:t>
            </a:r>
            <a:r>
              <a:rPr lang="" altLang="en-US" sz="2600">
                <a:latin typeface="Calibri" panose="020F0502020204030204" charset="0"/>
                <a:cs typeface="Calibri" panose="020F0502020204030204" charset="0"/>
              </a:rPr>
              <a:t>ă</a:t>
            </a:r>
            <a:r>
              <a:rPr lang="en-US" altLang="en-US" sz="2600">
                <a:latin typeface="Calibri" panose="020F0502020204030204" charset="0"/>
                <a:cs typeface="Calibri" panose="020F0502020204030204" charset="0"/>
              </a:rPr>
              <a:t>ng nâng cao nh</a:t>
            </a:r>
            <a:r>
              <a:rPr lang="" altLang="en-US" sz="2600">
                <a:latin typeface="Calibri" panose="020F0502020204030204" charset="0"/>
                <a:cs typeface="Calibri" panose="020F0502020204030204" charset="0"/>
              </a:rPr>
              <a:t>ư</a:t>
            </a:r>
            <a:r>
              <a:rPr lang="en-US" altLang="en-US" sz="2600">
                <a:latin typeface="Calibri" panose="020F0502020204030204" charset="0"/>
                <a:cs typeface="Calibri" panose="020F0502020204030204" charset="0"/>
              </a:rPr>
              <a:t> thanh toán trực tuyến qua cổng ngân hàng.</a:t>
            </a:r>
            <a:endParaRPr lang="en-US" altLang="en-US" sz="2600">
              <a:latin typeface="Calibri" panose="020F0502020204030204" charset="0"/>
              <a:cs typeface="Calibri" panose="020F0502020204030204" charset="0"/>
            </a:endParaRPr>
          </a:p>
          <a:p>
            <a:pPr marL="0" indent="0" algn="just">
              <a:buNone/>
            </a:pPr>
            <a:endParaRPr lang="en-US" altLang="en-US" sz="2600">
              <a:latin typeface="Calibri" panose="020F0502020204030204" charset="0"/>
              <a:cs typeface="Calibri" panose="020F0502020204030204" charset="0"/>
            </a:endParaRPr>
          </a:p>
        </p:txBody>
      </p:sp>
      <p:pic>
        <p:nvPicPr>
          <p:cNvPr id="15" name="Picture 14" descr="logo-truong-dai-hoc-tra-vinh-inkythuatso-01-20-13-22-30"/>
          <p:cNvPicPr>
            <a:picLocks noChangeAspect="1"/>
          </p:cNvPicPr>
          <p:nvPr/>
        </p:nvPicPr>
        <p:blipFill>
          <a:blip r:embed="rId1"/>
          <a:stretch>
            <a:fillRect/>
          </a:stretch>
        </p:blipFill>
        <p:spPr>
          <a:xfrm>
            <a:off x="168910" y="57785"/>
            <a:ext cx="790575" cy="7905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Calibri" panose="020F0502020204030204" charset="0"/>
                <a:cs typeface="Calibri" panose="020F0502020204030204" charset="0"/>
              </a:rPr>
              <a:t>2. Nội dung nghiên cứu</a:t>
            </a:r>
            <a:endParaRPr lang="en-US">
              <a:latin typeface="Calibri" panose="020F0502020204030204" charset="0"/>
              <a:cs typeface="Calibri" panose="020F0502020204030204" charset="0"/>
            </a:endParaRPr>
          </a:p>
        </p:txBody>
      </p:sp>
      <p:sp>
        <p:nvSpPr>
          <p:cNvPr id="3" name="Content Placeholder 2"/>
          <p:cNvSpPr>
            <a:spLocks noGrp="1"/>
          </p:cNvSpPr>
          <p:nvPr>
            <p:ph idx="1"/>
          </p:nvPr>
        </p:nvSpPr>
        <p:spPr>
          <a:xfrm>
            <a:off x="457200" y="1600200"/>
            <a:ext cx="8229600" cy="2646045"/>
          </a:xfrm>
        </p:spPr>
        <p:txBody>
          <a:bodyPr>
            <a:noAutofit/>
          </a:bodyPr>
          <a:p>
            <a:pPr marL="0" indent="0" algn="just">
              <a:buNone/>
            </a:pPr>
            <a:r>
              <a:rPr lang="en-US" sz="2600">
                <a:latin typeface="Calibri" panose="020F0502020204030204" charset="0"/>
                <a:cs typeface="Calibri" panose="020F0502020204030204" charset="0"/>
              </a:rPr>
              <a:t>Phương pháp nghiên cứu:</a:t>
            </a:r>
            <a:endParaRPr lang="en-US" sz="2600">
              <a:latin typeface="Calibri" panose="020F0502020204030204" charset="0"/>
              <a:cs typeface="Calibri" panose="020F0502020204030204" charset="0"/>
            </a:endParaRPr>
          </a:p>
          <a:p>
            <a:pPr marL="457200" lvl="1" indent="0" algn="just">
              <a:buNone/>
            </a:pPr>
            <a:r>
              <a:rPr lang="en-US" altLang="en-US" sz="2600">
                <a:latin typeface="Calibri" panose="020F0502020204030204" charset="0"/>
                <a:cs typeface="Calibri" panose="020F0502020204030204" charset="0"/>
              </a:rPr>
              <a:t>Nghiên cứu tài liệu về website và thương mại điện tử.</a:t>
            </a:r>
            <a:endParaRPr lang="en-US" altLang="en-US" sz="2600">
              <a:latin typeface="Calibri" panose="020F0502020204030204" charset="0"/>
              <a:cs typeface="Calibri" panose="020F0502020204030204" charset="0"/>
            </a:endParaRPr>
          </a:p>
          <a:p>
            <a:pPr marL="457200" lvl="1" indent="0" algn="just">
              <a:buNone/>
            </a:pPr>
            <a:r>
              <a:rPr lang="en-US" altLang="en-US" sz="2600">
                <a:latin typeface="Calibri" panose="020F0502020204030204" charset="0"/>
                <a:cs typeface="Calibri" panose="020F0502020204030204" charset="0"/>
              </a:rPr>
              <a:t>Khảo sát các website bán n</a:t>
            </a:r>
            <a:r>
              <a:rPr lang="" altLang="en-US" sz="2600">
                <a:latin typeface="Calibri" panose="020F0502020204030204" charset="0"/>
                <a:cs typeface="Calibri" panose="020F0502020204030204" charset="0"/>
              </a:rPr>
              <a:t>ư</a:t>
            </a:r>
            <a:r>
              <a:rPr lang="en-US" altLang="en-US" sz="2600">
                <a:latin typeface="Calibri" panose="020F0502020204030204" charset="0"/>
                <a:cs typeface="Calibri" panose="020F0502020204030204" charset="0"/>
              </a:rPr>
              <a:t>ớc hoa.</a:t>
            </a:r>
            <a:endParaRPr lang="en-US" altLang="en-US" sz="2600">
              <a:latin typeface="Calibri" panose="020F0502020204030204" charset="0"/>
              <a:cs typeface="Calibri" panose="020F0502020204030204" charset="0"/>
            </a:endParaRPr>
          </a:p>
          <a:p>
            <a:pPr marL="457200" lvl="1" indent="0" algn="just">
              <a:buNone/>
            </a:pPr>
            <a:r>
              <a:rPr lang="en-US" altLang="en-US" sz="2600">
                <a:latin typeface="Calibri" panose="020F0502020204030204" charset="0"/>
                <a:cs typeface="Calibri" panose="020F0502020204030204" charset="0"/>
              </a:rPr>
              <a:t>Thiết kế &amp; xây dựng hệ thống thực nghiệm.</a:t>
            </a:r>
            <a:endParaRPr lang="en-US" altLang="en-US" sz="2600">
              <a:latin typeface="Calibri" panose="020F0502020204030204" charset="0"/>
              <a:cs typeface="Calibri" panose="020F0502020204030204" charset="0"/>
            </a:endParaRPr>
          </a:p>
          <a:p>
            <a:pPr marL="457200" lvl="1" indent="0" algn="just">
              <a:buNone/>
            </a:pPr>
            <a:r>
              <a:rPr lang="en-US" altLang="en-US" sz="2600">
                <a:latin typeface="Calibri" panose="020F0502020204030204" charset="0"/>
                <a:cs typeface="Calibri" panose="020F0502020204030204" charset="0"/>
              </a:rPr>
              <a:t>Kiểm thử và hoàn thiện website.</a:t>
            </a:r>
            <a:endParaRPr lang="en-US" altLang="en-US" sz="2600">
              <a:latin typeface="Calibri" panose="020F0502020204030204" charset="0"/>
              <a:cs typeface="Calibri" panose="020F0502020204030204" charset="0"/>
            </a:endParaRPr>
          </a:p>
          <a:p>
            <a:pPr marL="0" indent="0" algn="just">
              <a:buNone/>
            </a:pPr>
            <a:endParaRPr lang="en-US" altLang="en-US" sz="2600">
              <a:latin typeface="Calibri" panose="020F0502020204030204" charset="0"/>
              <a:cs typeface="Calibri" panose="020F0502020204030204" charset="0"/>
            </a:endParaRPr>
          </a:p>
        </p:txBody>
      </p:sp>
      <p:pic>
        <p:nvPicPr>
          <p:cNvPr id="15" name="Picture 14" descr="logo-truong-dai-hoc-tra-vinh-inkythuatso-01-20-13-22-30"/>
          <p:cNvPicPr>
            <a:picLocks noChangeAspect="1"/>
          </p:cNvPicPr>
          <p:nvPr/>
        </p:nvPicPr>
        <p:blipFill>
          <a:blip r:embed="rId1"/>
          <a:stretch>
            <a:fillRect/>
          </a:stretch>
        </p:blipFill>
        <p:spPr>
          <a:xfrm>
            <a:off x="168910" y="57785"/>
            <a:ext cx="790575" cy="7905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Calibri" panose="020F0502020204030204" charset="0"/>
                <a:cs typeface="Calibri" panose="020F0502020204030204" charset="0"/>
              </a:rPr>
              <a:t>2. Nội dung nghiên cứu</a:t>
            </a:r>
            <a:endParaRPr lang="en-US">
              <a:latin typeface="Calibri" panose="020F0502020204030204" charset="0"/>
              <a:cs typeface="Calibri" panose="020F0502020204030204" charset="0"/>
            </a:endParaRPr>
          </a:p>
        </p:txBody>
      </p:sp>
      <p:sp>
        <p:nvSpPr>
          <p:cNvPr id="3" name="Content Placeholder 2"/>
          <p:cNvSpPr>
            <a:spLocks noGrp="1"/>
          </p:cNvSpPr>
          <p:nvPr>
            <p:ph idx="1"/>
          </p:nvPr>
        </p:nvSpPr>
        <p:spPr>
          <a:xfrm>
            <a:off x="457200" y="1600200"/>
            <a:ext cx="8229600" cy="3388995"/>
          </a:xfrm>
        </p:spPr>
        <p:txBody>
          <a:bodyPr>
            <a:noAutofit/>
          </a:bodyPr>
          <a:p>
            <a:pPr marL="0" indent="0" algn="just">
              <a:buNone/>
            </a:pPr>
            <a:r>
              <a:rPr lang="en-US" sz="2600">
                <a:latin typeface="Calibri" panose="020F0502020204030204" charset="0"/>
                <a:cs typeface="Calibri" panose="020F0502020204030204" charset="0"/>
              </a:rPr>
              <a:t>Công nghệ sử dụng:</a:t>
            </a:r>
            <a:endParaRPr lang="en-US" sz="2600">
              <a:latin typeface="Calibri" panose="020F0502020204030204" charset="0"/>
              <a:cs typeface="Calibri" panose="020F0502020204030204" charset="0"/>
            </a:endParaRPr>
          </a:p>
          <a:p>
            <a:pPr marL="457200" lvl="1" indent="0" algn="just">
              <a:buNone/>
            </a:pPr>
            <a:r>
              <a:rPr lang="en-US" altLang="en-US" sz="2600">
                <a:latin typeface="Calibri" panose="020F0502020204030204" charset="0"/>
                <a:cs typeface="Calibri" panose="020F0502020204030204" charset="0"/>
              </a:rPr>
              <a:t>Phần giao diện sử dụng HTML, CSS, JavaScript kết hợp Tailwind CSS nhằm tạo giao diện hiện </a:t>
            </a:r>
            <a:r>
              <a:rPr lang="" altLang="en-US" sz="2600">
                <a:latin typeface="Calibri" panose="020F0502020204030204" charset="0"/>
                <a:cs typeface="Calibri" panose="020F0502020204030204" charset="0"/>
              </a:rPr>
              <a:t>đ</a:t>
            </a:r>
            <a:r>
              <a:rPr lang="en-US" altLang="en-US" sz="2600">
                <a:latin typeface="Calibri" panose="020F0502020204030204" charset="0"/>
                <a:cs typeface="Calibri" panose="020F0502020204030204" charset="0"/>
              </a:rPr>
              <a:t>ại và thân thiện với ng</a:t>
            </a:r>
            <a:r>
              <a:rPr lang="" altLang="en-US" sz="2600">
                <a:latin typeface="Calibri" panose="020F0502020204030204" charset="0"/>
                <a:cs typeface="Calibri" panose="020F0502020204030204" charset="0"/>
              </a:rPr>
              <a:t>ư</a:t>
            </a:r>
            <a:r>
              <a:rPr lang="en-US" altLang="en-US" sz="2600">
                <a:latin typeface="Calibri" panose="020F0502020204030204" charset="0"/>
                <a:cs typeface="Calibri" panose="020F0502020204030204" charset="0"/>
              </a:rPr>
              <a:t>ời dùng.</a:t>
            </a:r>
            <a:endParaRPr lang="en-US" altLang="en-US" sz="2600">
              <a:latin typeface="Calibri" panose="020F0502020204030204" charset="0"/>
              <a:cs typeface="Calibri" panose="020F0502020204030204" charset="0"/>
            </a:endParaRPr>
          </a:p>
          <a:p>
            <a:pPr marL="457200" lvl="1" indent="0" algn="just">
              <a:buNone/>
            </a:pPr>
            <a:r>
              <a:rPr lang="en-US" altLang="en-US" sz="2600">
                <a:latin typeface="Calibri" panose="020F0502020204030204" charset="0"/>
                <a:cs typeface="Calibri" panose="020F0502020204030204" charset="0"/>
              </a:rPr>
              <a:t>Phần backend </a:t>
            </a:r>
            <a:r>
              <a:rPr lang="" altLang="en-US" sz="2600">
                <a:latin typeface="Calibri" panose="020F0502020204030204" charset="0"/>
                <a:cs typeface="Calibri" panose="020F0502020204030204" charset="0"/>
              </a:rPr>
              <a:t>đư</a:t>
            </a:r>
            <a:r>
              <a:rPr lang="en-US" altLang="en-US" sz="2600">
                <a:latin typeface="Calibri" panose="020F0502020204030204" charset="0"/>
                <a:cs typeface="Calibri" panose="020F0502020204030204" charset="0"/>
              </a:rPr>
              <a:t>ợc phát triển bằng Node.js và Express.js, kết nối với cơ sở dữ liệu MySQL </a:t>
            </a:r>
            <a:r>
              <a:rPr lang="" altLang="en-US" sz="2600">
                <a:latin typeface="Calibri" panose="020F0502020204030204" charset="0"/>
                <a:cs typeface="Calibri" panose="020F0502020204030204" charset="0"/>
              </a:rPr>
              <a:t>đ</a:t>
            </a:r>
            <a:r>
              <a:rPr lang="en-US" altLang="en-US" sz="2600">
                <a:latin typeface="Calibri" panose="020F0502020204030204" charset="0"/>
                <a:cs typeface="Calibri" panose="020F0502020204030204" charset="0"/>
              </a:rPr>
              <a:t>ể l</a:t>
            </a:r>
            <a:r>
              <a:rPr lang="" altLang="en-US" sz="2600">
                <a:latin typeface="Calibri" panose="020F0502020204030204" charset="0"/>
                <a:cs typeface="Calibri" panose="020F0502020204030204" charset="0"/>
              </a:rPr>
              <a:t>ư</a:t>
            </a:r>
            <a:r>
              <a:rPr lang="en-US" altLang="en-US" sz="2600">
                <a:latin typeface="Calibri" panose="020F0502020204030204" charset="0"/>
                <a:cs typeface="Calibri" panose="020F0502020204030204" charset="0"/>
              </a:rPr>
              <a:t>u trữ và quản l</a:t>
            </a:r>
            <a:r>
              <a:rPr lang="" altLang="en-US" sz="2600">
                <a:latin typeface="Calibri" panose="020F0502020204030204" charset="0"/>
                <a:cs typeface="Calibri" panose="020F0502020204030204" charset="0"/>
              </a:rPr>
              <a:t>ý</a:t>
            </a:r>
            <a:r>
              <a:rPr lang="en-US" altLang="en-US" sz="2600">
                <a:latin typeface="Calibri" panose="020F0502020204030204" charset="0"/>
                <a:cs typeface="Calibri" panose="020F0502020204030204" charset="0"/>
              </a:rPr>
              <a:t> dữ liệu, </a:t>
            </a:r>
            <a:r>
              <a:rPr lang="" altLang="en-US" sz="2600">
                <a:latin typeface="Calibri" panose="020F0502020204030204" charset="0"/>
                <a:cs typeface="Calibri" panose="020F0502020204030204" charset="0"/>
              </a:rPr>
              <a:t>đ</a:t>
            </a:r>
            <a:r>
              <a:rPr lang="en-US" altLang="en-US" sz="2600">
                <a:latin typeface="Calibri" panose="020F0502020204030204" charset="0"/>
                <a:cs typeface="Calibri" panose="020F0502020204030204" charset="0"/>
              </a:rPr>
              <a:t>ồng thời áp dụng kiến trúc RESTful API </a:t>
            </a:r>
            <a:r>
              <a:rPr lang="" altLang="en-US" sz="2600">
                <a:latin typeface="Calibri" panose="020F0502020204030204" charset="0"/>
                <a:cs typeface="Calibri" panose="020F0502020204030204" charset="0"/>
              </a:rPr>
              <a:t>đ</a:t>
            </a:r>
            <a:r>
              <a:rPr lang="en-US" altLang="en-US" sz="2600">
                <a:latin typeface="Calibri" panose="020F0502020204030204" charset="0"/>
                <a:cs typeface="Calibri" panose="020F0502020204030204" charset="0"/>
              </a:rPr>
              <a:t>ể tách biệt frontend và backend.</a:t>
            </a:r>
            <a:endParaRPr lang="en-US" altLang="en-US" sz="2600">
              <a:latin typeface="Calibri" panose="020F0502020204030204" charset="0"/>
              <a:cs typeface="Calibri" panose="020F0502020204030204" charset="0"/>
            </a:endParaRPr>
          </a:p>
        </p:txBody>
      </p:sp>
      <p:pic>
        <p:nvPicPr>
          <p:cNvPr id="15" name="Picture 14" descr="logo-truong-dai-hoc-tra-vinh-inkythuatso-01-20-13-22-30"/>
          <p:cNvPicPr>
            <a:picLocks noChangeAspect="1"/>
          </p:cNvPicPr>
          <p:nvPr/>
        </p:nvPicPr>
        <p:blipFill>
          <a:blip r:embed="rId1"/>
          <a:stretch>
            <a:fillRect/>
          </a:stretch>
        </p:blipFill>
        <p:spPr>
          <a:xfrm>
            <a:off x="168910" y="57785"/>
            <a:ext cx="790575" cy="7905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Calibri" panose="020F0502020204030204" charset="0"/>
                <a:cs typeface="Calibri" panose="020F0502020204030204" charset="0"/>
              </a:rPr>
              <a:t>2. Nội dung nghiên cứu</a:t>
            </a:r>
            <a:endParaRPr lang="en-US">
              <a:latin typeface="Calibri" panose="020F0502020204030204" charset="0"/>
              <a:cs typeface="Calibri" panose="020F0502020204030204" charset="0"/>
            </a:endParaRPr>
          </a:p>
        </p:txBody>
      </p:sp>
      <p:sp>
        <p:nvSpPr>
          <p:cNvPr id="3" name="Content Placeholder 2"/>
          <p:cNvSpPr>
            <a:spLocks noGrp="1"/>
          </p:cNvSpPr>
          <p:nvPr>
            <p:ph idx="1"/>
          </p:nvPr>
        </p:nvSpPr>
        <p:spPr>
          <a:xfrm>
            <a:off x="457200" y="1600200"/>
            <a:ext cx="8229600" cy="2646045"/>
          </a:xfrm>
        </p:spPr>
        <p:txBody>
          <a:bodyPr>
            <a:noAutofit/>
          </a:bodyPr>
          <a:p>
            <a:pPr marL="0" indent="0" algn="just">
              <a:buNone/>
            </a:pPr>
            <a:r>
              <a:rPr lang="en-US" sz="2600">
                <a:latin typeface="Calibri" panose="020F0502020204030204" charset="0"/>
                <a:cs typeface="Calibri" panose="020F0502020204030204" charset="0"/>
              </a:rPr>
              <a:t>Chức năng chính của hệ thống:</a:t>
            </a:r>
            <a:endParaRPr lang="en-US" sz="2600">
              <a:latin typeface="Calibri" panose="020F0502020204030204" charset="0"/>
              <a:cs typeface="Calibri" panose="020F0502020204030204" charset="0"/>
            </a:endParaRPr>
          </a:p>
          <a:p>
            <a:pPr marL="457200" lvl="1" indent="0" algn="just">
              <a:buNone/>
            </a:pPr>
            <a:r>
              <a:rPr lang="en-US" altLang="en-US" sz="2600">
                <a:latin typeface="Calibri" panose="020F0502020204030204" charset="0"/>
                <a:cs typeface="Calibri" panose="020F0502020204030204" charset="0"/>
              </a:rPr>
              <a:t>Hệ thống cung cấp các chức n</a:t>
            </a:r>
            <a:r>
              <a:rPr lang="" altLang="en-US" sz="2600">
                <a:latin typeface="Calibri" panose="020F0502020204030204" charset="0"/>
                <a:cs typeface="Calibri" panose="020F0502020204030204" charset="0"/>
              </a:rPr>
              <a:t>ă</a:t>
            </a:r>
            <a:r>
              <a:rPr lang="en-US" altLang="en-US" sz="2600">
                <a:latin typeface="Calibri" panose="020F0502020204030204" charset="0"/>
                <a:cs typeface="Calibri" panose="020F0502020204030204" charset="0"/>
              </a:rPr>
              <a:t>ng cơ bản nh</a:t>
            </a:r>
            <a:r>
              <a:rPr lang="" altLang="en-US" sz="2600">
                <a:latin typeface="Calibri" panose="020F0502020204030204" charset="0"/>
                <a:cs typeface="Calibri" panose="020F0502020204030204" charset="0"/>
              </a:rPr>
              <a:t>ư</a:t>
            </a:r>
            <a:r>
              <a:rPr lang="en-US" altLang="en-US" sz="2600">
                <a:latin typeface="Calibri" panose="020F0502020204030204" charset="0"/>
                <a:cs typeface="Calibri" panose="020F0502020204030204" charset="0"/>
              </a:rPr>
              <a:t> giới thiệu cửa hàng, hiển thị sản phẩm theo th</a:t>
            </a:r>
            <a:r>
              <a:rPr lang="" altLang="en-US" sz="2600">
                <a:latin typeface="Calibri" panose="020F0502020204030204" charset="0"/>
                <a:cs typeface="Calibri" panose="020F0502020204030204" charset="0"/>
              </a:rPr>
              <a:t>ư</a:t>
            </a:r>
            <a:r>
              <a:rPr lang="en-US" altLang="en-US" sz="2600">
                <a:latin typeface="Calibri" panose="020F0502020204030204" charset="0"/>
                <a:cs typeface="Calibri" panose="020F0502020204030204" charset="0"/>
              </a:rPr>
              <a:t>ơng hiệu, tìm kiếm sản phẩm, </a:t>
            </a:r>
            <a:r>
              <a:rPr lang="" altLang="en-US" sz="2600">
                <a:latin typeface="Calibri" panose="020F0502020204030204" charset="0"/>
                <a:cs typeface="Calibri" panose="020F0502020204030204" charset="0"/>
              </a:rPr>
              <a:t>đ</a:t>
            </a:r>
            <a:r>
              <a:rPr lang="en-US" altLang="en-US" sz="2600">
                <a:latin typeface="Calibri" panose="020F0502020204030204" charset="0"/>
                <a:cs typeface="Calibri" panose="020F0502020204030204" charset="0"/>
              </a:rPr>
              <a:t>ặt hàng và xuất hóa </a:t>
            </a:r>
            <a:r>
              <a:rPr lang="" altLang="en-US" sz="2600">
                <a:latin typeface="Calibri" panose="020F0502020204030204" charset="0"/>
                <a:cs typeface="Calibri" panose="020F0502020204030204" charset="0"/>
              </a:rPr>
              <a:t>đ</a:t>
            </a:r>
            <a:r>
              <a:rPr lang="en-US" altLang="en-US" sz="2600">
                <a:latin typeface="Calibri" panose="020F0502020204030204" charset="0"/>
                <a:cs typeface="Calibri" panose="020F0502020204030204" charset="0"/>
              </a:rPr>
              <a:t>ơn. Ngoài ra, website còn tích hợp trợ l</a:t>
            </a:r>
            <a:r>
              <a:rPr lang="" altLang="en-US" sz="2600">
                <a:latin typeface="Calibri" panose="020F0502020204030204" charset="0"/>
                <a:cs typeface="Calibri" panose="020F0502020204030204" charset="0"/>
              </a:rPr>
              <a:t>ý</a:t>
            </a:r>
            <a:r>
              <a:rPr lang="en-US" altLang="en-US" sz="2600">
                <a:latin typeface="Calibri" panose="020F0502020204030204" charset="0"/>
                <a:cs typeface="Calibri" panose="020F0502020204030204" charset="0"/>
              </a:rPr>
              <a:t> AI nhằm hỗ trợ t</a:t>
            </a:r>
            <a:r>
              <a:rPr lang="" altLang="en-US" sz="2600">
                <a:latin typeface="Calibri" panose="020F0502020204030204" charset="0"/>
                <a:cs typeface="Calibri" panose="020F0502020204030204" charset="0"/>
              </a:rPr>
              <a:t>ư</a:t>
            </a:r>
            <a:r>
              <a:rPr lang="en-US" altLang="en-US" sz="2600">
                <a:latin typeface="Calibri" panose="020F0502020204030204" charset="0"/>
                <a:cs typeface="Calibri" panose="020F0502020204030204" charset="0"/>
              </a:rPr>
              <a:t> vấn sản phẩm cho khách hàng.</a:t>
            </a:r>
            <a:endParaRPr lang="en-US" altLang="en-US" sz="2600">
              <a:latin typeface="Calibri" panose="020F0502020204030204" charset="0"/>
              <a:cs typeface="Calibri" panose="020F0502020204030204" charset="0"/>
            </a:endParaRPr>
          </a:p>
        </p:txBody>
      </p:sp>
      <p:pic>
        <p:nvPicPr>
          <p:cNvPr id="15" name="Picture 14" descr="logo-truong-dai-hoc-tra-vinh-inkythuatso-01-20-13-22-30"/>
          <p:cNvPicPr>
            <a:picLocks noChangeAspect="1"/>
          </p:cNvPicPr>
          <p:nvPr/>
        </p:nvPicPr>
        <p:blipFill>
          <a:blip r:embed="rId1"/>
          <a:stretch>
            <a:fillRect/>
          </a:stretch>
        </p:blipFill>
        <p:spPr>
          <a:xfrm>
            <a:off x="168910" y="57785"/>
            <a:ext cx="790575" cy="7905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Calibri" panose="020F0502020204030204" charset="0"/>
                <a:cs typeface="Calibri" panose="020F0502020204030204" charset="0"/>
              </a:rPr>
              <a:t>2. Nội dung nghiên cứu</a:t>
            </a:r>
            <a:endParaRPr lang="en-US">
              <a:latin typeface="Calibri" panose="020F0502020204030204" charset="0"/>
              <a:cs typeface="Calibri" panose="020F0502020204030204" charset="0"/>
            </a:endParaRPr>
          </a:p>
        </p:txBody>
      </p:sp>
      <p:sp>
        <p:nvSpPr>
          <p:cNvPr id="3" name="Content Placeholder 2"/>
          <p:cNvSpPr>
            <a:spLocks noGrp="1"/>
          </p:cNvSpPr>
          <p:nvPr>
            <p:ph idx="1"/>
          </p:nvPr>
        </p:nvSpPr>
        <p:spPr>
          <a:xfrm>
            <a:off x="163830" y="1089025"/>
            <a:ext cx="7569835" cy="1101725"/>
          </a:xfrm>
        </p:spPr>
        <p:txBody>
          <a:bodyPr>
            <a:noAutofit/>
          </a:bodyPr>
          <a:p>
            <a:pPr marL="0" indent="0" algn="just">
              <a:buNone/>
            </a:pPr>
            <a:r>
              <a:rPr lang="en-US">
                <a:latin typeface="Calibri" panose="020F0502020204030204" charset="0"/>
                <a:cs typeface="Calibri" panose="020F0502020204030204" charset="0"/>
              </a:rPr>
              <a:t>Kiến trúc hệ thống: h</a:t>
            </a:r>
            <a:r>
              <a:rPr lang="en-US" altLang="en-US">
                <a:latin typeface="Calibri" panose="020F0502020204030204" charset="0"/>
                <a:cs typeface="Calibri" panose="020F0502020204030204" charset="0"/>
                <a:sym typeface="+mn-ea"/>
              </a:rPr>
              <a:t>ệ thống được xây dựng theo mô hình Client – Server.</a:t>
            </a:r>
            <a:endParaRPr lang="en-US" altLang="en-US">
              <a:latin typeface="Calibri" panose="020F0502020204030204" charset="0"/>
              <a:cs typeface="Calibri" panose="020F0502020204030204" charset="0"/>
            </a:endParaRPr>
          </a:p>
          <a:p>
            <a:pPr marL="0" indent="0" algn="just">
              <a:buNone/>
            </a:pPr>
            <a:endParaRPr lang="en-US" sz="2600">
              <a:latin typeface="Calibri" panose="020F0502020204030204" charset="0"/>
              <a:cs typeface="Calibri" panose="020F0502020204030204" charset="0"/>
            </a:endParaRPr>
          </a:p>
          <a:p>
            <a:pPr marL="0" indent="0" algn="just">
              <a:buNone/>
            </a:pPr>
            <a:r>
              <a:rPr lang="en-US" altLang="en-US" sz="2600">
                <a:latin typeface="Calibri" panose="020F0502020204030204" charset="0"/>
                <a:cs typeface="Calibri" panose="020F0502020204030204" charset="0"/>
              </a:rPr>
              <a:t> </a:t>
            </a:r>
            <a:endParaRPr lang="en-US" altLang="en-US" sz="2600">
              <a:latin typeface="Calibri" panose="020F0502020204030204" charset="0"/>
              <a:cs typeface="Calibri" panose="020F0502020204030204" charset="0"/>
            </a:endParaRPr>
          </a:p>
        </p:txBody>
      </p:sp>
      <p:pic>
        <p:nvPicPr>
          <p:cNvPr id="4" name="Picture 3" descr="Screenshot 2025-12-25 221737"/>
          <p:cNvPicPr>
            <a:picLocks noChangeAspect="1"/>
          </p:cNvPicPr>
          <p:nvPr/>
        </p:nvPicPr>
        <p:blipFill>
          <a:blip r:embed="rId1"/>
          <a:srcRect l="21220" r="20597"/>
          <a:stretch>
            <a:fillRect/>
          </a:stretch>
        </p:blipFill>
        <p:spPr>
          <a:xfrm>
            <a:off x="2560320" y="1612265"/>
            <a:ext cx="3540125" cy="4180205"/>
          </a:xfrm>
          <a:prstGeom prst="rect">
            <a:avLst/>
          </a:prstGeom>
        </p:spPr>
      </p:pic>
      <p:sp>
        <p:nvSpPr>
          <p:cNvPr id="7" name="Text Box 6"/>
          <p:cNvSpPr txBox="1"/>
          <p:nvPr/>
        </p:nvSpPr>
        <p:spPr>
          <a:xfrm>
            <a:off x="2667000" y="5792470"/>
            <a:ext cx="3598545" cy="368300"/>
          </a:xfrm>
          <a:prstGeom prst="rect">
            <a:avLst/>
          </a:prstGeom>
          <a:noFill/>
        </p:spPr>
        <p:txBody>
          <a:bodyPr wrap="square" rtlCol="0" anchor="t">
            <a:spAutoFit/>
          </a:bodyPr>
          <a:p>
            <a:r>
              <a:rPr lang="en-US" altLang="en-US" i="1">
                <a:latin typeface="Calibri" panose="020F0502020204030204" charset="0"/>
                <a:cs typeface="Calibri" panose="020F0502020204030204" charset="0"/>
                <a:sym typeface="+mn-ea"/>
              </a:rPr>
              <a:t>Hình 2.1. Sơ đồ kiến trúc hệ thống</a:t>
            </a:r>
            <a:endParaRPr lang="en-US" altLang="en-US" i="1">
              <a:latin typeface="Calibri" panose="020F0502020204030204" charset="0"/>
              <a:cs typeface="Calibri" panose="020F0502020204030204" charset="0"/>
              <a:sym typeface="+mn-ea"/>
            </a:endParaRPr>
          </a:p>
        </p:txBody>
      </p:sp>
      <p:pic>
        <p:nvPicPr>
          <p:cNvPr id="15" name="Picture 14" descr="logo-truong-dai-hoc-tra-vinh-inkythuatso-01-20-13-22-30"/>
          <p:cNvPicPr>
            <a:picLocks noChangeAspect="1"/>
          </p:cNvPicPr>
          <p:nvPr/>
        </p:nvPicPr>
        <p:blipFill>
          <a:blip r:embed="rId2"/>
          <a:stretch>
            <a:fillRect/>
          </a:stretch>
        </p:blipFill>
        <p:spPr>
          <a:xfrm>
            <a:off x="168910" y="57785"/>
            <a:ext cx="790575" cy="7905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Calibri" panose="020F0502020204030204" charset="0"/>
                <a:cs typeface="Calibri" panose="020F0502020204030204" charset="0"/>
              </a:rPr>
              <a:t>2. Nội dung nghiên cứu</a:t>
            </a:r>
            <a:endParaRPr lang="en-US">
              <a:latin typeface="Calibri" panose="020F0502020204030204" charset="0"/>
              <a:cs typeface="Calibri" panose="020F0502020204030204" charset="0"/>
            </a:endParaRPr>
          </a:p>
        </p:txBody>
      </p:sp>
      <p:sp>
        <p:nvSpPr>
          <p:cNvPr id="3" name="Content Placeholder 2"/>
          <p:cNvSpPr>
            <a:spLocks noGrp="1"/>
          </p:cNvSpPr>
          <p:nvPr>
            <p:ph idx="1"/>
          </p:nvPr>
        </p:nvSpPr>
        <p:spPr>
          <a:xfrm>
            <a:off x="163830" y="1243330"/>
            <a:ext cx="8785225" cy="1546860"/>
          </a:xfrm>
        </p:spPr>
        <p:txBody>
          <a:bodyPr>
            <a:noAutofit/>
          </a:bodyPr>
          <a:p>
            <a:pPr marL="0" indent="0" algn="just">
              <a:buNone/>
            </a:pPr>
            <a:r>
              <a:rPr lang="en-US" sz="2800">
                <a:latin typeface="Calibri" panose="020F0502020204030204" charset="0"/>
                <a:cs typeface="Calibri" panose="020F0502020204030204" charset="0"/>
              </a:rPr>
              <a:t>Kiến trúc hệ thống: n</a:t>
            </a:r>
            <a:r>
              <a:rPr lang="en-US" altLang="en-US" sz="2600">
                <a:latin typeface="Calibri" panose="020F0502020204030204" charset="0"/>
                <a:cs typeface="Calibri" panose="020F0502020204030204" charset="0"/>
              </a:rPr>
              <a:t>g</a:t>
            </a:r>
            <a:r>
              <a:rPr lang="" altLang="en-US" sz="2600">
                <a:latin typeface="Calibri" panose="020F0502020204030204" charset="0"/>
                <a:cs typeface="Calibri" panose="020F0502020204030204" charset="0"/>
              </a:rPr>
              <a:t>ư</a:t>
            </a:r>
            <a:r>
              <a:rPr lang="en-US" altLang="en-US" sz="2600">
                <a:latin typeface="Calibri" panose="020F0502020204030204" charset="0"/>
                <a:cs typeface="Calibri" panose="020F0502020204030204" charset="0"/>
              </a:rPr>
              <a:t>ời dùng thao tác trên giao diện web, backend xử l</a:t>
            </a:r>
            <a:r>
              <a:rPr lang="" altLang="en-US" sz="2600">
                <a:latin typeface="Calibri" panose="020F0502020204030204" charset="0"/>
                <a:cs typeface="Calibri" panose="020F0502020204030204" charset="0"/>
              </a:rPr>
              <a:t>ý</a:t>
            </a:r>
            <a:r>
              <a:rPr lang="en-US" altLang="en-US" sz="2600">
                <a:latin typeface="Calibri" panose="020F0502020204030204" charset="0"/>
                <a:cs typeface="Calibri" panose="020F0502020204030204" charset="0"/>
              </a:rPr>
              <a:t> yêu cầu, dữ liệu </a:t>
            </a:r>
            <a:r>
              <a:rPr lang="" altLang="en-US" sz="2600">
                <a:latin typeface="Calibri" panose="020F0502020204030204" charset="0"/>
                <a:cs typeface="Calibri" panose="020F0502020204030204" charset="0"/>
              </a:rPr>
              <a:t>đư</a:t>
            </a:r>
            <a:r>
              <a:rPr lang="en-US" altLang="en-US" sz="2600">
                <a:latin typeface="Calibri" panose="020F0502020204030204" charset="0"/>
                <a:cs typeface="Calibri" panose="020F0502020204030204" charset="0"/>
              </a:rPr>
              <a:t>ợc truy xuất hoặc cập nhật trong MySQL và kết quả </a:t>
            </a:r>
            <a:r>
              <a:rPr lang="" altLang="en-US" sz="2600">
                <a:latin typeface="Calibri" panose="020F0502020204030204" charset="0"/>
                <a:cs typeface="Calibri" panose="020F0502020204030204" charset="0"/>
              </a:rPr>
              <a:t>đư</a:t>
            </a:r>
            <a:r>
              <a:rPr lang="en-US" altLang="en-US" sz="2600">
                <a:latin typeface="Calibri" panose="020F0502020204030204" charset="0"/>
                <a:cs typeface="Calibri" panose="020F0502020204030204" charset="0"/>
              </a:rPr>
              <a:t>ợc trả về hiển thị cho ng</a:t>
            </a:r>
            <a:r>
              <a:rPr lang="" altLang="en-US" sz="2600">
                <a:latin typeface="Calibri" panose="020F0502020204030204" charset="0"/>
                <a:cs typeface="Calibri" panose="020F0502020204030204" charset="0"/>
              </a:rPr>
              <a:t>ư</a:t>
            </a:r>
            <a:r>
              <a:rPr lang="en-US" altLang="en-US" sz="2600">
                <a:latin typeface="Calibri" panose="020F0502020204030204" charset="0"/>
                <a:cs typeface="Calibri" panose="020F0502020204030204" charset="0"/>
              </a:rPr>
              <a:t>ời dùng.</a:t>
            </a:r>
            <a:r>
              <a:rPr lang="en-US" altLang="en-US" sz="2600">
                <a:latin typeface="Calibri" panose="020F0502020204030204" charset="0"/>
                <a:cs typeface="Calibri" panose="020F0502020204030204" charset="0"/>
              </a:rPr>
              <a:t> </a:t>
            </a:r>
            <a:endParaRPr lang="en-US" altLang="en-US" sz="2600">
              <a:latin typeface="Calibri" panose="020F0502020204030204" charset="0"/>
              <a:cs typeface="Calibri" panose="020F0502020204030204" charset="0"/>
            </a:endParaRPr>
          </a:p>
        </p:txBody>
      </p:sp>
      <p:pic>
        <p:nvPicPr>
          <p:cNvPr id="5" name="Picture 4" descr="Screenshot 2025-12-26 134120"/>
          <p:cNvPicPr>
            <a:picLocks noChangeAspect="1"/>
          </p:cNvPicPr>
          <p:nvPr/>
        </p:nvPicPr>
        <p:blipFill>
          <a:blip r:embed="rId1"/>
          <a:stretch>
            <a:fillRect/>
          </a:stretch>
        </p:blipFill>
        <p:spPr>
          <a:xfrm>
            <a:off x="288290" y="2790190"/>
            <a:ext cx="8536305" cy="1707515"/>
          </a:xfrm>
          <a:prstGeom prst="rect">
            <a:avLst/>
          </a:prstGeom>
        </p:spPr>
      </p:pic>
      <p:sp>
        <p:nvSpPr>
          <p:cNvPr id="6" name="Text Box 5"/>
          <p:cNvSpPr txBox="1"/>
          <p:nvPr/>
        </p:nvSpPr>
        <p:spPr>
          <a:xfrm>
            <a:off x="2286000" y="4669790"/>
            <a:ext cx="4572000" cy="368300"/>
          </a:xfrm>
          <a:prstGeom prst="rect">
            <a:avLst/>
          </a:prstGeom>
          <a:noFill/>
        </p:spPr>
        <p:txBody>
          <a:bodyPr wrap="square" rtlCol="0" anchor="t">
            <a:spAutoFit/>
          </a:bodyPr>
          <a:p>
            <a:r>
              <a:rPr lang="en-US" altLang="en-US" i="1">
                <a:latin typeface="Calibri" panose="020F0502020204030204" charset="0"/>
                <a:cs typeface="Calibri" panose="020F0502020204030204" charset="0"/>
                <a:sym typeface="+mn-ea"/>
              </a:rPr>
              <a:t>Hình 2.2. Mô hình hoạt </a:t>
            </a:r>
            <a:r>
              <a:rPr lang="" altLang="en-US" i="1">
                <a:latin typeface="Calibri" panose="020F0502020204030204" charset="0"/>
                <a:cs typeface="Calibri" panose="020F0502020204030204" charset="0"/>
                <a:sym typeface="+mn-ea"/>
              </a:rPr>
              <a:t>đ</a:t>
            </a:r>
            <a:r>
              <a:rPr lang="en-US" altLang="en-US" i="1">
                <a:latin typeface="Calibri" panose="020F0502020204030204" charset="0"/>
                <a:cs typeface="Calibri" panose="020F0502020204030204" charset="0"/>
                <a:sym typeface="+mn-ea"/>
              </a:rPr>
              <a:t>ộng của hệ thống</a:t>
            </a:r>
            <a:endParaRPr lang="en-US" altLang="en-US" i="1">
              <a:latin typeface="Calibri" panose="020F0502020204030204" charset="0"/>
              <a:cs typeface="Calibri" panose="020F0502020204030204" charset="0"/>
              <a:sym typeface="+mn-ea"/>
            </a:endParaRPr>
          </a:p>
        </p:txBody>
      </p:sp>
      <p:pic>
        <p:nvPicPr>
          <p:cNvPr id="15" name="Picture 14" descr="logo-truong-dai-hoc-tra-vinh-inkythuatso-01-20-13-22-30"/>
          <p:cNvPicPr>
            <a:picLocks noChangeAspect="1"/>
          </p:cNvPicPr>
          <p:nvPr/>
        </p:nvPicPr>
        <p:blipFill>
          <a:blip r:embed="rId2"/>
          <a:stretch>
            <a:fillRect/>
          </a:stretch>
        </p:blipFill>
        <p:spPr>
          <a:xfrm>
            <a:off x="168910" y="57785"/>
            <a:ext cx="790575" cy="7905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Calibri" panose="020F0502020204030204" charset="0"/>
                <a:cs typeface="Calibri" panose="020F0502020204030204" charset="0"/>
              </a:rPr>
              <a:t>3. Kết quả nghiên cứu</a:t>
            </a:r>
            <a:endParaRPr lang="en-US">
              <a:latin typeface="Calibri" panose="020F0502020204030204" charset="0"/>
              <a:cs typeface="Calibri" panose="020F0502020204030204" charset="0"/>
            </a:endParaRPr>
          </a:p>
        </p:txBody>
      </p:sp>
      <p:sp>
        <p:nvSpPr>
          <p:cNvPr id="3" name="Content Placeholder 2"/>
          <p:cNvSpPr>
            <a:spLocks noGrp="1"/>
          </p:cNvSpPr>
          <p:nvPr>
            <p:ph idx="1"/>
          </p:nvPr>
        </p:nvSpPr>
        <p:spPr>
          <a:xfrm>
            <a:off x="196850" y="1023620"/>
            <a:ext cx="3608070" cy="638810"/>
          </a:xfrm>
        </p:spPr>
        <p:txBody>
          <a:bodyPr>
            <a:normAutofit/>
          </a:bodyPr>
          <a:p>
            <a:pPr marL="0" indent="0">
              <a:buNone/>
            </a:pPr>
            <a:r>
              <a:rPr lang="en-US" sz="2800">
                <a:latin typeface="Calibri" panose="020F0502020204030204" charset="0"/>
                <a:cs typeface="Calibri" panose="020F0502020204030204" charset="0"/>
              </a:rPr>
              <a:t>Giao diện của webside:</a:t>
            </a:r>
            <a:endParaRPr lang="en-US" sz="2800">
              <a:latin typeface="Calibri" panose="020F0502020204030204" charset="0"/>
              <a:cs typeface="Calibri" panose="020F0502020204030204" charset="0"/>
            </a:endParaRPr>
          </a:p>
        </p:txBody>
      </p:sp>
      <p:pic>
        <p:nvPicPr>
          <p:cNvPr id="4" name="Picture 3" descr="Screenshot 2025-12-26 221046"/>
          <p:cNvPicPr>
            <a:picLocks noChangeAspect="1"/>
          </p:cNvPicPr>
          <p:nvPr/>
        </p:nvPicPr>
        <p:blipFill>
          <a:blip r:embed="rId1"/>
          <a:srcRect l="16902" r="18768" b="13185"/>
          <a:stretch>
            <a:fillRect/>
          </a:stretch>
        </p:blipFill>
        <p:spPr>
          <a:xfrm>
            <a:off x="4808855" y="1662430"/>
            <a:ext cx="3877945" cy="3119120"/>
          </a:xfrm>
          <a:prstGeom prst="rect">
            <a:avLst/>
          </a:prstGeom>
        </p:spPr>
      </p:pic>
      <p:pic>
        <p:nvPicPr>
          <p:cNvPr id="5" name="Picture 4" descr="Screenshot 2025-12-26 221103"/>
          <p:cNvPicPr>
            <a:picLocks noChangeAspect="1"/>
          </p:cNvPicPr>
          <p:nvPr/>
        </p:nvPicPr>
        <p:blipFill>
          <a:blip r:embed="rId2"/>
          <a:srcRect l="28898" r="27085"/>
          <a:stretch>
            <a:fillRect/>
          </a:stretch>
        </p:blipFill>
        <p:spPr>
          <a:xfrm>
            <a:off x="457200" y="1662430"/>
            <a:ext cx="3761105" cy="4131945"/>
          </a:xfrm>
          <a:prstGeom prst="rect">
            <a:avLst/>
          </a:prstGeom>
        </p:spPr>
      </p:pic>
      <p:sp>
        <p:nvSpPr>
          <p:cNvPr id="6" name="Text Box 5"/>
          <p:cNvSpPr txBox="1"/>
          <p:nvPr/>
        </p:nvSpPr>
        <p:spPr>
          <a:xfrm>
            <a:off x="4933950" y="5039360"/>
            <a:ext cx="3453130" cy="768350"/>
          </a:xfrm>
          <a:prstGeom prst="rect">
            <a:avLst/>
          </a:prstGeom>
          <a:noFill/>
        </p:spPr>
        <p:txBody>
          <a:bodyPr wrap="square" rtlCol="0" anchor="t">
            <a:spAutoFit/>
          </a:bodyPr>
          <a:p>
            <a:pPr marL="0" indent="0" algn="ctr">
              <a:buNone/>
            </a:pPr>
            <a:r>
              <a:rPr lang="en-US" sz="2200" i="1">
                <a:latin typeface="Calibri" panose="020F0502020204030204" charset="0"/>
                <a:cs typeface="Calibri" panose="020F0502020204030204" charset="0"/>
                <a:sym typeface="+mn-ea"/>
              </a:rPr>
              <a:t>Hình 3.1. Giao diện trang đăng ký/đăng nhập</a:t>
            </a:r>
            <a:endParaRPr lang="en-US" sz="2200" i="1">
              <a:latin typeface="Calibri" panose="020F0502020204030204" charset="0"/>
              <a:cs typeface="Calibri" panose="020F0502020204030204" charset="0"/>
              <a:sym typeface="+mn-ea"/>
            </a:endParaRPr>
          </a:p>
        </p:txBody>
      </p:sp>
      <p:pic>
        <p:nvPicPr>
          <p:cNvPr id="15" name="Picture 14" descr="logo-truong-dai-hoc-tra-vinh-inkythuatso-01-20-13-22-30"/>
          <p:cNvPicPr>
            <a:picLocks noChangeAspect="1"/>
          </p:cNvPicPr>
          <p:nvPr/>
        </p:nvPicPr>
        <p:blipFill>
          <a:blip r:embed="rId3"/>
          <a:stretch>
            <a:fillRect/>
          </a:stretch>
        </p:blipFill>
        <p:spPr>
          <a:xfrm>
            <a:off x="168910" y="57785"/>
            <a:ext cx="790575" cy="7905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Calibri" panose="020F0502020204030204" charset="0"/>
                <a:cs typeface="Calibri" panose="020F0502020204030204" charset="0"/>
              </a:rPr>
              <a:t>3. Kết quả nghiên cứu</a:t>
            </a:r>
            <a:endParaRPr lang="en-US">
              <a:latin typeface="Calibri" panose="020F0502020204030204" charset="0"/>
              <a:cs typeface="Calibri" panose="020F0502020204030204" charset="0"/>
            </a:endParaRPr>
          </a:p>
        </p:txBody>
      </p:sp>
      <p:sp>
        <p:nvSpPr>
          <p:cNvPr id="6" name="Text Box 5"/>
          <p:cNvSpPr txBox="1"/>
          <p:nvPr/>
        </p:nvSpPr>
        <p:spPr>
          <a:xfrm>
            <a:off x="5909310" y="3535045"/>
            <a:ext cx="2777490" cy="768350"/>
          </a:xfrm>
          <a:prstGeom prst="rect">
            <a:avLst/>
          </a:prstGeom>
          <a:noFill/>
        </p:spPr>
        <p:txBody>
          <a:bodyPr wrap="square" rtlCol="0" anchor="t">
            <a:spAutoFit/>
          </a:bodyPr>
          <a:p>
            <a:pPr marL="0" indent="0" algn="ctr">
              <a:buNone/>
            </a:pPr>
            <a:r>
              <a:rPr lang="en-US" sz="2200" i="1">
                <a:latin typeface="Calibri" panose="020F0502020204030204" charset="0"/>
                <a:cs typeface="Calibri" panose="020F0502020204030204" charset="0"/>
                <a:sym typeface="+mn-ea"/>
              </a:rPr>
              <a:t>Hình 3.2. Giao diện trang chủ</a:t>
            </a:r>
            <a:endParaRPr lang="en-US" sz="2200" i="1">
              <a:latin typeface="Calibri" panose="020F0502020204030204" charset="0"/>
              <a:cs typeface="Calibri" panose="020F0502020204030204" charset="0"/>
              <a:sym typeface="+mn-ea"/>
            </a:endParaRPr>
          </a:p>
        </p:txBody>
      </p:sp>
      <p:pic>
        <p:nvPicPr>
          <p:cNvPr id="7" name="Picture 7" descr="Screenshot 2025-12-26 191120"/>
          <p:cNvPicPr>
            <a:picLocks noChangeAspect="1"/>
          </p:cNvPicPr>
          <p:nvPr/>
        </p:nvPicPr>
        <p:blipFill>
          <a:blip r:embed="rId1"/>
          <a:stretch>
            <a:fillRect/>
          </a:stretch>
        </p:blipFill>
        <p:spPr>
          <a:xfrm>
            <a:off x="457200" y="1069975"/>
            <a:ext cx="5593080" cy="2652395"/>
          </a:xfrm>
          <a:prstGeom prst="rect">
            <a:avLst/>
          </a:prstGeom>
        </p:spPr>
      </p:pic>
      <p:pic>
        <p:nvPicPr>
          <p:cNvPr id="8" name="Picture 6" descr="Screenshot 2025-12-26 191140"/>
          <p:cNvPicPr>
            <a:picLocks noChangeAspect="1"/>
          </p:cNvPicPr>
          <p:nvPr/>
        </p:nvPicPr>
        <p:blipFill>
          <a:blip r:embed="rId2"/>
          <a:stretch>
            <a:fillRect/>
          </a:stretch>
        </p:blipFill>
        <p:spPr>
          <a:xfrm>
            <a:off x="457200" y="3828415"/>
            <a:ext cx="5592445" cy="2416175"/>
          </a:xfrm>
          <a:prstGeom prst="rect">
            <a:avLst/>
          </a:prstGeom>
        </p:spPr>
      </p:pic>
      <p:pic>
        <p:nvPicPr>
          <p:cNvPr id="15" name="Picture 14" descr="logo-truong-dai-hoc-tra-vinh-inkythuatso-01-20-13-22-30"/>
          <p:cNvPicPr>
            <a:picLocks noChangeAspect="1"/>
          </p:cNvPicPr>
          <p:nvPr/>
        </p:nvPicPr>
        <p:blipFill>
          <a:blip r:embed="rId3"/>
          <a:stretch>
            <a:fillRect/>
          </a:stretch>
        </p:blipFill>
        <p:spPr>
          <a:xfrm>
            <a:off x="168910" y="57785"/>
            <a:ext cx="790575" cy="7905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Calibri" panose="020F0502020204030204" charset="0"/>
                <a:cs typeface="Calibri" panose="020F0502020204030204" charset="0"/>
              </a:rPr>
              <a:t>3. Kết quả nghiên cứu</a:t>
            </a:r>
            <a:endParaRPr lang="en-US">
              <a:latin typeface="Calibri" panose="020F0502020204030204" charset="0"/>
              <a:cs typeface="Calibri" panose="020F0502020204030204" charset="0"/>
            </a:endParaRPr>
          </a:p>
        </p:txBody>
      </p:sp>
      <p:sp>
        <p:nvSpPr>
          <p:cNvPr id="6" name="Text Box 5"/>
          <p:cNvSpPr txBox="1"/>
          <p:nvPr/>
        </p:nvSpPr>
        <p:spPr>
          <a:xfrm>
            <a:off x="5909310" y="3535045"/>
            <a:ext cx="2777490" cy="768350"/>
          </a:xfrm>
          <a:prstGeom prst="rect">
            <a:avLst/>
          </a:prstGeom>
          <a:noFill/>
        </p:spPr>
        <p:txBody>
          <a:bodyPr wrap="square" rtlCol="0" anchor="t">
            <a:spAutoFit/>
          </a:bodyPr>
          <a:p>
            <a:pPr marL="0" indent="0" algn="ctr">
              <a:buNone/>
            </a:pPr>
            <a:r>
              <a:rPr lang="en-US" sz="2200" i="1">
                <a:latin typeface="Calibri" panose="020F0502020204030204" charset="0"/>
                <a:cs typeface="Calibri" panose="020F0502020204030204" charset="0"/>
                <a:sym typeface="+mn-ea"/>
              </a:rPr>
              <a:t>Hình 3.3. Giao diện trang sản phẩm</a:t>
            </a:r>
            <a:endParaRPr lang="en-US" sz="2200" i="1">
              <a:latin typeface="Calibri" panose="020F0502020204030204" charset="0"/>
              <a:cs typeface="Calibri" panose="020F0502020204030204" charset="0"/>
              <a:sym typeface="+mn-ea"/>
            </a:endParaRPr>
          </a:p>
        </p:txBody>
      </p:sp>
      <p:pic>
        <p:nvPicPr>
          <p:cNvPr id="3" name="Picture 8" descr="Screenshot 2025-12-26 191717"/>
          <p:cNvPicPr>
            <a:picLocks noChangeAspect="1"/>
          </p:cNvPicPr>
          <p:nvPr/>
        </p:nvPicPr>
        <p:blipFill>
          <a:blip r:embed="rId1"/>
          <a:stretch>
            <a:fillRect/>
          </a:stretch>
        </p:blipFill>
        <p:spPr>
          <a:xfrm>
            <a:off x="456883" y="983298"/>
            <a:ext cx="5574665" cy="2643505"/>
          </a:xfrm>
          <a:prstGeom prst="rect">
            <a:avLst/>
          </a:prstGeom>
        </p:spPr>
      </p:pic>
      <p:pic>
        <p:nvPicPr>
          <p:cNvPr id="10" name="Picture 10" descr="Screenshot 2025-12-26 195747"/>
          <p:cNvPicPr>
            <a:picLocks noChangeAspect="1"/>
          </p:cNvPicPr>
          <p:nvPr/>
        </p:nvPicPr>
        <p:blipFill>
          <a:blip r:embed="rId2"/>
          <a:stretch>
            <a:fillRect/>
          </a:stretch>
        </p:blipFill>
        <p:spPr>
          <a:xfrm>
            <a:off x="456883" y="3627120"/>
            <a:ext cx="5574665" cy="2658110"/>
          </a:xfrm>
          <a:prstGeom prst="rect">
            <a:avLst/>
          </a:prstGeom>
        </p:spPr>
      </p:pic>
      <p:pic>
        <p:nvPicPr>
          <p:cNvPr id="15" name="Picture 14" descr="logo-truong-dai-hoc-tra-vinh-inkythuatso-01-20-13-22-30"/>
          <p:cNvPicPr>
            <a:picLocks noChangeAspect="1"/>
          </p:cNvPicPr>
          <p:nvPr/>
        </p:nvPicPr>
        <p:blipFill>
          <a:blip r:embed="rId3"/>
          <a:stretch>
            <a:fillRect/>
          </a:stretch>
        </p:blipFill>
        <p:spPr>
          <a:xfrm>
            <a:off x="168910" y="57785"/>
            <a:ext cx="790575" cy="7905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Calibri" panose="020F0502020204030204" charset="0"/>
                <a:cs typeface="Calibri" panose="020F0502020204030204" charset="0"/>
              </a:rPr>
              <a:t>3. Kết quả nghiên cứu</a:t>
            </a:r>
            <a:endParaRPr lang="en-US">
              <a:latin typeface="Calibri" panose="020F0502020204030204" charset="0"/>
              <a:cs typeface="Calibri" panose="020F0502020204030204" charset="0"/>
            </a:endParaRPr>
          </a:p>
        </p:txBody>
      </p:sp>
      <p:sp>
        <p:nvSpPr>
          <p:cNvPr id="6" name="Text Box 5"/>
          <p:cNvSpPr txBox="1"/>
          <p:nvPr/>
        </p:nvSpPr>
        <p:spPr>
          <a:xfrm>
            <a:off x="2195830" y="5483860"/>
            <a:ext cx="4753610" cy="429895"/>
          </a:xfrm>
          <a:prstGeom prst="rect">
            <a:avLst/>
          </a:prstGeom>
          <a:noFill/>
        </p:spPr>
        <p:txBody>
          <a:bodyPr wrap="square" rtlCol="0" anchor="t">
            <a:spAutoFit/>
          </a:bodyPr>
          <a:p>
            <a:pPr marL="0" indent="0" algn="ctr">
              <a:buNone/>
            </a:pPr>
            <a:r>
              <a:rPr lang="en-US" sz="2200" i="1">
                <a:latin typeface="Calibri" panose="020F0502020204030204" charset="0"/>
                <a:cs typeface="Calibri" panose="020F0502020204030204" charset="0"/>
                <a:sym typeface="+mn-ea"/>
              </a:rPr>
              <a:t>Hình 3.4. Giao diện trang giới thiệu</a:t>
            </a:r>
            <a:endParaRPr lang="en-US" sz="2200" i="1">
              <a:latin typeface="Calibri" panose="020F0502020204030204" charset="0"/>
              <a:cs typeface="Calibri" panose="020F0502020204030204" charset="0"/>
              <a:sym typeface="+mn-ea"/>
            </a:endParaRPr>
          </a:p>
        </p:txBody>
      </p:sp>
      <p:pic>
        <p:nvPicPr>
          <p:cNvPr id="15" name="Picture 14" descr="logo-truong-dai-hoc-tra-vinh-inkythuatso-01-20-13-22-30"/>
          <p:cNvPicPr>
            <a:picLocks noChangeAspect="1"/>
          </p:cNvPicPr>
          <p:nvPr/>
        </p:nvPicPr>
        <p:blipFill>
          <a:blip r:embed="rId1"/>
          <a:stretch>
            <a:fillRect/>
          </a:stretch>
        </p:blipFill>
        <p:spPr>
          <a:xfrm>
            <a:off x="168910" y="57785"/>
            <a:ext cx="790575" cy="790575"/>
          </a:xfrm>
          <a:prstGeom prst="rect">
            <a:avLst/>
          </a:prstGeom>
        </p:spPr>
      </p:pic>
      <p:pic>
        <p:nvPicPr>
          <p:cNvPr id="12" name="Picture 12" descr="Screenshot 2025-12-26 191648"/>
          <p:cNvPicPr>
            <a:picLocks noChangeAspect="1"/>
          </p:cNvPicPr>
          <p:nvPr/>
        </p:nvPicPr>
        <p:blipFill>
          <a:blip r:embed="rId2"/>
          <a:stretch>
            <a:fillRect/>
          </a:stretch>
        </p:blipFill>
        <p:spPr>
          <a:xfrm>
            <a:off x="605790" y="1359535"/>
            <a:ext cx="7933690" cy="376745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Calibri" panose="020F0502020204030204" charset="0"/>
                <a:cs typeface="Calibri" panose="020F0502020204030204" charset="0"/>
              </a:rPr>
              <a:t>3. Kết quả nghiên cứu</a:t>
            </a:r>
            <a:endParaRPr lang="en-US">
              <a:latin typeface="Calibri" panose="020F0502020204030204" charset="0"/>
              <a:cs typeface="Calibri" panose="020F0502020204030204" charset="0"/>
            </a:endParaRPr>
          </a:p>
        </p:txBody>
      </p:sp>
      <p:sp>
        <p:nvSpPr>
          <p:cNvPr id="6" name="Text Box 5"/>
          <p:cNvSpPr txBox="1"/>
          <p:nvPr/>
        </p:nvSpPr>
        <p:spPr>
          <a:xfrm>
            <a:off x="2195830" y="5483860"/>
            <a:ext cx="4753610" cy="429895"/>
          </a:xfrm>
          <a:prstGeom prst="rect">
            <a:avLst/>
          </a:prstGeom>
          <a:noFill/>
        </p:spPr>
        <p:txBody>
          <a:bodyPr wrap="square" rtlCol="0" anchor="t">
            <a:spAutoFit/>
          </a:bodyPr>
          <a:p>
            <a:pPr marL="0" indent="0" algn="ctr">
              <a:buNone/>
            </a:pPr>
            <a:r>
              <a:rPr lang="en-US" sz="2200" i="1">
                <a:latin typeface="Calibri" panose="020F0502020204030204" charset="0"/>
                <a:cs typeface="Calibri" panose="020F0502020204030204" charset="0"/>
                <a:sym typeface="+mn-ea"/>
              </a:rPr>
              <a:t>Hình 3.5. Giao diện trang liên hệ</a:t>
            </a:r>
            <a:endParaRPr lang="en-US" sz="2200" i="1">
              <a:latin typeface="Calibri" panose="020F0502020204030204" charset="0"/>
              <a:cs typeface="Calibri" panose="020F0502020204030204" charset="0"/>
              <a:sym typeface="+mn-ea"/>
            </a:endParaRPr>
          </a:p>
        </p:txBody>
      </p:sp>
      <p:pic>
        <p:nvPicPr>
          <p:cNvPr id="15" name="Picture 14" descr="logo-truong-dai-hoc-tra-vinh-inkythuatso-01-20-13-22-30"/>
          <p:cNvPicPr>
            <a:picLocks noChangeAspect="1"/>
          </p:cNvPicPr>
          <p:nvPr/>
        </p:nvPicPr>
        <p:blipFill>
          <a:blip r:embed="rId1"/>
          <a:stretch>
            <a:fillRect/>
          </a:stretch>
        </p:blipFill>
        <p:spPr>
          <a:xfrm>
            <a:off x="168910" y="57785"/>
            <a:ext cx="790575" cy="790575"/>
          </a:xfrm>
          <a:prstGeom prst="rect">
            <a:avLst/>
          </a:prstGeom>
        </p:spPr>
      </p:pic>
      <p:pic>
        <p:nvPicPr>
          <p:cNvPr id="13" name="Picture 2"/>
          <p:cNvPicPr>
            <a:picLocks noChangeAspect="1"/>
          </p:cNvPicPr>
          <p:nvPr/>
        </p:nvPicPr>
        <p:blipFill>
          <a:blip r:embed="rId2"/>
          <a:stretch>
            <a:fillRect/>
          </a:stretch>
        </p:blipFill>
        <p:spPr>
          <a:xfrm>
            <a:off x="561340" y="1388110"/>
            <a:ext cx="8022590" cy="379793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Calibri" panose="020F0502020204030204" charset="0"/>
                <a:cs typeface="Calibri" panose="020F0502020204030204" charset="0"/>
              </a:rPr>
              <a:t>3. Kết quả nghiên cứu</a:t>
            </a:r>
            <a:endParaRPr lang="en-US">
              <a:latin typeface="Calibri" panose="020F0502020204030204" charset="0"/>
              <a:cs typeface="Calibri" panose="020F0502020204030204" charset="0"/>
            </a:endParaRPr>
          </a:p>
        </p:txBody>
      </p:sp>
      <p:sp>
        <p:nvSpPr>
          <p:cNvPr id="6" name="Text Box 5"/>
          <p:cNvSpPr txBox="1"/>
          <p:nvPr/>
        </p:nvSpPr>
        <p:spPr>
          <a:xfrm>
            <a:off x="2195830" y="5483860"/>
            <a:ext cx="4753610" cy="429895"/>
          </a:xfrm>
          <a:prstGeom prst="rect">
            <a:avLst/>
          </a:prstGeom>
          <a:noFill/>
        </p:spPr>
        <p:txBody>
          <a:bodyPr wrap="square" rtlCol="0" anchor="t">
            <a:spAutoFit/>
          </a:bodyPr>
          <a:p>
            <a:pPr marL="0" indent="0" algn="ctr">
              <a:buNone/>
            </a:pPr>
            <a:r>
              <a:rPr lang="en-US" sz="2200" i="1">
                <a:latin typeface="Calibri" panose="020F0502020204030204" charset="0"/>
                <a:cs typeface="Calibri" panose="020F0502020204030204" charset="0"/>
                <a:sym typeface="+mn-ea"/>
              </a:rPr>
              <a:t>Hình 3.6. Giao diện trang giỏ hàng</a:t>
            </a:r>
            <a:endParaRPr lang="en-US" sz="2200" i="1">
              <a:latin typeface="Calibri" panose="020F0502020204030204" charset="0"/>
              <a:cs typeface="Calibri" panose="020F0502020204030204" charset="0"/>
              <a:sym typeface="+mn-ea"/>
            </a:endParaRPr>
          </a:p>
        </p:txBody>
      </p:sp>
      <p:pic>
        <p:nvPicPr>
          <p:cNvPr id="15" name="Picture 14" descr="logo-truong-dai-hoc-tra-vinh-inkythuatso-01-20-13-22-30"/>
          <p:cNvPicPr>
            <a:picLocks noChangeAspect="1"/>
          </p:cNvPicPr>
          <p:nvPr/>
        </p:nvPicPr>
        <p:blipFill>
          <a:blip r:embed="rId1"/>
          <a:stretch>
            <a:fillRect/>
          </a:stretch>
        </p:blipFill>
        <p:spPr>
          <a:xfrm>
            <a:off x="168910" y="57785"/>
            <a:ext cx="790575" cy="790575"/>
          </a:xfrm>
          <a:prstGeom prst="rect">
            <a:avLst/>
          </a:prstGeom>
        </p:spPr>
      </p:pic>
      <p:pic>
        <p:nvPicPr>
          <p:cNvPr id="14" name="Picture 14" descr="Screenshot 2025-12-26 195800"/>
          <p:cNvPicPr>
            <a:picLocks noChangeAspect="1"/>
          </p:cNvPicPr>
          <p:nvPr/>
        </p:nvPicPr>
        <p:blipFill>
          <a:blip r:embed="rId2"/>
          <a:stretch>
            <a:fillRect/>
          </a:stretch>
        </p:blipFill>
        <p:spPr>
          <a:xfrm>
            <a:off x="589280" y="1397000"/>
            <a:ext cx="7965440" cy="37744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Calibri" panose="020F0502020204030204" charset="0"/>
                <a:cs typeface="Calibri" panose="020F0502020204030204" charset="0"/>
              </a:rPr>
              <a:t>3. Kết quả nghiên cứu</a:t>
            </a:r>
            <a:endParaRPr lang="en-US">
              <a:latin typeface="Calibri" panose="020F0502020204030204" charset="0"/>
              <a:cs typeface="Calibri" panose="020F0502020204030204" charset="0"/>
            </a:endParaRPr>
          </a:p>
        </p:txBody>
      </p:sp>
      <p:sp>
        <p:nvSpPr>
          <p:cNvPr id="6" name="Text Box 5"/>
          <p:cNvSpPr txBox="1"/>
          <p:nvPr/>
        </p:nvSpPr>
        <p:spPr>
          <a:xfrm>
            <a:off x="78105" y="3126740"/>
            <a:ext cx="4237990" cy="368300"/>
          </a:xfrm>
          <a:prstGeom prst="rect">
            <a:avLst/>
          </a:prstGeom>
          <a:noFill/>
        </p:spPr>
        <p:txBody>
          <a:bodyPr wrap="square" rtlCol="0" anchor="t">
            <a:spAutoFit/>
          </a:bodyPr>
          <a:p>
            <a:pPr marL="0" indent="0" algn="ctr">
              <a:buNone/>
            </a:pPr>
            <a:r>
              <a:rPr lang="en-US" i="1">
                <a:latin typeface="Calibri" panose="020F0502020204030204" charset="0"/>
                <a:cs typeface="Calibri" panose="020F0502020204030204" charset="0"/>
                <a:sym typeface="+mn-ea"/>
              </a:rPr>
              <a:t>Hình 3.7. Giao diện trang </a:t>
            </a:r>
            <a:r>
              <a:rPr lang="en-US" altLang="en-US" i="1">
                <a:latin typeface="Calibri" panose="020F0502020204030204" charset="0"/>
                <a:cs typeface="Calibri" panose="020F0502020204030204" charset="0"/>
                <a:sym typeface="+mn-ea"/>
              </a:rPr>
              <a:t>Dashboard</a:t>
            </a:r>
            <a:endParaRPr lang="en-US" altLang="en-US" i="1">
              <a:latin typeface="Calibri" panose="020F0502020204030204" charset="0"/>
              <a:cs typeface="Calibri" panose="020F0502020204030204" charset="0"/>
              <a:sym typeface="+mn-ea"/>
            </a:endParaRPr>
          </a:p>
        </p:txBody>
      </p:sp>
      <p:pic>
        <p:nvPicPr>
          <p:cNvPr id="15" name="Picture 14" descr="logo-truong-dai-hoc-tra-vinh-inkythuatso-01-20-13-22-30"/>
          <p:cNvPicPr>
            <a:picLocks noChangeAspect="1"/>
          </p:cNvPicPr>
          <p:nvPr/>
        </p:nvPicPr>
        <p:blipFill>
          <a:blip r:embed="rId1"/>
          <a:stretch>
            <a:fillRect/>
          </a:stretch>
        </p:blipFill>
        <p:spPr>
          <a:xfrm>
            <a:off x="168910" y="57785"/>
            <a:ext cx="790575" cy="790575"/>
          </a:xfrm>
          <a:prstGeom prst="rect">
            <a:avLst/>
          </a:prstGeom>
        </p:spPr>
      </p:pic>
      <p:pic>
        <p:nvPicPr>
          <p:cNvPr id="28" name="Picture 28" descr="Screenshot 2025-12-26 222106"/>
          <p:cNvPicPr>
            <a:picLocks noChangeAspect="1"/>
          </p:cNvPicPr>
          <p:nvPr/>
        </p:nvPicPr>
        <p:blipFill>
          <a:blip r:embed="rId2"/>
          <a:stretch>
            <a:fillRect/>
          </a:stretch>
        </p:blipFill>
        <p:spPr>
          <a:xfrm>
            <a:off x="201295" y="1104900"/>
            <a:ext cx="4257675" cy="2021840"/>
          </a:xfrm>
          <a:prstGeom prst="rect">
            <a:avLst/>
          </a:prstGeom>
        </p:spPr>
      </p:pic>
      <p:pic>
        <p:nvPicPr>
          <p:cNvPr id="29" name="Picture 4"/>
          <p:cNvPicPr>
            <a:picLocks noChangeAspect="1"/>
          </p:cNvPicPr>
          <p:nvPr/>
        </p:nvPicPr>
        <p:blipFill>
          <a:blip r:embed="rId3"/>
          <a:stretch>
            <a:fillRect/>
          </a:stretch>
        </p:blipFill>
        <p:spPr>
          <a:xfrm>
            <a:off x="4625340" y="1104265"/>
            <a:ext cx="4177030" cy="1982470"/>
          </a:xfrm>
          <a:prstGeom prst="rect">
            <a:avLst/>
          </a:prstGeom>
          <a:noFill/>
          <a:ln>
            <a:noFill/>
          </a:ln>
        </p:spPr>
      </p:pic>
      <p:sp>
        <p:nvSpPr>
          <p:cNvPr id="13" name="Text Box 12"/>
          <p:cNvSpPr txBox="1"/>
          <p:nvPr/>
        </p:nvSpPr>
        <p:spPr>
          <a:xfrm>
            <a:off x="4316095" y="3126740"/>
            <a:ext cx="4572000" cy="368300"/>
          </a:xfrm>
          <a:prstGeom prst="rect">
            <a:avLst/>
          </a:prstGeom>
          <a:noFill/>
        </p:spPr>
        <p:txBody>
          <a:bodyPr wrap="square" rtlCol="0" anchor="t">
            <a:spAutoFit/>
          </a:bodyPr>
          <a:p>
            <a:pPr marL="0" indent="0" algn="ctr">
              <a:buNone/>
            </a:pPr>
            <a:r>
              <a:rPr lang="en-US" i="1">
                <a:latin typeface="Calibri" panose="020F0502020204030204" charset="0"/>
                <a:cs typeface="Calibri" panose="020F0502020204030204" charset="0"/>
                <a:sym typeface="+mn-ea"/>
              </a:rPr>
              <a:t>Hình 3.8. Giao diện trang quản lý </a:t>
            </a:r>
            <a:r>
              <a:rPr lang="en-US" altLang="en-US" i="1">
                <a:latin typeface="Calibri" panose="020F0502020204030204" charset="0"/>
                <a:cs typeface="Calibri" panose="020F0502020204030204" charset="0"/>
                <a:sym typeface="+mn-ea"/>
              </a:rPr>
              <a:t>sản phẩm</a:t>
            </a:r>
            <a:endParaRPr lang="en-US" altLang="en-US" i="1">
              <a:latin typeface="Calibri" panose="020F0502020204030204" charset="0"/>
              <a:cs typeface="Calibri" panose="020F0502020204030204" charset="0"/>
              <a:sym typeface="+mn-ea"/>
            </a:endParaRPr>
          </a:p>
        </p:txBody>
      </p:sp>
      <p:pic>
        <p:nvPicPr>
          <p:cNvPr id="20" name="Picture 20" descr="Screenshot 2025-12-26 195522"/>
          <p:cNvPicPr>
            <a:picLocks noChangeAspect="1"/>
          </p:cNvPicPr>
          <p:nvPr/>
        </p:nvPicPr>
        <p:blipFill>
          <a:blip r:embed="rId4"/>
          <a:stretch>
            <a:fillRect/>
          </a:stretch>
        </p:blipFill>
        <p:spPr>
          <a:xfrm>
            <a:off x="201295" y="3705225"/>
            <a:ext cx="4258310" cy="2030730"/>
          </a:xfrm>
          <a:prstGeom prst="rect">
            <a:avLst/>
          </a:prstGeom>
        </p:spPr>
      </p:pic>
      <p:sp>
        <p:nvSpPr>
          <p:cNvPr id="16" name="Text Box 15"/>
          <p:cNvSpPr txBox="1"/>
          <p:nvPr/>
        </p:nvSpPr>
        <p:spPr>
          <a:xfrm>
            <a:off x="168910" y="5773420"/>
            <a:ext cx="4403090" cy="368300"/>
          </a:xfrm>
          <a:prstGeom prst="rect">
            <a:avLst/>
          </a:prstGeom>
          <a:noFill/>
        </p:spPr>
        <p:txBody>
          <a:bodyPr wrap="square" rtlCol="0" anchor="t">
            <a:spAutoFit/>
          </a:bodyPr>
          <a:p>
            <a:pPr marL="0" indent="0" algn="ctr">
              <a:buNone/>
            </a:pPr>
            <a:r>
              <a:rPr lang="en-US" i="1">
                <a:latin typeface="Calibri" panose="020F0502020204030204" charset="0"/>
                <a:cs typeface="Calibri" panose="020F0502020204030204" charset="0"/>
                <a:sym typeface="+mn-ea"/>
              </a:rPr>
              <a:t>Hình 3.9. Giao diện trang </a:t>
            </a:r>
            <a:r>
              <a:rPr lang="en-US" altLang="en-US" i="1">
                <a:latin typeface="Calibri" panose="020F0502020204030204" charset="0"/>
                <a:cs typeface="Calibri" panose="020F0502020204030204" charset="0"/>
                <a:sym typeface="+mn-ea"/>
              </a:rPr>
              <a:t>quản lý đơn hàng</a:t>
            </a:r>
            <a:endParaRPr lang="en-US" altLang="en-US" i="1">
              <a:latin typeface="Calibri" panose="020F0502020204030204" charset="0"/>
              <a:cs typeface="Calibri" panose="020F0502020204030204" charset="0"/>
              <a:sym typeface="+mn-ea"/>
            </a:endParaRPr>
          </a:p>
        </p:txBody>
      </p:sp>
      <p:pic>
        <p:nvPicPr>
          <p:cNvPr id="24" name="Picture 24" descr="Screenshot 2025-12-26 195532"/>
          <p:cNvPicPr>
            <a:picLocks noChangeAspect="1"/>
          </p:cNvPicPr>
          <p:nvPr/>
        </p:nvPicPr>
        <p:blipFill>
          <a:blip r:embed="rId5"/>
          <a:stretch>
            <a:fillRect/>
          </a:stretch>
        </p:blipFill>
        <p:spPr>
          <a:xfrm>
            <a:off x="4545330" y="3710940"/>
            <a:ext cx="4342765" cy="2062480"/>
          </a:xfrm>
          <a:prstGeom prst="rect">
            <a:avLst/>
          </a:prstGeom>
        </p:spPr>
      </p:pic>
      <p:sp>
        <p:nvSpPr>
          <p:cNvPr id="17" name="Text Box 16"/>
          <p:cNvSpPr txBox="1"/>
          <p:nvPr/>
        </p:nvSpPr>
        <p:spPr>
          <a:xfrm>
            <a:off x="4458970" y="5792470"/>
            <a:ext cx="4403090" cy="368300"/>
          </a:xfrm>
          <a:prstGeom prst="rect">
            <a:avLst/>
          </a:prstGeom>
          <a:noFill/>
        </p:spPr>
        <p:txBody>
          <a:bodyPr wrap="square" rtlCol="0" anchor="t">
            <a:spAutoFit/>
          </a:bodyPr>
          <a:p>
            <a:pPr marL="0" indent="0" algn="ctr">
              <a:buNone/>
            </a:pPr>
            <a:r>
              <a:rPr lang="en-US" i="1">
                <a:latin typeface="Calibri" panose="020F0502020204030204" charset="0"/>
                <a:cs typeface="Calibri" panose="020F0502020204030204" charset="0"/>
                <a:sym typeface="+mn-ea"/>
              </a:rPr>
              <a:t>Hình 3.10. Giao diện trang </a:t>
            </a:r>
            <a:r>
              <a:rPr lang="en-US" altLang="en-US" i="1">
                <a:latin typeface="Calibri" panose="020F0502020204030204" charset="0"/>
                <a:cs typeface="Calibri" panose="020F0502020204030204" charset="0"/>
                <a:sym typeface="+mn-ea"/>
              </a:rPr>
              <a:t>quản lý danh mục</a:t>
            </a:r>
            <a:endParaRPr lang="en-US" altLang="en-US" i="1">
              <a:latin typeface="Calibri" panose="020F0502020204030204" charset="0"/>
              <a:cs typeface="Calibri" panose="020F0502020204030204" charset="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Calibri" panose="020F0502020204030204" charset="0"/>
                <a:cs typeface="Calibri" panose="020F0502020204030204" charset="0"/>
              </a:rPr>
              <a:t>4. Kết luận và hướng phát triển</a:t>
            </a:r>
            <a:endParaRPr lang="en-US">
              <a:latin typeface="Calibri" panose="020F0502020204030204" charset="0"/>
              <a:cs typeface="Calibri" panose="020F0502020204030204" charset="0"/>
            </a:endParaRPr>
          </a:p>
        </p:txBody>
      </p:sp>
      <p:sp>
        <p:nvSpPr>
          <p:cNvPr id="3" name="Content Placeholder 2"/>
          <p:cNvSpPr>
            <a:spLocks noGrp="1"/>
          </p:cNvSpPr>
          <p:nvPr>
            <p:ph idx="1"/>
          </p:nvPr>
        </p:nvSpPr>
        <p:spPr>
          <a:xfrm>
            <a:off x="457200" y="1600200"/>
            <a:ext cx="8229600" cy="3253105"/>
          </a:xfrm>
        </p:spPr>
        <p:txBody>
          <a:bodyPr/>
          <a:p>
            <a:pPr marL="0" indent="0" algn="just">
              <a:buNone/>
            </a:pPr>
            <a:r>
              <a:rPr lang="en-US" sz="2600">
                <a:latin typeface="Calibri" panose="020F0502020204030204" charset="0"/>
                <a:cs typeface="Calibri" panose="020F0502020204030204" charset="0"/>
              </a:rPr>
              <a:t>Kết luận:</a:t>
            </a:r>
            <a:endParaRPr lang="en-US" sz="2600">
              <a:latin typeface="Calibri" panose="020F0502020204030204" charset="0"/>
              <a:cs typeface="Calibri" panose="020F0502020204030204" charset="0"/>
            </a:endParaRPr>
          </a:p>
          <a:p>
            <a:pPr marL="0" indent="0" algn="just">
              <a:buNone/>
            </a:pPr>
            <a:r>
              <a:rPr lang="en-US" altLang="en-US" sz="2600">
                <a:latin typeface="Calibri" panose="020F0502020204030204" charset="0"/>
                <a:cs typeface="Calibri" panose="020F0502020204030204" charset="0"/>
              </a:rPr>
              <a:t>Qua quá trình thực hiện </a:t>
            </a:r>
            <a:r>
              <a:rPr lang="" altLang="en-US" sz="2600">
                <a:latin typeface="Calibri" panose="020F0502020204030204" charset="0"/>
                <a:cs typeface="Calibri" panose="020F0502020204030204" charset="0"/>
              </a:rPr>
              <a:t>đ</a:t>
            </a:r>
            <a:r>
              <a:rPr lang="en-US" altLang="en-US" sz="2600">
                <a:latin typeface="Calibri" panose="020F0502020204030204" charset="0"/>
                <a:cs typeface="Calibri" panose="020F0502020204030204" charset="0"/>
              </a:rPr>
              <a:t>ề tài, website cửa hàng n</a:t>
            </a:r>
            <a:r>
              <a:rPr lang="" altLang="en-US" sz="2600">
                <a:latin typeface="Calibri" panose="020F0502020204030204" charset="0"/>
                <a:cs typeface="Calibri" panose="020F0502020204030204" charset="0"/>
              </a:rPr>
              <a:t>ư</a:t>
            </a:r>
            <a:r>
              <a:rPr lang="en-US" altLang="en-US" sz="2600">
                <a:latin typeface="Calibri" panose="020F0502020204030204" charset="0"/>
                <a:cs typeface="Calibri" panose="020F0502020204030204" charset="0"/>
              </a:rPr>
              <a:t>ớc hoa Orianna </a:t>
            </a:r>
            <a:r>
              <a:rPr lang="" altLang="en-US" sz="2600">
                <a:latin typeface="Calibri" panose="020F0502020204030204" charset="0"/>
                <a:cs typeface="Calibri" panose="020F0502020204030204" charset="0"/>
              </a:rPr>
              <a:t>đ</a:t>
            </a:r>
            <a:r>
              <a:rPr lang="en-US" altLang="en-US" sz="2600">
                <a:latin typeface="Calibri" panose="020F0502020204030204" charset="0"/>
                <a:cs typeface="Calibri" panose="020F0502020204030204" charset="0"/>
              </a:rPr>
              <a:t>ã </a:t>
            </a:r>
            <a:r>
              <a:rPr lang="" altLang="en-US" sz="2600">
                <a:latin typeface="Calibri" panose="020F0502020204030204" charset="0"/>
                <a:cs typeface="Calibri" panose="020F0502020204030204" charset="0"/>
              </a:rPr>
              <a:t>đư</a:t>
            </a:r>
            <a:r>
              <a:rPr lang="en-US" altLang="en-US" sz="2600">
                <a:latin typeface="Calibri" panose="020F0502020204030204" charset="0"/>
                <a:cs typeface="Calibri" panose="020F0502020204030204" charset="0"/>
              </a:rPr>
              <a:t>ợc xây dựng thành công với các chức n</a:t>
            </a:r>
            <a:r>
              <a:rPr lang="" altLang="en-US" sz="2600">
                <a:latin typeface="Calibri" panose="020F0502020204030204" charset="0"/>
                <a:cs typeface="Calibri" panose="020F0502020204030204" charset="0"/>
              </a:rPr>
              <a:t>ă</a:t>
            </a:r>
            <a:r>
              <a:rPr lang="en-US" altLang="en-US" sz="2600">
                <a:latin typeface="Calibri" panose="020F0502020204030204" charset="0"/>
                <a:cs typeface="Calibri" panose="020F0502020204030204" charset="0"/>
              </a:rPr>
              <a:t>ng cơ bản của một hệ thống bán hàng trực tuyến. </a:t>
            </a:r>
            <a:r>
              <a:rPr lang="" altLang="en-US" sz="2600">
                <a:latin typeface="Calibri" panose="020F0502020204030204" charset="0"/>
                <a:cs typeface="Calibri" panose="020F0502020204030204" charset="0"/>
              </a:rPr>
              <a:t>Đ</a:t>
            </a:r>
            <a:r>
              <a:rPr lang="en-US" altLang="en-US" sz="2600">
                <a:latin typeface="Calibri" panose="020F0502020204030204" charset="0"/>
                <a:cs typeface="Calibri" panose="020F0502020204030204" charset="0"/>
              </a:rPr>
              <a:t>ề tài không chỉ giúp hoàn thiện một sản phẩm có tính ứng dụng thực tế mà còn giúp sinh viên củng cố và nâng cao kiến thức về lập trình web, cơ sở dữ liệu và phát triển hệ thống.</a:t>
            </a:r>
            <a:endParaRPr lang="en-US" altLang="en-US" sz="2600">
              <a:latin typeface="Calibri" panose="020F0502020204030204" charset="0"/>
              <a:cs typeface="Calibri" panose="020F05020202040302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Calibri" panose="020F0502020204030204" charset="0"/>
                <a:cs typeface="Calibri" panose="020F0502020204030204" charset="0"/>
              </a:rPr>
              <a:t>4. Kết luận và hướng phát triển</a:t>
            </a:r>
            <a:endParaRPr lang="en-US">
              <a:latin typeface="Calibri" panose="020F0502020204030204" charset="0"/>
              <a:cs typeface="Calibri" panose="020F0502020204030204" charset="0"/>
            </a:endParaRPr>
          </a:p>
        </p:txBody>
      </p:sp>
      <p:sp>
        <p:nvSpPr>
          <p:cNvPr id="3" name="Content Placeholder 2"/>
          <p:cNvSpPr>
            <a:spLocks noGrp="1"/>
          </p:cNvSpPr>
          <p:nvPr>
            <p:ph idx="1"/>
          </p:nvPr>
        </p:nvSpPr>
        <p:spPr>
          <a:xfrm>
            <a:off x="929640" y="1600200"/>
            <a:ext cx="6793230" cy="3253105"/>
          </a:xfrm>
        </p:spPr>
        <p:txBody>
          <a:bodyPr>
            <a:normAutofit lnSpcReduction="20000"/>
          </a:bodyPr>
          <a:p>
            <a:pPr marL="0" indent="0" algn="just">
              <a:buNone/>
            </a:pPr>
            <a:r>
              <a:rPr lang="en-US">
                <a:latin typeface="Calibri" panose="020F0502020204030204" charset="0"/>
                <a:cs typeface="Calibri" panose="020F0502020204030204" charset="0"/>
              </a:rPr>
              <a:t>Hướng phát triển:</a:t>
            </a:r>
            <a:endParaRPr lang="en-US">
              <a:latin typeface="Calibri" panose="020F0502020204030204" charset="0"/>
              <a:cs typeface="Calibri" panose="020F0502020204030204" charset="0"/>
            </a:endParaRPr>
          </a:p>
          <a:p>
            <a:pPr marL="0" indent="0" algn="just">
              <a:buNone/>
            </a:pPr>
            <a:endParaRPr lang="en-US">
              <a:latin typeface="Calibri" panose="020F0502020204030204" charset="0"/>
              <a:cs typeface="Calibri" panose="020F0502020204030204" charset="0"/>
            </a:endParaRPr>
          </a:p>
          <a:p>
            <a:pPr marL="457200" lvl="1" indent="0" algn="just">
              <a:buNone/>
            </a:pPr>
            <a:r>
              <a:rPr lang="en-US" altLang="en-US">
                <a:latin typeface="Calibri" panose="020F0502020204030204" charset="0"/>
                <a:cs typeface="Calibri" panose="020F0502020204030204" charset="0"/>
              </a:rPr>
              <a:t>Tối </a:t>
            </a:r>
            <a:r>
              <a:rPr lang="" altLang="en-US">
                <a:latin typeface="Calibri" panose="020F0502020204030204" charset="0"/>
                <a:cs typeface="Calibri" panose="020F0502020204030204" charset="0"/>
              </a:rPr>
              <a:t>ư</a:t>
            </a:r>
            <a:r>
              <a:rPr lang="en-US" altLang="en-US">
                <a:latin typeface="Calibri" panose="020F0502020204030204" charset="0"/>
                <a:cs typeface="Calibri" panose="020F0502020204030204" charset="0"/>
              </a:rPr>
              <a:t>u hiệu n</a:t>
            </a:r>
            <a:r>
              <a:rPr lang="" altLang="en-US">
                <a:latin typeface="Calibri" panose="020F0502020204030204" charset="0"/>
                <a:cs typeface="Calibri" panose="020F0502020204030204" charset="0"/>
              </a:rPr>
              <a:t>ă</a:t>
            </a:r>
            <a:r>
              <a:rPr lang="en-US" altLang="en-US">
                <a:latin typeface="Calibri" panose="020F0502020204030204" charset="0"/>
                <a:cs typeface="Calibri" panose="020F0502020204030204" charset="0"/>
              </a:rPr>
              <a:t>ng và tăng cường bảo mật hệ thống.</a:t>
            </a:r>
            <a:endParaRPr lang="en-US" altLang="en-US">
              <a:latin typeface="Calibri" panose="020F0502020204030204" charset="0"/>
              <a:cs typeface="Calibri" panose="020F0502020204030204" charset="0"/>
            </a:endParaRPr>
          </a:p>
          <a:p>
            <a:pPr marL="457200" lvl="1" indent="0" algn="just">
              <a:buNone/>
            </a:pPr>
            <a:endParaRPr lang="en-US" altLang="en-US">
              <a:latin typeface="Calibri" panose="020F0502020204030204" charset="0"/>
              <a:cs typeface="Calibri" panose="020F0502020204030204" charset="0"/>
            </a:endParaRPr>
          </a:p>
          <a:p>
            <a:pPr marL="457200" lvl="1" indent="0" algn="just">
              <a:buNone/>
            </a:pPr>
            <a:r>
              <a:rPr lang="en-US" altLang="en-US">
                <a:latin typeface="Calibri" panose="020F0502020204030204" charset="0"/>
                <a:cs typeface="Calibri" panose="020F0502020204030204" charset="0"/>
              </a:rPr>
              <a:t>Gợi </a:t>
            </a:r>
            <a:r>
              <a:rPr lang="" altLang="en-US">
                <a:latin typeface="Calibri" panose="020F0502020204030204" charset="0"/>
                <a:cs typeface="Calibri" panose="020F0502020204030204" charset="0"/>
              </a:rPr>
              <a:t>ý</a:t>
            </a:r>
            <a:r>
              <a:rPr lang="en-US" altLang="en-US">
                <a:latin typeface="Calibri" panose="020F0502020204030204" charset="0"/>
                <a:cs typeface="Calibri" panose="020F0502020204030204" charset="0"/>
              </a:rPr>
              <a:t> sản phẩm thông minh.</a:t>
            </a:r>
            <a:endParaRPr lang="en-US" altLang="en-US">
              <a:latin typeface="Calibri" panose="020F0502020204030204" charset="0"/>
              <a:cs typeface="Calibri" panose="020F0502020204030204" charset="0"/>
            </a:endParaRPr>
          </a:p>
          <a:p>
            <a:pPr marL="457200" lvl="1" indent="0" algn="just">
              <a:buNone/>
            </a:pPr>
            <a:endParaRPr lang="en-US" altLang="en-US">
              <a:latin typeface="Calibri" panose="020F0502020204030204" charset="0"/>
              <a:cs typeface="Calibri" panose="020F0502020204030204" charset="0"/>
            </a:endParaRPr>
          </a:p>
          <a:p>
            <a:pPr marL="457200" lvl="1" indent="0" algn="just">
              <a:buNone/>
            </a:pPr>
            <a:r>
              <a:rPr lang="en-US" altLang="en-US">
                <a:latin typeface="Calibri" panose="020F0502020204030204" charset="0"/>
                <a:cs typeface="Calibri" panose="020F0502020204030204" charset="0"/>
              </a:rPr>
              <a:t>Phát triển ứng dụng dành cho điện thoại di động.</a:t>
            </a:r>
            <a:endParaRPr lang="en-US" altLang="en-US">
              <a:latin typeface="Calibri" panose="020F0502020204030204" charset="0"/>
              <a:cs typeface="Calibri" panose="020F05020202040302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8425" y="1494790"/>
            <a:ext cx="9045575" cy="3034030"/>
          </a:xfrm>
        </p:spPr>
        <p:txBody>
          <a:bodyPr>
            <a:normAutofit/>
          </a:bodyPr>
          <a:lstStyle/>
          <a:p>
            <a:r>
              <a:rPr lang="en-US" altLang="en-US" sz="4800" b="1" dirty="0">
                <a:solidFill>
                  <a:schemeClr val="accent1">
                    <a:lumMod val="75000"/>
                  </a:schemeClr>
                </a:solidFill>
                <a:effectLst>
                  <a:outerShdw blurRad="38100" dist="38100" dir="2700000" algn="tl">
                    <a:srgbClr val="000000">
                      <a:alpha val="43137"/>
                    </a:srgbClr>
                  </a:outerShdw>
                </a:effectLst>
              </a:rPr>
              <a:t>EM XIN CẢM ƠN QUÝ THẦY, CÔ </a:t>
            </a:r>
            <a:br>
              <a:rPr lang="en-US" altLang="en-US" sz="4800" b="1" dirty="0">
                <a:solidFill>
                  <a:schemeClr val="accent1">
                    <a:lumMod val="75000"/>
                  </a:schemeClr>
                </a:solidFill>
                <a:effectLst>
                  <a:outerShdw blurRad="38100" dist="38100" dir="2700000" algn="tl">
                    <a:srgbClr val="000000">
                      <a:alpha val="43137"/>
                    </a:srgbClr>
                  </a:outerShdw>
                </a:effectLst>
              </a:rPr>
            </a:br>
            <a:r>
              <a:rPr lang="en-US" altLang="en-US" sz="4800" b="1" dirty="0">
                <a:solidFill>
                  <a:schemeClr val="accent1">
                    <a:lumMod val="75000"/>
                  </a:schemeClr>
                </a:solidFill>
                <a:effectLst>
                  <a:outerShdw blurRad="38100" dist="38100" dir="2700000" algn="tl">
                    <a:srgbClr val="000000">
                      <a:alpha val="43137"/>
                    </a:srgbClr>
                  </a:outerShdw>
                </a:effectLst>
              </a:rPr>
              <a:t>ĐÃ LẮNG NGHE BÀI THUYẾT TRÌNH</a:t>
            </a:r>
            <a:endParaRPr lang="en-US" altLang="en-US" sz="4800" b="1" dirty="0">
              <a:solidFill>
                <a:schemeClr val="accent1">
                  <a:lumMod val="75000"/>
                </a:schemeClr>
              </a:solidFill>
              <a:effectLst>
                <a:outerShdw blurRad="38100" dist="38100" dir="2700000" algn="tl">
                  <a:srgbClr val="000000">
                    <a:alpha val="43137"/>
                  </a:srgbClr>
                </a:outerShdw>
              </a:effectLst>
            </a:endParaRPr>
          </a:p>
        </p:txBody>
      </p:sp>
      <p:pic>
        <p:nvPicPr>
          <p:cNvPr id="7" name="Picture 6"/>
          <p:cNvPicPr>
            <a:picLocks noChangeAspect="1"/>
          </p:cNvPicPr>
          <p:nvPr/>
        </p:nvPicPr>
        <p:blipFill>
          <a:blip r:embed="rId1"/>
          <a:stretch>
            <a:fillRect/>
          </a:stretch>
        </p:blipFill>
        <p:spPr>
          <a:xfrm>
            <a:off x="0" y="5943599"/>
            <a:ext cx="9144000" cy="914401"/>
          </a:xfrm>
          <a:prstGeom prst="rect">
            <a:avLst/>
          </a:prstGeom>
        </p:spPr>
      </p:pic>
      <p:pic>
        <p:nvPicPr>
          <p:cNvPr id="5" name="Picture 4" descr="logo-truong-dai-hoc-tra-vinh-inkythuatso-01-20-13-22-30"/>
          <p:cNvPicPr>
            <a:picLocks noChangeAspect="1"/>
          </p:cNvPicPr>
          <p:nvPr/>
        </p:nvPicPr>
        <p:blipFill>
          <a:blip r:embed="rId2"/>
          <a:stretch>
            <a:fillRect/>
          </a:stretch>
        </p:blipFill>
        <p:spPr>
          <a:xfrm>
            <a:off x="168910" y="134620"/>
            <a:ext cx="790575" cy="790575"/>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3680</Words>
  <Application>WPS Presentation</Application>
  <PresentationFormat>On-screen Show (4:3)</PresentationFormat>
  <Paragraphs>122</Paragraphs>
  <Slides>20</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20</vt:i4>
      </vt:variant>
    </vt:vector>
  </HeadingPairs>
  <TitlesOfParts>
    <vt:vector size="31" baseType="lpstr">
      <vt:lpstr>Arial</vt:lpstr>
      <vt:lpstr>SimSun</vt:lpstr>
      <vt:lpstr>Wingdings</vt:lpstr>
      <vt:lpstr>Arial</vt:lpstr>
      <vt:lpstr>Calibri</vt:lpstr>
      <vt:lpstr>Microsoft YaHei</vt:lpstr>
      <vt:lpstr>Arial Unicode MS</vt:lpstr>
      <vt:lpstr>Agency FB</vt:lpstr>
      <vt:lpstr>Algerian</vt:lpstr>
      <vt:lpstr>Times New Roman</vt:lpstr>
      <vt:lpstr>Office Theme</vt:lpstr>
      <vt:lpstr>XÂY DỰNG WEBSITE CỬA HÀNG NƯỚC HOA ORIANNA</vt:lpstr>
      <vt:lpstr>PowerPoint 演示文稿</vt:lpstr>
      <vt:lpstr>PowerPoint 演示文稿</vt:lpstr>
      <vt:lpstr>1. Giới thiệu đề tài</vt:lpstr>
      <vt:lpstr>PowerPoint 演示文稿</vt:lpstr>
      <vt:lpstr>2. Nội dung nghiên cứu</vt:lpstr>
      <vt:lpstr>2. Nội dung nghiên cứu</vt:lpstr>
      <vt:lpstr>2. Nội dung nghiên cứu</vt:lpstr>
      <vt:lpstr>2. Nội dung nghiên cứu</vt:lpstr>
      <vt:lpstr>2. Nội dung nghiên cứu</vt:lpstr>
      <vt:lpstr>PowerPoint 演示文稿</vt:lpstr>
      <vt:lpstr>3. Kết quả nghiên cứu</vt:lpstr>
      <vt:lpstr>3. Kết quả nghiên cứu</vt:lpstr>
      <vt:lpstr>3. Kết quả nghiên cứu</vt:lpstr>
      <vt:lpstr>3. Kết quả nghiên cứu</vt:lpstr>
      <vt:lpstr>3. Kết quả nghiên cứu</vt:lpstr>
      <vt:lpstr>3. Kết quả nghiên cứu</vt:lpstr>
      <vt:lpstr>PowerPoint 演示文稿</vt:lpstr>
      <vt:lpstr>4. Kết luận và hướng phát triển</vt:lpstr>
      <vt:lpstr>XÂY DỰNG WEBSITE CỬA HÀNG NƯỚC HOA ORIANNA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1: TỔNG QUAN VỀ QUẢN LÝ DỰ ÁN PHẦN MỀM</dc:title>
  <dc:creator>Khac Quoc</dc:creator>
  <dc:description>generated using python-pptx</dc:description>
  <cp:lastModifiedBy>Thảo Vy Hứa</cp:lastModifiedBy>
  <cp:revision>10</cp:revision>
  <dcterms:created xsi:type="dcterms:W3CDTF">2013-01-27T09:14:00Z</dcterms:created>
  <dcterms:modified xsi:type="dcterms:W3CDTF">2026-01-04T13:46:24Z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BDCFD4E061554B60ACA180D452AEB58D_13</vt:lpwstr>
  </property>
  <property fmtid="{D5CDD505-2E9C-101B-9397-08002B2CF9AE}" pid="3" name="KSOProductBuildVer">
    <vt:lpwstr>1033-12.2.0.23196</vt:lpwstr>
  </property>
</Properties>
</file>